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sset_ie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236" y="914400"/>
            <a:ext cx="2963428" cy="1188720"/>
          </a:xfrm>
          <a:prstGeom prst="rect">
            <a:avLst/>
          </a:prstGeom>
        </p:spPr>
      </p:pic>
      <p:pic>
        <p:nvPicPr>
          <p:cNvPr id="4" name="Picture 3" descr="asset_k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0561" y="914400"/>
            <a:ext cx="3808755" cy="1188720"/>
          </a:xfrm>
          <a:prstGeom prst="rect">
            <a:avLst/>
          </a:prstGeom>
        </p:spPr>
      </p:pic>
      <p:pic>
        <p:nvPicPr>
          <p:cNvPr id="5" name="Picture 4" descr="asset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2544" y="2514600"/>
            <a:ext cx="210312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72064" y="470916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6F6F6F"/>
                </a:solidFill>
                <a:latin typeface="Times New Roman"/>
              </a:rPr>
              <a:t>Paper + code:  github.com/sehoon787/PMC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914400"/>
            <a:ext cx="19577304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200" b="1" i="0">
                <a:solidFill>
                  <a:srgbClr val="8B0029"/>
                </a:solidFill>
                <a:latin typeface="Times New Roman"/>
              </a:rPr>
              <a:t>PMC: Build-Time Per-Modality Centroid Correction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200" b="1" i="0">
                <a:solidFill>
                  <a:srgbClr val="8B0029"/>
                </a:solidFill>
                <a:latin typeface="Times New Roman"/>
              </a:rPr>
              <a:t>for Cross-Modal Binary-Quantized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11880"/>
            <a:ext cx="195773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1F1F1F"/>
                </a:solidFill>
                <a:latin typeface="Times New Roman"/>
              </a:rPr>
              <a:t>Se Hoon Kim,   Jun Hyung Lee,   Soonyoung Jung*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70832"/>
            <a:ext cx="195773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0" i="0">
                <a:solidFill>
                  <a:srgbClr val="6F6F6F"/>
                </a:solidFill>
                <a:latin typeface="Times New Roman"/>
              </a:rPr>
              <a:t>Department of Computer Science and Engineering, Korea University   ·   Intelligence Engineering Lab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5349240"/>
            <a:ext cx="28355544" cy="38100"/>
          </a:xfrm>
          <a:prstGeom prst="rect">
            <a:avLst/>
          </a:prstGeom>
          <a:solidFill>
            <a:srgbClr val="8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23983" y="5897880"/>
            <a:ext cx="12700" cy="2066544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337490" y="5897880"/>
            <a:ext cx="12700" cy="2066544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897880"/>
            <a:ext cx="85066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8B0029"/>
                </a:solidFill>
                <a:latin typeface="Times New Roman"/>
              </a:rPr>
              <a:t>1.  The problem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6949440"/>
            <a:ext cx="8506663" cy="25400"/>
          </a:xfrm>
          <a:prstGeom prst="rect">
            <a:avLst/>
          </a:prstGeom>
          <a:solidFill>
            <a:srgbClr val="8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7498080"/>
            <a:ext cx="850666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1F1F1F"/>
                </a:solidFill>
                <a:latin typeface="Times New Roman"/>
              </a:rPr>
              <a:t>Cross-modal queries and database vectors do not share a centroid.</a:t>
            </a:r>
          </a:p>
        </p:txBody>
      </p:sp>
      <p:pic>
        <p:nvPicPr>
          <p:cNvPr id="16" name="Picture 15" descr="asset_fi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9555480"/>
            <a:ext cx="8506663" cy="4228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14104040"/>
            <a:ext cx="85066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1">
                <a:solidFill>
                  <a:srgbClr val="6F6F6F"/>
                </a:solidFill>
                <a:latin typeface="Times New Roman"/>
              </a:rPr>
              <a:t>t-SNE (ImageBind): modality clusters separate in (a); after PMC they overlap in (b).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5338480"/>
            <a:ext cx="8506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8B0029"/>
                </a:solidFill>
                <a:latin typeface="Times New Roman"/>
              </a:rPr>
              <a:t>One gap, two failures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16536344"/>
            <a:ext cx="237744" cy="237744"/>
          </a:xfrm>
          <a:prstGeom prst="rect">
            <a:avLst/>
          </a:prstGeom>
          <a:solidFill>
            <a:srgbClr val="8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16390040"/>
            <a:ext cx="80494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 i="0">
                <a:solidFill>
                  <a:srgbClr val="1F1F1F"/>
                </a:solidFill>
                <a:latin typeface="Times New Roman"/>
              </a:rPr>
              <a:t>IVF routing  —  </a:t>
            </a:r>
            <a:r>
              <a:rPr sz="2600" b="0" i="0">
                <a:solidFill>
                  <a:srgbClr val="1F1F1F"/>
                </a:solidFill>
                <a:latin typeface="Times New Roman"/>
              </a:rPr>
              <a:t>queries are steered into the wrong inverted lists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17679344"/>
            <a:ext cx="237744" cy="237744"/>
          </a:xfrm>
          <a:prstGeom prst="rect">
            <a:avLst/>
          </a:prstGeom>
          <a:solidFill>
            <a:srgbClr val="8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17533040"/>
            <a:ext cx="80494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 i="0">
                <a:solidFill>
                  <a:srgbClr val="1F1F1F"/>
                </a:solidFill>
                <a:latin typeface="Times New Roman"/>
              </a:rPr>
              <a:t>Binary codes  —  </a:t>
            </a:r>
            <a:r>
              <a:rPr sz="2600" b="0" i="0">
                <a:solidFill>
                  <a:srgbClr val="1F1F1F"/>
                </a:solidFill>
                <a:latin typeface="Times New Roman"/>
              </a:rPr>
              <a:t>sign(x − c) has zero error margin — the boundary passes exactly through the centroid, so the offset flips bits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19864760"/>
            <a:ext cx="8506663" cy="2468880"/>
          </a:xfrm>
          <a:prstGeom prst="rect">
            <a:avLst/>
          </a:prstGeom>
          <a:solidFill>
            <a:srgbClr val="F6F5F3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20184800"/>
            <a:ext cx="7683703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300" b="1" i="0">
                <a:solidFill>
                  <a:srgbClr val="1F1F1F"/>
                </a:solidFill>
                <a:latin typeface="Times New Roman"/>
              </a:rPr>
              <a:t>Oracle test — MSCOCO, CLIP-L, RaBitQ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500" b="0" i="0">
                <a:solidFill>
                  <a:srgbClr val="1F1F1F"/>
                </a:solidFill>
                <a:latin typeface="Times New Roman"/>
              </a:rPr>
              <a:t>same-modality  (‖g‖ = 0)       R@100 = 0.71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500" b="1" i="0">
                <a:solidFill>
                  <a:srgbClr val="8B0029"/>
                </a:solidFill>
                <a:latin typeface="Times New Roman"/>
              </a:rPr>
              <a:t>cross-modal  (‖g‖ = .82)       R@100 = 0.54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22607960"/>
            <a:ext cx="850666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400" b="1" i="0">
                <a:solidFill>
                  <a:srgbClr val="1F1F1F"/>
                </a:solidFill>
                <a:latin typeface="Times New Roman"/>
              </a:rPr>
              <a:t>The damage is structured. </a:t>
            </a:r>
            <a:r>
              <a:rPr sz="2400" b="0" i="0">
                <a:solidFill>
                  <a:srgbClr val="1F1F1F"/>
                </a:solidFill>
                <a:latin typeface="Times New Roman"/>
              </a:rPr>
              <a:t>The top 10% of dimensions carry ≈90% of ‖g‖² on CLIP-L, and flip risk grows with |g</a:t>
            </a:r>
            <a:r>
              <a:rPr sz="1728" b="0" i="0" baseline="-25000">
                <a:solidFill>
                  <a:srgbClr val="1F1F1F"/>
                </a:solidFill>
                <a:latin typeface="Times New Roman"/>
              </a:rPr>
              <a:t>i</a:t>
            </a:r>
            <a:r>
              <a:rPr sz="2400" b="0" i="0">
                <a:solidFill>
                  <a:srgbClr val="1F1F1F"/>
                </a:solidFill>
                <a:latin typeface="Times New Roman"/>
              </a:rPr>
              <a:t>|:   E[F] ≈ α Σ</a:t>
            </a:r>
            <a:r>
              <a:rPr sz="1728" b="0" i="0" baseline="-25000">
                <a:solidFill>
                  <a:srgbClr val="1F1F1F"/>
                </a:solidFill>
                <a:latin typeface="Times New Roman"/>
              </a:rPr>
              <a:t>i</a:t>
            </a:r>
            <a:r>
              <a:rPr sz="2400" b="0" i="0">
                <a:solidFill>
                  <a:srgbClr val="1F1F1F"/>
                </a:solidFill>
                <a:latin typeface="Times New Roman"/>
              </a:rPr>
              <a:t> p</a:t>
            </a:r>
            <a:r>
              <a:rPr sz="1728" b="0" i="0" baseline="-25000">
                <a:solidFill>
                  <a:srgbClr val="1F1F1F"/>
                </a:solidFill>
                <a:latin typeface="Times New Roman"/>
              </a:rPr>
              <a:t>i</a:t>
            </a:r>
            <a:r>
              <a:rPr sz="2400" b="0" i="0">
                <a:solidFill>
                  <a:srgbClr val="1F1F1F"/>
                </a:solidFill>
                <a:latin typeface="Times New Roman"/>
              </a:rPr>
              <a:t>(0)·|g</a:t>
            </a:r>
            <a:r>
              <a:rPr sz="1728" b="0" i="0" baseline="-25000">
                <a:solidFill>
                  <a:srgbClr val="1F1F1F"/>
                </a:solidFill>
                <a:latin typeface="Times New Roman"/>
              </a:rPr>
              <a:t>i</a:t>
            </a:r>
            <a:r>
              <a:rPr sz="2400" b="0" i="0">
                <a:solidFill>
                  <a:srgbClr val="1F1F1F"/>
                </a:solidFill>
                <a:latin typeface="Times New Roman"/>
              </a:rPr>
              <a:t>|.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1183" y="5897880"/>
            <a:ext cx="949910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8B0029"/>
                </a:solidFill>
                <a:latin typeface="Times New Roman"/>
              </a:rPr>
              <a:t>2.  PMC — correct at the source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81183" y="6949440"/>
            <a:ext cx="9499107" cy="25400"/>
          </a:xfrm>
          <a:prstGeom prst="rect">
            <a:avLst/>
          </a:prstGeom>
          <a:solidFill>
            <a:srgbClr val="8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81183" y="7498080"/>
            <a:ext cx="63500" cy="3154680"/>
          </a:xfrm>
          <a:prstGeom prst="rect">
            <a:avLst/>
          </a:prstGeom>
          <a:solidFill>
            <a:srgbClr val="0D4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8383" y="7443216"/>
            <a:ext cx="899618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 i="0">
                <a:solidFill>
                  <a:srgbClr val="0D4DA3"/>
                </a:solidFill>
                <a:latin typeface="Times New Roman"/>
              </a:rPr>
              <a:t>1    </a:t>
            </a:r>
            <a:r>
              <a:rPr sz="3800" b="1" i="0">
                <a:solidFill>
                  <a:srgbClr val="1F1F1F"/>
                </a:solidFill>
                <a:latin typeface="Times New Roman"/>
              </a:rPr>
              <a:t>Calibrate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8383" y="8366760"/>
            <a:ext cx="899618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6F6F6F"/>
                </a:solidFill>
                <a:latin typeface="Times New Roman"/>
              </a:rPr>
              <a:t>estimate the gap from a small paired sample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8383" y="9418320"/>
            <a:ext cx="858470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 i="0">
                <a:solidFill>
                  <a:srgbClr val="1F1F1F"/>
                </a:solidFill>
                <a:latin typeface="Times New Roman"/>
              </a:rPr>
              <a:t>g  =  μ</a:t>
            </a:r>
            <a:r>
              <a:rPr sz="2304" b="1" i="0" baseline="-25000">
                <a:solidFill>
                  <a:srgbClr val="1F1F1F"/>
                </a:solidFill>
                <a:latin typeface="Times New Roman"/>
              </a:rPr>
              <a:t>q</a:t>
            </a:r>
            <a:r>
              <a:rPr sz="3200" b="1" i="0">
                <a:solidFill>
                  <a:srgbClr val="1F1F1F"/>
                </a:solidFill>
                <a:latin typeface="Times New Roman"/>
              </a:rPr>
              <a:t> − μ</a:t>
            </a:r>
            <a:r>
              <a:rPr sz="2304" b="1" i="0" baseline="-25000">
                <a:solidFill>
                  <a:srgbClr val="1F1F1F"/>
                </a:solidFill>
                <a:latin typeface="Times New Roman"/>
              </a:rPr>
              <a:t>x</a:t>
            </a:r>
            <a:r>
              <a:rPr sz="2400" b="0" i="0">
                <a:solidFill>
                  <a:srgbClr val="6F6F6F"/>
                </a:solidFill>
                <a:latin typeface="Times New Roman"/>
              </a:rPr>
              <a:t>        (25 samples suffice)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14582096" y="10762488"/>
            <a:ext cx="1097280" cy="777240"/>
          </a:xfrm>
          <a:prstGeom prst="downArrow">
            <a:avLst/>
          </a:prstGeom>
          <a:solidFill>
            <a:srgbClr val="0D4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381183" y="11704320"/>
            <a:ext cx="63500" cy="3154680"/>
          </a:xfrm>
          <a:prstGeom prst="rect">
            <a:avLst/>
          </a:prstGeom>
          <a:solidFill>
            <a:srgbClr val="0D4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38383" y="11649456"/>
            <a:ext cx="899618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 i="0">
                <a:solidFill>
                  <a:srgbClr val="0D4DA3"/>
                </a:solidFill>
                <a:latin typeface="Times New Roman"/>
              </a:rPr>
              <a:t>2    </a:t>
            </a:r>
            <a:r>
              <a:rPr sz="3800" b="1" i="0">
                <a:solidFill>
                  <a:srgbClr val="1F1F1F"/>
                </a:solidFill>
                <a:latin typeface="Times New Roman"/>
              </a:rPr>
              <a:t>Build  (offline)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8383" y="12573000"/>
            <a:ext cx="899618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6F6F6F"/>
                </a:solidFill>
                <a:latin typeface="Times New Roman"/>
              </a:rPr>
              <a:t>shift every database vector, then build the 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8383" y="13688568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 i="0">
                <a:solidFill>
                  <a:srgbClr val="1F1F1F"/>
                </a:solidFill>
                <a:latin typeface="Times New Roman"/>
              </a:rPr>
              <a:t>x′  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4263" y="13350240"/>
            <a:ext cx="420624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F1F1F"/>
                </a:solidFill>
                <a:latin typeface="Times New Roman"/>
              </a:rPr>
              <a:t>x + α 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307263" y="13910310"/>
            <a:ext cx="1920240" cy="3048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64263" y="14010894"/>
            <a:ext cx="420624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F1F1F"/>
                </a:solidFill>
                <a:latin typeface="Times New Roman"/>
              </a:rPr>
              <a:t>‖x + α g‖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14582096" y="14968728"/>
            <a:ext cx="1097280" cy="777240"/>
          </a:xfrm>
          <a:prstGeom prst="downArrow">
            <a:avLst/>
          </a:prstGeom>
          <a:solidFill>
            <a:srgbClr val="0D4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381183" y="15910560"/>
            <a:ext cx="63500" cy="3154680"/>
          </a:xfrm>
          <a:prstGeom prst="rect">
            <a:avLst/>
          </a:prstGeom>
          <a:solidFill>
            <a:srgbClr val="0D4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38383" y="15855696"/>
            <a:ext cx="899618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 i="0">
                <a:solidFill>
                  <a:srgbClr val="0D4DA3"/>
                </a:solidFill>
                <a:latin typeface="Times New Roman"/>
              </a:rPr>
              <a:t>3    </a:t>
            </a:r>
            <a:r>
              <a:rPr sz="3800" b="1" i="0">
                <a:solidFill>
                  <a:srgbClr val="1F1F1F"/>
                </a:solidFill>
                <a:latin typeface="Times New Roman"/>
              </a:rPr>
              <a:t>Serve  (online)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38383" y="16779240"/>
            <a:ext cx="899618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6F6F6F"/>
                </a:solidFill>
                <a:latin typeface="Times New Roman"/>
              </a:rPr>
              <a:t>search the corrected index — the query is untouched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38383" y="17830800"/>
            <a:ext cx="858470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 i="0">
                <a:solidFill>
                  <a:srgbClr val="1F1F1F"/>
                </a:solidFill>
                <a:latin typeface="Times New Roman"/>
              </a:rPr>
              <a:t>q′  =  q</a:t>
            </a:r>
            <a:r>
              <a:rPr sz="2400" b="0" i="0">
                <a:solidFill>
                  <a:srgbClr val="6F6F6F"/>
                </a:solidFill>
                <a:latin typeface="Times New Roman"/>
              </a:rPr>
              <a:t>        (at α = 1)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81183" y="19522440"/>
            <a:ext cx="9499107" cy="1874519"/>
          </a:xfrm>
          <a:prstGeom prst="rect">
            <a:avLst/>
          </a:prstGeom>
          <a:solidFill>
            <a:srgbClr val="0D4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38383" y="19815048"/>
            <a:ext cx="858470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Times New Roman"/>
              </a:rPr>
              <a:t>At α = 1 the correction is absorbed into the index: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Times New Roman"/>
              </a:rPr>
              <a:t>zero query-time transform, zero extra memory.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81183" y="21854160"/>
            <a:ext cx="94991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0" i="0">
                <a:solidFill>
                  <a:srgbClr val="1F1F1F"/>
                </a:solidFill>
                <a:latin typeface="Times New Roman"/>
              </a:rPr>
              <a:t>The query side carries the complement: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8343" y="2281428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Times New Roman"/>
              </a:rPr>
              <a:t>q′  =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07063" y="22539960"/>
            <a:ext cx="5669280" cy="445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1F1F1F"/>
                </a:solidFill>
                <a:latin typeface="Times New Roman"/>
              </a:rPr>
              <a:t>q − (1 − α) 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154863" y="23031450"/>
            <a:ext cx="2773680" cy="3048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707063" y="23132034"/>
            <a:ext cx="5669280" cy="445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1F1F1F"/>
                </a:solidFill>
                <a:latin typeface="Times New Roman"/>
              </a:rPr>
              <a:t>‖q − (1 − α) g‖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81183" y="23687532"/>
            <a:ext cx="9499107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500" b="0" i="0">
                <a:solidFill>
                  <a:srgbClr val="1F1F1F"/>
                </a:solidFill>
                <a:latin typeface="Times New Roman"/>
              </a:rPr>
              <a:t>α = 0 is query-only mean shift: it leaves IVF centroids and quantized codes misaligned, and can lower recall.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500" b="1" i="0">
                <a:solidFill>
                  <a:srgbClr val="1F1F1F"/>
                </a:solidFill>
                <a:latin typeface="Times New Roman"/>
              </a:rPr>
              <a:t>α = 1 makes q′ = q and rewrites the centroid where it plays both of its roles — routing pivot and code boundary.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500" b="0" i="0">
                <a:solidFill>
                  <a:srgbClr val="0D4DA3"/>
                </a:solidFill>
                <a:latin typeface="Times New Roman"/>
              </a:rPr>
              <a:t>The α-sweep confirms α = 1 best or near-best in every setting.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794690" y="5897880"/>
            <a:ext cx="852097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8B0029"/>
                </a:solidFill>
                <a:latin typeface="Times New Roman"/>
              </a:rPr>
              <a:t>3.  Results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794690" y="6949440"/>
            <a:ext cx="8520974" cy="25400"/>
          </a:xfrm>
          <a:prstGeom prst="rect">
            <a:avLst/>
          </a:prstGeom>
          <a:solidFill>
            <a:srgbClr val="8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94690" y="7360920"/>
            <a:ext cx="852097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200" b="1" i="0">
                <a:solidFill>
                  <a:srgbClr val="8B0029"/>
                </a:solidFill>
                <a:latin typeface="Times New Roman"/>
              </a:rPr>
              <a:t>407 M</a:t>
            </a:r>
            <a:r>
              <a:rPr sz="3200" b="0" i="0">
                <a:solidFill>
                  <a:srgbClr val="6F6F6F"/>
                </a:solidFill>
                <a:latin typeface="Times New Roman"/>
              </a:rPr>
              <a:t>   vectors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794690" y="8796528"/>
            <a:ext cx="852097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 i="0">
                <a:solidFill>
                  <a:srgbClr val="6F6F6F"/>
                </a:solidFill>
                <a:latin typeface="Times New Roman"/>
              </a:rPr>
              <a:t>LAION-400M  ·  29.3 GB at 72 B/vec  ·  28× compressed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794690" y="9436608"/>
            <a:ext cx="852097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1" i="0">
                <a:solidFill>
                  <a:srgbClr val="1F1F1F"/>
                </a:solidFill>
                <a:latin typeface="Times New Roman"/>
              </a:rPr>
              <a:t>CLIP · R@100, no reranking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794690" y="10122408"/>
            <a:ext cx="669217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794690" y="10122408"/>
            <a:ext cx="5054229" cy="731520"/>
          </a:xfrm>
          <a:prstGeom prst="rect">
            <a:avLst/>
          </a:prstGeom>
          <a:solidFill>
            <a:srgbClr val="6F6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977570" y="10122408"/>
            <a:ext cx="637213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Times New Roman"/>
              </a:rPr>
              <a:t>Vanilla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651456" y="10122408"/>
            <a:ext cx="1645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1F1F1F"/>
                </a:solidFill>
                <a:latin typeface="Times New Roman"/>
              </a:rPr>
              <a:t>.108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794690" y="10963656"/>
            <a:ext cx="669217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794690" y="10963656"/>
            <a:ext cx="6692174" cy="731520"/>
          </a:xfrm>
          <a:prstGeom prst="rect">
            <a:avLst/>
          </a:prstGeom>
          <a:solidFill>
            <a:srgbClr val="0D4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977570" y="10963656"/>
            <a:ext cx="637213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Times New Roman"/>
              </a:rPr>
              <a:t>PMC   (+32%)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651456" y="10963656"/>
            <a:ext cx="1645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1F1F1F"/>
                </a:solidFill>
                <a:latin typeface="Times New Roman"/>
              </a:rPr>
              <a:t>.143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794690" y="11896344"/>
            <a:ext cx="852097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0" i="0">
                <a:solidFill>
                  <a:srgbClr val="1F1F1F"/>
                </a:solidFill>
                <a:latin typeface="Times New Roman"/>
              </a:rPr>
              <a:t>with exact reranking K′ = 400:   .198 → </a:t>
            </a:r>
            <a:r>
              <a:rPr sz="2500" b="1" i="0">
                <a:solidFill>
                  <a:srgbClr val="0D4DA3"/>
                </a:solidFill>
                <a:latin typeface="Times New Roman"/>
              </a:rPr>
              <a:t>.277   (+40%)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794690" y="12902184"/>
            <a:ext cx="852097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1F1F1F"/>
                </a:solidFill>
                <a:latin typeface="Times New Roman"/>
              </a:rPr>
              <a:t>Every configuration, ordered by modality gap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794690" y="13679424"/>
            <a:ext cx="777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6F6F6F"/>
                </a:solidFill>
                <a:latin typeface="Times New Roman"/>
              </a:rPr>
              <a:t>‖g‖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571930" y="13679424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6F6F6F"/>
                </a:solidFill>
                <a:latin typeface="Times New Roman"/>
              </a:rPr>
              <a:t>Dataset · Enc.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315130" y="13679424"/>
            <a:ext cx="25002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6F6F6F"/>
                </a:solidFill>
                <a:latin typeface="Times New Roman"/>
              </a:rPr>
              <a:t>q→db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815397" y="13679424"/>
            <a:ext cx="25002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6F6F6F"/>
                </a:solidFill>
                <a:latin typeface="Times New Roman"/>
              </a:rPr>
              <a:t>db→q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794690" y="14301216"/>
            <a:ext cx="8520974" cy="2032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94690" y="14502384"/>
            <a:ext cx="777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 i="0">
                <a:solidFill>
                  <a:srgbClr val="8B0029"/>
                </a:solidFill>
                <a:latin typeface="Times New Roman"/>
              </a:rPr>
              <a:t>.82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571930" y="14502384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1F1F1F"/>
                </a:solidFill>
                <a:latin typeface="Times New Roman"/>
              </a:rPr>
              <a:t>MSCOCO CL-L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4315130" y="14447520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.55→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.65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+18%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815397" y="14447520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.47→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.63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+34%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794690" y="15087600"/>
            <a:ext cx="8520974" cy="1016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794690" y="15197328"/>
            <a:ext cx="777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 i="0">
                <a:solidFill>
                  <a:srgbClr val="8B0029"/>
                </a:solidFill>
                <a:latin typeface="Times New Roman"/>
              </a:rPr>
              <a:t>.82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571930" y="15197328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1F1F1F"/>
                </a:solidFill>
                <a:latin typeface="Times New Roman"/>
              </a:rPr>
              <a:t>MSCOCO CLIP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315130" y="15142464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.58→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.63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+9%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815397" y="15142464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.50→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.60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+20%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794690" y="15782544"/>
            <a:ext cx="8520974" cy="1016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94690" y="15892272"/>
            <a:ext cx="777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 i="0">
                <a:solidFill>
                  <a:srgbClr val="8B0029"/>
                </a:solidFill>
                <a:latin typeface="Times New Roman"/>
              </a:rPr>
              <a:t>.77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571930" y="15892272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1F1F1F"/>
                </a:solidFill>
                <a:latin typeface="Times New Roman"/>
              </a:rPr>
              <a:t>Flickr30K CL-L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315130" y="15837408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.41→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.48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+17%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815397" y="15837408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.33→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.48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+45%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794690" y="16477488"/>
            <a:ext cx="8520974" cy="1016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94690" y="16587216"/>
            <a:ext cx="777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 i="0">
                <a:solidFill>
                  <a:srgbClr val="8B0029"/>
                </a:solidFill>
                <a:latin typeface="Times New Roman"/>
              </a:rPr>
              <a:t>.72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571930" y="16587216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1F1F1F"/>
                </a:solidFill>
                <a:latin typeface="Times New Roman"/>
              </a:rPr>
              <a:t>LAION-400M CLIP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315130" y="16532352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.108→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.143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+32%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815397" y="16532352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.069→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.073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+6%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794690" y="17172432"/>
            <a:ext cx="8520974" cy="1016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794690" y="17282160"/>
            <a:ext cx="777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 i="0">
                <a:solidFill>
                  <a:srgbClr val="8B0029"/>
                </a:solidFill>
                <a:latin typeface="Times New Roman"/>
              </a:rPr>
              <a:t>.70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571930" y="17282160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1F1F1F"/>
                </a:solidFill>
                <a:latin typeface="Times New Roman"/>
              </a:rPr>
              <a:t>MSCOCO IB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4315130" y="17227296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.67→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.75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+12%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815397" y="17227296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.71→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.75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794690" y="17867376"/>
            <a:ext cx="8520974" cy="1016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794690" y="17977104"/>
            <a:ext cx="777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 i="0">
                <a:solidFill>
                  <a:srgbClr val="8B0029"/>
                </a:solidFill>
                <a:latin typeface="Times New Roman"/>
              </a:rPr>
              <a:t>.61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571930" y="17977104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1F1F1F"/>
                </a:solidFill>
                <a:latin typeface="Times New Roman"/>
              </a:rPr>
              <a:t>Clotho IB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315130" y="17922240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.72→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.73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+1%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6815397" y="17922240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.62→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.69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+11%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0794690" y="18562320"/>
            <a:ext cx="8520974" cy="1016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0794690" y="18672048"/>
            <a:ext cx="777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 i="0">
                <a:solidFill>
                  <a:srgbClr val="8B0029"/>
                </a:solidFill>
                <a:latin typeface="Times New Roman"/>
              </a:rPr>
              <a:t>.61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571930" y="18672048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1F1F1F"/>
                </a:solidFill>
                <a:latin typeface="Times New Roman"/>
              </a:rPr>
              <a:t>AudioCaps IB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315130" y="18617184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.75→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.78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+4%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815397" y="18617184"/>
            <a:ext cx="25002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6F6F6F"/>
                </a:solidFill>
                <a:latin typeface="Times New Roman"/>
              </a:rPr>
              <a:t>.83→</a:t>
            </a:r>
            <a:r>
              <a:rPr sz="2400" b="1" i="0">
                <a:solidFill>
                  <a:srgbClr val="0D4DA3"/>
                </a:solidFill>
                <a:latin typeface="Times New Roman"/>
              </a:rPr>
              <a:t>.83</a:t>
            </a:r>
            <a:r>
              <a:rPr sz="2000" b="1" i="0">
                <a:solidFill>
                  <a:srgbClr val="0D4DA3"/>
                </a:solidFill>
                <a:latin typeface="Times New Roman"/>
              </a:rPr>
              <a:t> +0%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0794690" y="19257264"/>
            <a:ext cx="8520974" cy="1016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0794690" y="19586448"/>
            <a:ext cx="852097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 i="0">
                <a:solidFill>
                  <a:srgbClr val="8B0029"/>
                </a:solidFill>
                <a:latin typeface="Times New Roman"/>
              </a:rPr>
              <a:t>The gain tracks the gap. </a:t>
            </a:r>
            <a:r>
              <a:rPr sz="2400" b="0" i="0">
                <a:solidFill>
                  <a:srgbClr val="1F1F1F"/>
                </a:solidFill>
                <a:latin typeface="Times New Roman"/>
              </a:rPr>
              <a:t>R@100 improved or matched in all 16 BQ configurations; best in all 14 at R@10.</a:t>
            </a:r>
          </a:p>
        </p:txBody>
      </p:sp>
      <p:pic>
        <p:nvPicPr>
          <p:cNvPr id="109" name="Picture 108" descr="asset_fig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55187" y="20638008"/>
            <a:ext cx="6599979" cy="5084064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20794690" y="25831800"/>
            <a:ext cx="852097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100" b="0" i="1">
                <a:solidFill>
                  <a:srgbClr val="6F6F6F"/>
                </a:solidFill>
                <a:latin typeface="Times New Roman"/>
              </a:rPr>
              <a:t>QPS tracks Vanilla at every n</a:t>
            </a:r>
            <a:r>
              <a:rPr sz="1512" b="0" i="1" baseline="-25000">
                <a:solidFill>
                  <a:srgbClr val="6F6F6F"/>
                </a:solidFill>
                <a:latin typeface="Times New Roman"/>
              </a:rPr>
              <a:t>probe</a:t>
            </a:r>
            <a:r>
              <a:rPr sz="2100" b="0" i="1">
                <a:solidFill>
                  <a:srgbClr val="6F6F6F"/>
                </a:solidFill>
                <a:latin typeface="Times New Roman"/>
              </a:rPr>
              <a:t> — PMC adds no per-query work.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0120" y="26883360"/>
            <a:ext cx="28355544" cy="1524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767093" y="27340560"/>
            <a:ext cx="12700" cy="1386230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0762823" y="27340560"/>
            <a:ext cx="12700" cy="13862304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0120" y="27340560"/>
            <a:ext cx="1034977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8B0029"/>
                </a:solidFill>
                <a:latin typeface="Times New Roman"/>
              </a:rPr>
              <a:t>4.  Why it works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60120" y="28392120"/>
            <a:ext cx="10349773" cy="25400"/>
          </a:xfrm>
          <a:prstGeom prst="rect">
            <a:avLst/>
          </a:prstGeom>
          <a:solidFill>
            <a:srgbClr val="8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6" name="Picture 115" descr="asset_fig3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28940760"/>
            <a:ext cx="10349773" cy="8093383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960120" y="37537063"/>
            <a:ext cx="1034977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0D4DA3"/>
                </a:solidFill>
                <a:latin typeface="Times New Roman"/>
              </a:rPr>
              <a:t>Correcting 5% of dimensions can already be enough.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60120" y="38862943"/>
            <a:ext cx="103497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0" i="0">
                <a:solidFill>
                  <a:srgbClr val="1F1F1F"/>
                </a:solidFill>
                <a:latin typeface="Times New Roman"/>
              </a:rPr>
              <a:t>CLIP’s gap energy is concentrated (top 10% ≈ 86–92%), so selective PMC on the highest-|g</a:t>
            </a:r>
            <a:r>
              <a:rPr sz="1872" b="0" i="0" baseline="-25000">
                <a:solidFill>
                  <a:srgbClr val="1F1F1F"/>
                </a:solidFill>
                <a:latin typeface="Times New Roman"/>
              </a:rPr>
              <a:t>i</a:t>
            </a:r>
            <a:r>
              <a:rPr sz="2600" b="0" i="0">
                <a:solidFill>
                  <a:srgbClr val="1F1F1F"/>
                </a:solidFill>
                <a:latin typeface="Times New Roman"/>
              </a:rPr>
              <a:t>| dimensions recovers peak recall. ImageBind’s diffuse gap (≈72%) needs the full vector — exactly what the flip-risk analysis predicts.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224293" y="27340560"/>
            <a:ext cx="808133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8B0029"/>
                </a:solidFill>
                <a:latin typeface="Times New Roman"/>
              </a:rPr>
              <a:t>5.  Where to correct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2224293" y="28392120"/>
            <a:ext cx="8081330" cy="25400"/>
          </a:xfrm>
          <a:prstGeom prst="rect">
            <a:avLst/>
          </a:prstGeom>
          <a:solidFill>
            <a:srgbClr val="8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2224293" y="28757880"/>
            <a:ext cx="80813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0" i="0">
                <a:solidFill>
                  <a:srgbClr val="6F6F6F"/>
                </a:solidFill>
                <a:latin typeface="Times New Roman"/>
              </a:rPr>
              <a:t>MSCOCO · CLIP-B/32 · IVF-RaBitQ · R@100 (t→i)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2224293" y="29489400"/>
            <a:ext cx="625253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2224293" y="29489400"/>
            <a:ext cx="4279806" cy="868680"/>
          </a:xfrm>
          <a:prstGeom prst="rect">
            <a:avLst/>
          </a:prstGeom>
          <a:solidFill>
            <a:srgbClr val="6F6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2407173" y="29489400"/>
            <a:ext cx="593249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Times New Roman"/>
              </a:rPr>
              <a:t>Vanilla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641415" y="2948940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1F1F1F"/>
                </a:solidFill>
                <a:latin typeface="Times New Roman"/>
              </a:rPr>
              <a:t>.578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2224293" y="30632400"/>
            <a:ext cx="625253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2224293" y="30632400"/>
            <a:ext cx="3042675" cy="868680"/>
          </a:xfrm>
          <a:prstGeom prst="rect">
            <a:avLst/>
          </a:prstGeom>
          <a:solidFill>
            <a:srgbClr val="6F6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2407173" y="30632400"/>
            <a:ext cx="593249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Times New Roman"/>
              </a:rPr>
              <a:t>Query-only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8641415" y="3063240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1F1F1F"/>
                </a:solidFill>
                <a:latin typeface="Times New Roman"/>
              </a:rPr>
              <a:t>.541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2224293" y="31775400"/>
            <a:ext cx="625253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2224293" y="31775400"/>
            <a:ext cx="4981962" cy="868680"/>
          </a:xfrm>
          <a:prstGeom prst="rect">
            <a:avLst/>
          </a:prstGeom>
          <a:solidFill>
            <a:srgbClr val="6F6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2407173" y="31775400"/>
            <a:ext cx="593249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Times New Roman"/>
              </a:rPr>
              <a:t>Both sides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641415" y="3177540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1F1F1F"/>
                </a:solidFill>
                <a:latin typeface="Times New Roman"/>
              </a:rPr>
              <a:t>.599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2224293" y="32918400"/>
            <a:ext cx="625253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2224293" y="32918400"/>
            <a:ext cx="6252530" cy="868680"/>
          </a:xfrm>
          <a:prstGeom prst="rect">
            <a:avLst/>
          </a:prstGeom>
          <a:solidFill>
            <a:srgbClr val="0D4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2407173" y="32918400"/>
            <a:ext cx="593249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Times New Roman"/>
              </a:rPr>
              <a:t>DB-only  (PMC)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8641415" y="3291840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 i="0">
                <a:solidFill>
                  <a:srgbClr val="1F1F1F"/>
                </a:solidFill>
                <a:latin typeface="Times New Roman"/>
              </a:rPr>
              <a:t>.637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2224293" y="34655760"/>
            <a:ext cx="808133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600" b="0" i="0">
                <a:solidFill>
                  <a:srgbClr val="1F1F1F"/>
                </a:solidFill>
                <a:latin typeface="Times New Roman"/>
              </a:rPr>
              <a:t>Shifting both sides re-displaces the routing pivot.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900" b="1" i="0">
                <a:solidFill>
                  <a:srgbClr val="8B0029"/>
                </a:solidFill>
                <a:latin typeface="Times New Roman"/>
              </a:rPr>
              <a:t>Correct the centroid where it controls both routing and code formation.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400" b="0" i="0">
                <a:solidFill>
                  <a:srgbClr val="6F6F6F"/>
                </a:solidFill>
                <a:latin typeface="Times New Roman"/>
              </a:rPr>
              <a:t>Random, shuffled, sign-flipped and un-normalized controls all trail DB-PMC.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220023" y="27340560"/>
            <a:ext cx="8095641" cy="13862304"/>
          </a:xfrm>
          <a:prstGeom prst="rect">
            <a:avLst/>
          </a:prstGeom>
          <a:solidFill>
            <a:srgbClr val="F6F5F3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1220023" y="27340560"/>
            <a:ext cx="8095641" cy="50800"/>
          </a:xfrm>
          <a:prstGeom prst="rect">
            <a:avLst/>
          </a:prstGeom>
          <a:solidFill>
            <a:srgbClr val="8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1768663" y="27889200"/>
            <a:ext cx="699836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 i="0">
                <a:solidFill>
                  <a:srgbClr val="8B0029"/>
                </a:solidFill>
                <a:latin typeface="Times New Roman"/>
              </a:rPr>
              <a:t>Takeaway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1768663" y="29077920"/>
            <a:ext cx="699836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300" b="1" i="0">
                <a:solidFill>
                  <a:srgbClr val="1F1F1F"/>
                </a:solidFill>
                <a:latin typeface="Times New Roman"/>
              </a:rPr>
              <a:t>A one-time, database-side centroid correction repairs IVF routing and binary quantization together — without changing the serving path.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1768663" y="33421320"/>
            <a:ext cx="256032" cy="256032"/>
          </a:xfrm>
          <a:prstGeom prst="rect">
            <a:avLst/>
          </a:prstGeom>
          <a:solidFill>
            <a:srgbClr val="0D4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2299015" y="33284160"/>
            <a:ext cx="6449721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00" b="0" i="0">
                <a:solidFill>
                  <a:srgbClr val="1F1F1F"/>
                </a:solidFill>
                <a:latin typeface="Times New Roman"/>
              </a:rPr>
              <a:t>Recall gains scale with the gap ‖g‖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1768663" y="34564320"/>
            <a:ext cx="256032" cy="256032"/>
          </a:xfrm>
          <a:prstGeom prst="rect">
            <a:avLst/>
          </a:prstGeom>
          <a:solidFill>
            <a:srgbClr val="0D4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2299015" y="34427160"/>
            <a:ext cx="6449721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00" b="0" i="0">
                <a:solidFill>
                  <a:srgbClr val="1F1F1F"/>
                </a:solidFill>
                <a:latin typeface="Times New Roman"/>
              </a:rPr>
              <a:t>Zero query-time transform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1768663" y="35707320"/>
            <a:ext cx="256032" cy="256032"/>
          </a:xfrm>
          <a:prstGeom prst="rect">
            <a:avLst/>
          </a:prstGeom>
          <a:solidFill>
            <a:srgbClr val="0D4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2299015" y="35570160"/>
            <a:ext cx="6449721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00" b="0" i="0">
                <a:solidFill>
                  <a:srgbClr val="1F1F1F"/>
                </a:solidFill>
                <a:latin typeface="Times New Roman"/>
              </a:rPr>
              <a:t>Zero additional index memory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768663" y="36850320"/>
            <a:ext cx="256032" cy="256032"/>
          </a:xfrm>
          <a:prstGeom prst="rect">
            <a:avLst/>
          </a:prstGeom>
          <a:solidFill>
            <a:srgbClr val="0D4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2299015" y="36713160"/>
            <a:ext cx="6449721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900" b="0" i="0">
                <a:solidFill>
                  <a:srgbClr val="1F1F1F"/>
                </a:solidFill>
                <a:latin typeface="Times New Roman"/>
              </a:rPr>
              <a:t>Validated at 407M-vector scale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60120" y="41522904"/>
            <a:ext cx="28355544" cy="25400"/>
          </a:xfrm>
          <a:prstGeom prst="rect">
            <a:avLst/>
          </a:prstGeom>
          <a:solidFill>
            <a:srgbClr val="8B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60120" y="41815512"/>
            <a:ext cx="28355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900" b="0" i="0">
                <a:solidFill>
                  <a:srgbClr val="6F6F6F"/>
                </a:solidFill>
                <a:latin typeface="Times New Roman"/>
              </a:rPr>
              <a:t>CIKM ’26 · November 07–11, 2026 · Rome, Italy          DOI 10.1145/3799682.3840007          CC-BY 4.0          Supported by the NRF of Korea (MSIT), No. 00359638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