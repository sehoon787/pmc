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184648"/>
            <a:ext cx="28721304" cy="3218281"/>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5422392"/>
            <a:ext cx="28245816" cy="2742793"/>
          </a:xfrm>
          <a:prstGeom prst="rect">
            <a:avLst/>
          </a:prstGeom>
          <a:noFill/>
        </p:spPr>
        <p:txBody>
          <a:bodyPr wrap="square" lIns="0" rIns="0" tIns="0" bIns="0">
            <a:spAutoFit/>
          </a:bodyPr>
          <a:lstStyle/>
          <a:p>
            <a:pPr algn="l">
              <a:lnSpc>
                <a:spcPct val="128000"/>
              </a:lnSpc>
              <a:spcAft>
                <a:spcPts val="400"/>
              </a:spcAft>
            </a:pPr>
            <a:r>
              <a:rPr sz="2300" b="1" i="0">
                <a:solidFill>
                  <a:srgbClr val="8B0029"/>
                </a:solidFill>
                <a:latin typeface="Times New Roman"/>
              </a:rPr>
              <a:t>Abstract.  </a:t>
            </a:r>
            <a:r>
              <a:rPr sz="23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4" name="Rectangle 13"/>
          <p:cNvSpPr/>
          <p:nvPr/>
        </p:nvSpPr>
        <p:spPr>
          <a:xfrm>
            <a:off x="10244328" y="8786977"/>
            <a:ext cx="12700" cy="31867248"/>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31456" y="8786977"/>
            <a:ext cx="12700" cy="31867248"/>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  Background</a:t>
            </a:r>
          </a:p>
        </p:txBody>
      </p:sp>
      <p:sp>
        <p:nvSpPr>
          <p:cNvPr id="17" name="Rectangle 16"/>
          <p:cNvSpPr/>
          <p:nvPr/>
        </p:nvSpPr>
        <p:spPr>
          <a:xfrm>
            <a:off x="777240"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9527895"/>
            <a:ext cx="9147048" cy="1234846"/>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CLIP and ImageBind map images, text and audio into one shared vector space, so a text query can retrieve an image directly. At deployment the index, not the model, is the bottleneck: 407M float32 vectors of 512 dimensions occupy 833 GB.</a:t>
            </a:r>
          </a:p>
        </p:txBody>
      </p:sp>
      <p:sp>
        <p:nvSpPr>
          <p:cNvPr id="19" name="Rectangle 18"/>
          <p:cNvSpPr/>
          <p:nvPr/>
        </p:nvSpPr>
        <p:spPr>
          <a:xfrm>
            <a:off x="804672" y="10927333"/>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4712" y="10817605"/>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Vector quantization </a:t>
            </a:r>
            <a:r>
              <a:rPr sz="2100" b="0" i="0">
                <a:solidFill>
                  <a:srgbClr val="1F1F1F"/>
                </a:solidFill>
                <a:latin typeface="Times New Roman"/>
              </a:rPr>
              <a:t>compresses each vector to a few bytes so the index fits in memory.</a:t>
            </a:r>
          </a:p>
        </p:txBody>
      </p:sp>
      <p:sp>
        <p:nvSpPr>
          <p:cNvPr id="21" name="Rectangle 20"/>
          <p:cNvSpPr/>
          <p:nvPr/>
        </p:nvSpPr>
        <p:spPr>
          <a:xfrm>
            <a:off x="804672" y="11777725"/>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24712" y="11667997"/>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Binary quantization (BQ) </a:t>
            </a:r>
            <a:r>
              <a:rPr sz="2100" b="0" i="0">
                <a:solidFill>
                  <a:srgbClr val="1F1F1F"/>
                </a:solidFill>
                <a:latin typeface="Times New Roman"/>
              </a:rPr>
              <a:t>is the extreme point — one sign bit per dimension, 32× smaller. RaBitQ bounds its distortion; Lucene ships it as BBQ.</a:t>
            </a:r>
          </a:p>
        </p:txBody>
      </p:sp>
      <p:sp>
        <p:nvSpPr>
          <p:cNvPr id="23" name="Rectangle 22"/>
          <p:cNvSpPr/>
          <p:nvPr/>
        </p:nvSpPr>
        <p:spPr>
          <a:xfrm>
            <a:off x="804672" y="12628117"/>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12518389"/>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Every BQ method encodes </a:t>
            </a:r>
            <a:r>
              <a:rPr sz="2100" b="1" i="0">
                <a:solidFill>
                  <a:srgbClr val="0D4DA3"/>
                </a:solidFill>
                <a:latin typeface="Times New Roman"/>
              </a:rPr>
              <a:t>sign(x − c)</a:t>
            </a:r>
            <a:r>
              <a:rPr sz="2100" b="0" i="0">
                <a:solidFill>
                  <a:srgbClr val="1F1F1F"/>
                </a:solidFill>
                <a:latin typeface="Times New Roman"/>
              </a:rPr>
              <a:t> against a centroid c — also the pivot routing a query to inverted lists.</a:t>
            </a:r>
          </a:p>
        </p:txBody>
      </p:sp>
      <p:sp>
        <p:nvSpPr>
          <p:cNvPr id="25" name="TextBox 24"/>
          <p:cNvSpPr txBox="1"/>
          <p:nvPr/>
        </p:nvSpPr>
        <p:spPr>
          <a:xfrm>
            <a:off x="777240" y="13478509"/>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2.  The problem: the modality gap</a:t>
            </a:r>
          </a:p>
        </p:txBody>
      </p:sp>
      <p:sp>
        <p:nvSpPr>
          <p:cNvPr id="26" name="Rectangle 25"/>
          <p:cNvSpPr/>
          <p:nvPr/>
        </p:nvSpPr>
        <p:spPr>
          <a:xfrm>
            <a:off x="777240" y="14029435"/>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14109699"/>
            <a:ext cx="9147048" cy="1625295"/>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BQ assumes queries and database vectors share that centroid. In cross-modal retrieval they do not — each modality clusters around its own centre, an offset known as the </a:t>
            </a:r>
            <a:r>
              <a:rPr sz="2100" b="1" i="0">
                <a:solidFill>
                  <a:srgbClr val="8B0029"/>
                </a:solidFill>
                <a:latin typeface="Times New Roman"/>
              </a:rPr>
              <a:t>modality gap</a:t>
            </a:r>
            <a:r>
              <a:rPr sz="2100" b="0" i="0">
                <a:solidFill>
                  <a:srgbClr val="1F1F1F"/>
                </a:solidFill>
                <a:latin typeface="Times New Roman"/>
              </a:rPr>
              <a:t>.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r>
              <a:rPr sz="2100" b="0" i="0">
                <a:solidFill>
                  <a:srgbClr val="1F1F1F"/>
                </a:solidFill>
                <a:latin typeface="Times New Roman"/>
              </a:rPr>
              <a:t> is stable and large: ‖g‖ = .61–.82 on our benchmarks.</a:t>
            </a:r>
          </a:p>
        </p:txBody>
      </p:sp>
      <p:pic>
        <p:nvPicPr>
          <p:cNvPr id="28" name="Picture 27" descr="asset_fig1.png"/>
          <p:cNvPicPr>
            <a:picLocks noChangeAspect="1"/>
          </p:cNvPicPr>
          <p:nvPr/>
        </p:nvPicPr>
        <p:blipFill>
          <a:blip r:embed="rId5"/>
          <a:stretch>
            <a:fillRect/>
          </a:stretch>
        </p:blipFill>
        <p:spPr>
          <a:xfrm>
            <a:off x="1691945" y="15826434"/>
            <a:ext cx="7317638" cy="3637475"/>
          </a:xfrm>
          <a:prstGeom prst="rect">
            <a:avLst/>
          </a:prstGeom>
        </p:spPr>
      </p:pic>
      <p:sp>
        <p:nvSpPr>
          <p:cNvPr id="29" name="TextBox 28"/>
          <p:cNvSpPr txBox="1"/>
          <p:nvPr/>
        </p:nvSpPr>
        <p:spPr>
          <a:xfrm>
            <a:off x="777240" y="19518773"/>
            <a:ext cx="9147048" cy="630936"/>
          </a:xfrm>
          <a:prstGeom prst="rect">
            <a:avLst/>
          </a:prstGeom>
          <a:noFill/>
        </p:spPr>
        <p:txBody>
          <a:bodyPr wrap="square" lIns="0" rIns="0" tIns="0" bIns="0">
            <a:spAutoFit/>
          </a:bodyPr>
          <a:lstStyle/>
          <a:p>
            <a:pPr algn="l">
              <a:lnSpc>
                <a:spcPct val="115000"/>
              </a:lnSpc>
              <a:spcAft>
                <a:spcPts val="0"/>
              </a:spcAft>
            </a:pPr>
            <a:r>
              <a:rPr sz="1800" b="0" i="1">
                <a:solidFill>
                  <a:srgbClr val="6F6F6F"/>
                </a:solidFill>
                <a:latin typeface="Times New Roman"/>
              </a:rPr>
              <a:t>t-SNE of ImageBind embeddings: (a) each modality forms its own cluster; (b) after PMC the pairs overlap.</a:t>
            </a:r>
          </a:p>
        </p:txBody>
      </p:sp>
      <p:sp>
        <p:nvSpPr>
          <p:cNvPr id="30" name="TextBox 29"/>
          <p:cNvSpPr txBox="1"/>
          <p:nvPr/>
        </p:nvSpPr>
        <p:spPr>
          <a:xfrm>
            <a:off x="777240" y="20332589"/>
            <a:ext cx="9147048" cy="539191"/>
          </a:xfrm>
          <a:prstGeom prst="rect">
            <a:avLst/>
          </a:prstGeom>
          <a:noFill/>
        </p:spPr>
        <p:txBody>
          <a:bodyPr wrap="square" lIns="0" rIns="0" tIns="0" bIns="0">
            <a:spAutoFit/>
          </a:bodyPr>
          <a:lstStyle/>
          <a:p>
            <a:pPr algn="l">
              <a:lnSpc>
                <a:spcPct val="122000"/>
              </a:lnSpc>
              <a:spcAft>
                <a:spcPts val="0"/>
              </a:spcAft>
            </a:pPr>
            <a:r>
              <a:rPr sz="2900" b="1" i="0">
                <a:solidFill>
                  <a:srgbClr val="8B0029"/>
                </a:solidFill>
                <a:latin typeface="Times New Roman"/>
              </a:rPr>
              <a:t>One gap, two failures</a:t>
            </a:r>
          </a:p>
        </p:txBody>
      </p:sp>
      <p:sp>
        <p:nvSpPr>
          <p:cNvPr id="31" name="Rectangle 30"/>
          <p:cNvSpPr/>
          <p:nvPr/>
        </p:nvSpPr>
        <p:spPr>
          <a:xfrm>
            <a:off x="804672" y="21127812"/>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24712" y="21018084"/>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IVF routing. </a:t>
            </a:r>
            <a:r>
              <a:rPr sz="2100" b="0" i="0">
                <a:solidFill>
                  <a:srgbClr val="1F1F1F"/>
                </a:solidFill>
                <a:latin typeface="Times New Roman"/>
              </a:rPr>
              <a:t>The shifted centroid steers queries into the wrong inverted lists, so the true neighbours are never scanned.</a:t>
            </a:r>
          </a:p>
        </p:txBody>
      </p:sp>
      <p:sp>
        <p:nvSpPr>
          <p:cNvPr id="33" name="Rectangle 32"/>
          <p:cNvSpPr/>
          <p:nvPr/>
        </p:nvSpPr>
        <p:spPr>
          <a:xfrm>
            <a:off x="804672" y="2197820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24712" y="21868476"/>
            <a:ext cx="8799576" cy="768096"/>
          </a:xfrm>
          <a:prstGeom prst="rect">
            <a:avLst/>
          </a:prstGeom>
          <a:noFill/>
        </p:spPr>
        <p:txBody>
          <a:bodyPr wrap="square" lIns="0" rIns="0" tIns="0" bIns="0">
            <a:spAutoFit/>
          </a:bodyPr>
          <a:lstStyle/>
          <a:p>
            <a:pPr algn="l">
              <a:lnSpc>
                <a:spcPct val="120000"/>
              </a:lnSpc>
              <a:spcAft>
                <a:spcPts val="0"/>
              </a:spcAft>
            </a:pPr>
            <a:r>
              <a:rPr sz="2100" b="1" i="0">
                <a:solidFill>
                  <a:srgbClr val="1F1F1F"/>
                </a:solidFill>
                <a:latin typeface="Times New Roman"/>
              </a:rPr>
              <a:t>Binary codes. </a:t>
            </a:r>
            <a:r>
              <a:rPr sz="2100" b="0" i="0">
                <a:solidFill>
                  <a:srgbClr val="1F1F1F"/>
                </a:solidFill>
                <a:latin typeface="Times New Roman"/>
              </a:rPr>
              <a:t>With one bit the decision boundary passes exactly through c with zero error margin, so any systematic offset flips the bits nearest it.</a:t>
            </a:r>
          </a:p>
        </p:txBody>
      </p:sp>
      <p:sp>
        <p:nvSpPr>
          <p:cNvPr id="35" name="Rectangle 34"/>
          <p:cNvSpPr/>
          <p:nvPr/>
        </p:nvSpPr>
        <p:spPr>
          <a:xfrm>
            <a:off x="777240" y="22755444"/>
            <a:ext cx="9147048" cy="2353868"/>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3272" y="23011476"/>
            <a:ext cx="8634984" cy="1841804"/>
          </a:xfrm>
          <a:prstGeom prst="rect">
            <a:avLst/>
          </a:prstGeom>
          <a:noFill/>
        </p:spPr>
        <p:txBody>
          <a:bodyPr wrap="square" lIns="0" rIns="0" tIns="0" bIns="0">
            <a:spAutoFit/>
          </a:bodyPr>
          <a:lstStyle/>
          <a:p>
            <a:pPr algn="l">
              <a:lnSpc>
                <a:spcPct val="128000"/>
              </a:lnSpc>
              <a:spcAft>
                <a:spcPts val="400"/>
              </a:spcAft>
            </a:pPr>
            <a:r>
              <a:rPr sz="2100" b="1" i="0">
                <a:solidFill>
                  <a:srgbClr val="1F1F1F"/>
                </a:solidFill>
                <a:latin typeface="Times New Roman"/>
              </a:rPr>
              <a:t>Oracle test — MSCOCO, CLIP-L, RaBitQ</a:t>
            </a:r>
          </a:p>
          <a:p>
            <a:pPr algn="l">
              <a:lnSpc>
                <a:spcPct val="128000"/>
              </a:lnSpc>
              <a:spcAft>
                <a:spcPts val="400"/>
              </a:spcAft>
            </a:pPr>
            <a:r>
              <a:rPr sz="2200" b="0" i="0">
                <a:solidFill>
                  <a:srgbClr val="1F1F1F"/>
                </a:solidFill>
                <a:latin typeface="Times New Roman"/>
              </a:rPr>
              <a:t>same-modality  (‖g‖ = 0)           R@100 = 0.71</a:t>
            </a:r>
          </a:p>
          <a:p>
            <a:pPr algn="l">
              <a:lnSpc>
                <a:spcPct val="128000"/>
              </a:lnSpc>
              <a:spcAft>
                <a:spcPts val="400"/>
              </a:spcAft>
            </a:pPr>
            <a:r>
              <a:rPr sz="2200" b="1" i="0">
                <a:solidFill>
                  <a:srgbClr val="8B0029"/>
                </a:solidFill>
                <a:latin typeface="Times New Roman"/>
              </a:rPr>
              <a:t>cross-modal  (‖g‖ = .82)           R@100 = 0.54</a:t>
            </a:r>
          </a:p>
          <a:p>
            <a:pPr algn="l">
              <a:lnSpc>
                <a:spcPct val="128000"/>
              </a:lnSpc>
              <a:spcAft>
                <a:spcPts val="400"/>
              </a:spcAft>
            </a:pPr>
            <a:r>
              <a:rPr sz="1900" b="0" i="1">
                <a:solidFill>
                  <a:srgbClr val="6F6F6F"/>
                </a:solidFill>
                <a:latin typeface="Times New Roman"/>
              </a:rPr>
              <a:t>Removing the gap alone recovers 17 points: the loss is the gap, not the quantizer.</a:t>
            </a:r>
          </a:p>
        </p:txBody>
      </p:sp>
      <p:sp>
        <p:nvSpPr>
          <p:cNvPr id="37" name="TextBox 36"/>
          <p:cNvSpPr txBox="1"/>
          <p:nvPr/>
        </p:nvSpPr>
        <p:spPr>
          <a:xfrm>
            <a:off x="777240" y="25255616"/>
            <a:ext cx="9147048" cy="2015744"/>
          </a:xfrm>
          <a:prstGeom prst="rect">
            <a:avLst/>
          </a:prstGeom>
          <a:noFill/>
        </p:spPr>
        <p:txBody>
          <a:bodyPr wrap="square" lIns="0" rIns="0" tIns="0" bIns="0">
            <a:spAutoFit/>
          </a:bodyPr>
          <a:lstStyle/>
          <a:p>
            <a:pPr algn="l">
              <a:lnSpc>
                <a:spcPct val="122000"/>
              </a:lnSpc>
              <a:spcAft>
                <a:spcPts val="500"/>
              </a:spcAft>
            </a:pPr>
            <a:r>
              <a:rPr sz="2100" b="1" i="0">
                <a:solidFill>
                  <a:srgbClr val="1F1F1F"/>
                </a:solidFill>
                <a:latin typeface="Times New Roman"/>
              </a:rPr>
              <a:t>The corruption is structured, not random. </a:t>
            </a:r>
            <a:r>
              <a:rPr sz="2100" b="0" i="0">
                <a:solidFill>
                  <a:srgbClr val="1F1F1F"/>
                </a:solidFill>
                <a:latin typeface="Times New Roman"/>
              </a:rPr>
              <a:t>On CLIP-L the top 10% of dimensions carry ≈90% of ‖g‖², and a first-order expansion gives the expected number of flipped bits as a density-weighted ℓ₁ norm of the gap, E[F] ≈ α Σᵢ pᵢ(0)·|gᵢ|. Flip risk therefore grows with |gᵢ|, so a few dimensions dominate both the damage and the repair — and Hamming distances are biased systematically rather than noisily.</a:t>
            </a:r>
          </a:p>
        </p:txBody>
      </p:sp>
      <p:sp>
        <p:nvSpPr>
          <p:cNvPr id="38" name="TextBox 37"/>
          <p:cNvSpPr txBox="1"/>
          <p:nvPr/>
        </p:nvSpPr>
        <p:spPr>
          <a:xfrm>
            <a:off x="777240" y="2738108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3.  Every binary index has the same wound</a:t>
            </a:r>
          </a:p>
        </p:txBody>
      </p:sp>
      <p:sp>
        <p:nvSpPr>
          <p:cNvPr id="39" name="Rectangle 38"/>
          <p:cNvSpPr/>
          <p:nvPr/>
        </p:nvSpPr>
        <p:spPr>
          <a:xfrm>
            <a:off x="777240" y="2793201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28012278"/>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R@100, Vanilla → PMC, at one operating point. Rotation (BBQ-style) spreads the concentrated gap energy across all bits, so RotatedBinary collapses without correction — and gains most from it.</a:t>
            </a:r>
          </a:p>
        </p:txBody>
      </p:sp>
      <p:sp>
        <p:nvSpPr>
          <p:cNvPr id="41" name="TextBox 40"/>
          <p:cNvSpPr txBox="1"/>
          <p:nvPr/>
        </p:nvSpPr>
        <p:spPr>
          <a:xfrm>
            <a:off x="777240" y="29301074"/>
            <a:ext cx="2148840" cy="420624"/>
          </a:xfrm>
          <a:prstGeom prst="rect">
            <a:avLst/>
          </a:prstGeom>
          <a:noFill/>
        </p:spPr>
        <p:txBody>
          <a:bodyPr wrap="none" anchor="ctr" lIns="0" rIns="0" tIns="0" bIns="0">
            <a:spAutoFit/>
          </a:bodyPr>
          <a:lstStyle/>
          <a:p>
            <a:pPr algn="l"/>
            <a:r>
              <a:rPr sz="1900" b="1" i="0">
                <a:solidFill>
                  <a:srgbClr val="6F6F6F"/>
                </a:solidFill>
                <a:latin typeface="Times New Roman"/>
              </a:rPr>
              <a:t>Method</a:t>
            </a:r>
          </a:p>
        </p:txBody>
      </p:sp>
      <p:sp>
        <p:nvSpPr>
          <p:cNvPr id="42" name="TextBox 41"/>
          <p:cNvSpPr txBox="1"/>
          <p:nvPr/>
        </p:nvSpPr>
        <p:spPr>
          <a:xfrm>
            <a:off x="2926080" y="29301074"/>
            <a:ext cx="3499104" cy="420624"/>
          </a:xfrm>
          <a:prstGeom prst="rect">
            <a:avLst/>
          </a:prstGeom>
          <a:noFill/>
        </p:spPr>
        <p:txBody>
          <a:bodyPr wrap="none" anchor="ctr" lIns="0" rIns="0" tIns="0" bIns="0">
            <a:spAutoFit/>
          </a:bodyPr>
          <a:lstStyle/>
          <a:p>
            <a:pPr algn="r"/>
            <a:r>
              <a:rPr sz="1900" b="1" i="0">
                <a:solidFill>
                  <a:srgbClr val="6F6F6F"/>
                </a:solidFill>
                <a:latin typeface="Times New Roman"/>
              </a:rPr>
              <a:t>MSCOCO t→i</a:t>
            </a:r>
          </a:p>
        </p:txBody>
      </p:sp>
      <p:sp>
        <p:nvSpPr>
          <p:cNvPr id="43" name="TextBox 42"/>
          <p:cNvSpPr txBox="1"/>
          <p:nvPr/>
        </p:nvSpPr>
        <p:spPr>
          <a:xfrm>
            <a:off x="6425184" y="29301074"/>
            <a:ext cx="3499104" cy="420624"/>
          </a:xfrm>
          <a:prstGeom prst="rect">
            <a:avLst/>
          </a:prstGeom>
          <a:noFill/>
        </p:spPr>
        <p:txBody>
          <a:bodyPr wrap="none" anchor="ctr" lIns="0" rIns="0" tIns="0" bIns="0">
            <a:spAutoFit/>
          </a:bodyPr>
          <a:lstStyle/>
          <a:p>
            <a:pPr algn="r"/>
            <a:r>
              <a:rPr sz="1900" b="1" i="0">
                <a:solidFill>
                  <a:srgbClr val="6F6F6F"/>
                </a:solidFill>
                <a:latin typeface="Times New Roman"/>
              </a:rPr>
              <a:t>AudioCaps a→t</a:t>
            </a:r>
          </a:p>
        </p:txBody>
      </p:sp>
      <p:sp>
        <p:nvSpPr>
          <p:cNvPr id="44" name="Rectangle 43"/>
          <p:cNvSpPr/>
          <p:nvPr/>
        </p:nvSpPr>
        <p:spPr>
          <a:xfrm>
            <a:off x="777240" y="29758274"/>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29795612"/>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BinaryFlat</a:t>
            </a:r>
          </a:p>
        </p:txBody>
      </p:sp>
      <p:sp>
        <p:nvSpPr>
          <p:cNvPr id="46" name="TextBox 45"/>
          <p:cNvSpPr txBox="1"/>
          <p:nvPr/>
        </p:nvSpPr>
        <p:spPr>
          <a:xfrm>
            <a:off x="2926080" y="29795612"/>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.57</a:t>
            </a:r>
          </a:p>
        </p:txBody>
      </p:sp>
      <p:sp>
        <p:nvSpPr>
          <p:cNvPr id="47" name="TextBox 46"/>
          <p:cNvSpPr txBox="1"/>
          <p:nvPr/>
        </p:nvSpPr>
        <p:spPr>
          <a:xfrm>
            <a:off x="6425184" y="29795612"/>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.64</a:t>
            </a:r>
          </a:p>
        </p:txBody>
      </p:sp>
      <p:sp>
        <p:nvSpPr>
          <p:cNvPr id="48" name="Rectangle 47"/>
          <p:cNvSpPr/>
          <p:nvPr/>
        </p:nvSpPr>
        <p:spPr>
          <a:xfrm>
            <a:off x="777240" y="30307676"/>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30307676"/>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BinaryIVF</a:t>
            </a:r>
          </a:p>
        </p:txBody>
      </p:sp>
      <p:sp>
        <p:nvSpPr>
          <p:cNvPr id="50" name="TextBox 49"/>
          <p:cNvSpPr txBox="1"/>
          <p:nvPr/>
        </p:nvSpPr>
        <p:spPr>
          <a:xfrm>
            <a:off x="2926080" y="30307676"/>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.51 → </a:t>
            </a:r>
            <a:r>
              <a:rPr sz="2100" b="1" i="0">
                <a:solidFill>
                  <a:srgbClr val="0D4DA3"/>
                </a:solidFill>
                <a:latin typeface="Times New Roman"/>
              </a:rPr>
              <a:t>.57</a:t>
            </a:r>
          </a:p>
        </p:txBody>
      </p:sp>
      <p:sp>
        <p:nvSpPr>
          <p:cNvPr id="51" name="TextBox 50"/>
          <p:cNvSpPr txBox="1"/>
          <p:nvPr/>
        </p:nvSpPr>
        <p:spPr>
          <a:xfrm>
            <a:off x="6425184" y="30307676"/>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.50 → </a:t>
            </a:r>
            <a:r>
              <a:rPr sz="2100" b="1" i="0">
                <a:solidFill>
                  <a:srgbClr val="0D4DA3"/>
                </a:solidFill>
                <a:latin typeface="Times New Roman"/>
              </a:rPr>
              <a:t>.63</a:t>
            </a:r>
          </a:p>
        </p:txBody>
      </p:sp>
      <p:sp>
        <p:nvSpPr>
          <p:cNvPr id="52" name="Rectangle 51"/>
          <p:cNvSpPr/>
          <p:nvPr/>
        </p:nvSpPr>
        <p:spPr>
          <a:xfrm>
            <a:off x="777240" y="30819740"/>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30819740"/>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RotatedBinary</a:t>
            </a:r>
          </a:p>
        </p:txBody>
      </p:sp>
      <p:sp>
        <p:nvSpPr>
          <p:cNvPr id="54" name="TextBox 53"/>
          <p:cNvSpPr txBox="1"/>
          <p:nvPr/>
        </p:nvSpPr>
        <p:spPr>
          <a:xfrm>
            <a:off x="2926080" y="30819740"/>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.29 → </a:t>
            </a:r>
            <a:r>
              <a:rPr sz="2100" b="1" i="0">
                <a:solidFill>
                  <a:srgbClr val="0D4DA3"/>
                </a:solidFill>
                <a:latin typeface="Times New Roman"/>
              </a:rPr>
              <a:t>.58</a:t>
            </a:r>
          </a:p>
        </p:txBody>
      </p:sp>
      <p:sp>
        <p:nvSpPr>
          <p:cNvPr id="55" name="TextBox 54"/>
          <p:cNvSpPr txBox="1"/>
          <p:nvPr/>
        </p:nvSpPr>
        <p:spPr>
          <a:xfrm>
            <a:off x="6425184" y="30819740"/>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.63 → </a:t>
            </a:r>
            <a:r>
              <a:rPr sz="2100" b="1" i="0">
                <a:solidFill>
                  <a:srgbClr val="0D4DA3"/>
                </a:solidFill>
                <a:latin typeface="Times New Roman"/>
              </a:rPr>
              <a:t>.69</a:t>
            </a:r>
          </a:p>
        </p:txBody>
      </p:sp>
      <p:sp>
        <p:nvSpPr>
          <p:cNvPr id="56" name="Rectangle 55"/>
          <p:cNvSpPr/>
          <p:nvPr/>
        </p:nvSpPr>
        <p:spPr>
          <a:xfrm>
            <a:off x="777240" y="31331804"/>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31331804"/>
            <a:ext cx="2148840" cy="512064"/>
          </a:xfrm>
          <a:prstGeom prst="rect">
            <a:avLst/>
          </a:prstGeom>
          <a:noFill/>
        </p:spPr>
        <p:txBody>
          <a:bodyPr wrap="none" anchor="ctr" lIns="0" rIns="0" tIns="0" bIns="0">
            <a:spAutoFit/>
          </a:bodyPr>
          <a:lstStyle/>
          <a:p>
            <a:pPr algn="l"/>
            <a:r>
              <a:rPr sz="2000" b="0" i="0">
                <a:solidFill>
                  <a:srgbClr val="1F1F1F"/>
                </a:solidFill>
                <a:latin typeface="Times New Roman"/>
              </a:rPr>
              <a:t>RaBitQ</a:t>
            </a:r>
          </a:p>
        </p:txBody>
      </p:sp>
      <p:sp>
        <p:nvSpPr>
          <p:cNvPr id="58" name="TextBox 57"/>
          <p:cNvSpPr txBox="1"/>
          <p:nvPr/>
        </p:nvSpPr>
        <p:spPr>
          <a:xfrm>
            <a:off x="2926080" y="31331804"/>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.58 → </a:t>
            </a:r>
            <a:r>
              <a:rPr sz="2100" b="1" i="0">
                <a:solidFill>
                  <a:srgbClr val="0D4DA3"/>
                </a:solidFill>
                <a:latin typeface="Times New Roman"/>
              </a:rPr>
              <a:t>.64</a:t>
            </a:r>
          </a:p>
        </p:txBody>
      </p:sp>
      <p:sp>
        <p:nvSpPr>
          <p:cNvPr id="59" name="TextBox 58"/>
          <p:cNvSpPr txBox="1"/>
          <p:nvPr/>
        </p:nvSpPr>
        <p:spPr>
          <a:xfrm>
            <a:off x="6425184" y="31331804"/>
            <a:ext cx="3499104" cy="512064"/>
          </a:xfrm>
          <a:prstGeom prst="rect">
            <a:avLst/>
          </a:prstGeom>
          <a:noFill/>
        </p:spPr>
        <p:txBody>
          <a:bodyPr wrap="none" anchor="ctr" lIns="0" rIns="0" tIns="0" bIns="0">
            <a:spAutoFit/>
          </a:bodyPr>
          <a:lstStyle/>
          <a:p>
            <a:pPr algn="r"/>
            <a:r>
              <a:rPr sz="1900" b="0" i="0">
                <a:solidFill>
                  <a:srgbClr val="6F6F6F"/>
                </a:solidFill>
                <a:latin typeface="Times New Roman"/>
              </a:rPr>
              <a:t>.67 → </a:t>
            </a:r>
            <a:r>
              <a:rPr sz="2100" b="1" i="0">
                <a:solidFill>
                  <a:srgbClr val="0D4DA3"/>
                </a:solidFill>
                <a:latin typeface="Times New Roman"/>
              </a:rPr>
              <a:t>.75</a:t>
            </a:r>
          </a:p>
        </p:txBody>
      </p:sp>
      <p:sp>
        <p:nvSpPr>
          <p:cNvPr id="60" name="Rectangle 59"/>
          <p:cNvSpPr/>
          <p:nvPr/>
        </p:nvSpPr>
        <p:spPr>
          <a:xfrm>
            <a:off x="777240" y="31843868"/>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77240" y="32008460"/>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PMC improves or matches R@100 in all 16 method × direction configurations. The wound is in the centroid, not in any one codec, so the same one-line fix applies to every sign(·−c) method and to schemes such as LSH.</a:t>
            </a:r>
          </a:p>
        </p:txBody>
      </p:sp>
      <p:sp>
        <p:nvSpPr>
          <p:cNvPr id="62" name="TextBox 61"/>
          <p:cNvSpPr txBox="1"/>
          <p:nvPr/>
        </p:nvSpPr>
        <p:spPr>
          <a:xfrm>
            <a:off x="777240" y="33297256"/>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4.  How PMC differs from prior work</a:t>
            </a:r>
          </a:p>
        </p:txBody>
      </p:sp>
      <p:sp>
        <p:nvSpPr>
          <p:cNvPr id="63" name="Rectangle 62"/>
          <p:cNvSpPr/>
          <p:nvPr/>
        </p:nvSpPr>
        <p:spPr>
          <a:xfrm>
            <a:off x="777240" y="33848182"/>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04672" y="3403817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24712" y="33928446"/>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Graph-side methods </a:t>
            </a:r>
            <a:r>
              <a:rPr sz="2000" b="0" i="0">
                <a:solidFill>
                  <a:srgbClr val="1F1F1F"/>
                </a:solidFill>
                <a:latin typeface="Times New Roman"/>
              </a:rPr>
              <a:t>(OOD-DiskANN, RoarGraph, DEG) rewire connectivity for distribution shift, but assume uncompressed vectors.</a:t>
            </a:r>
          </a:p>
        </p:txBody>
      </p:sp>
      <p:sp>
        <p:nvSpPr>
          <p:cNvPr id="66" name="Rectangle 65"/>
          <p:cNvSpPr/>
          <p:nvPr/>
        </p:nvSpPr>
        <p:spPr>
          <a:xfrm>
            <a:off x="804672" y="34851989"/>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24712" y="34742261"/>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Drift adaptation </a:t>
            </a:r>
            <a:r>
              <a:rPr sz="2000" b="0" i="0">
                <a:solidFill>
                  <a:srgbClr val="1F1F1F"/>
                </a:solidFill>
                <a:latin typeface="Times New Roman"/>
              </a:rPr>
              <a:t>(DeDrift, TCR) retrains or adapts at test time — an online cost PMC does not pay.</a:t>
            </a:r>
          </a:p>
        </p:txBody>
      </p:sp>
      <p:sp>
        <p:nvSpPr>
          <p:cNvPr id="68" name="Rectangle 67"/>
          <p:cNvSpPr/>
          <p:nvPr/>
        </p:nvSpPr>
        <p:spPr>
          <a:xfrm>
            <a:off x="804672" y="35665804"/>
            <a:ext cx="146304" cy="146304"/>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24712" y="35556076"/>
            <a:ext cx="8799576" cy="731519"/>
          </a:xfrm>
          <a:prstGeom prst="rect">
            <a:avLst/>
          </a:prstGeom>
          <a:noFill/>
        </p:spPr>
        <p:txBody>
          <a:bodyPr wrap="square" lIns="0" rIns="0" tIns="0" bIns="0">
            <a:spAutoFit/>
          </a:bodyPr>
          <a:lstStyle/>
          <a:p>
            <a:pPr algn="l">
              <a:lnSpc>
                <a:spcPct val="120000"/>
              </a:lnSpc>
              <a:spcAft>
                <a:spcPts val="0"/>
              </a:spcAft>
            </a:pPr>
            <a:r>
              <a:rPr sz="2000" b="1" i="0">
                <a:solidFill>
                  <a:srgbClr val="1F1F1F"/>
                </a:solidFill>
                <a:latin typeface="Times New Roman"/>
              </a:rPr>
              <a:t>Gap-aware calibration </a:t>
            </a:r>
            <a:r>
              <a:rPr sz="2000" b="0" i="0">
                <a:solidFill>
                  <a:srgbClr val="1F1F1F"/>
                </a:solidFill>
                <a:latin typeface="Times New Roman"/>
              </a:rPr>
              <a:t>rescales scores for mixed-modality ranking, but never enters code formation and still shifts the query at serving time.</a:t>
            </a:r>
          </a:p>
        </p:txBody>
      </p:sp>
      <p:sp>
        <p:nvSpPr>
          <p:cNvPr id="70" name="TextBox 69"/>
          <p:cNvSpPr txBox="1"/>
          <p:nvPr/>
        </p:nvSpPr>
        <p:spPr>
          <a:xfrm>
            <a:off x="777240" y="36388179"/>
            <a:ext cx="9147048" cy="807211"/>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No prior work addresses how the modality gap degrades </a:t>
            </a:r>
            <a:r>
              <a:rPr sz="2000" b="1" i="0">
                <a:solidFill>
                  <a:srgbClr val="8B0029"/>
                </a:solidFill>
                <a:latin typeface="Times New Roman"/>
              </a:rPr>
              <a:t>compressed</a:t>
            </a:r>
            <a:r>
              <a:rPr sz="2000" b="0" i="0">
                <a:solidFill>
                  <a:srgbClr val="1F1F1F"/>
                </a:solidFill>
                <a:latin typeface="Times New Roman"/>
              </a:rPr>
              <a:t> ANN indexes, where centroid misalignment corrupts routing and codes at once.</a:t>
            </a:r>
          </a:p>
        </p:txBody>
      </p:sp>
      <p:sp>
        <p:nvSpPr>
          <p:cNvPr id="71" name="TextBox 70"/>
          <p:cNvSpPr txBox="1"/>
          <p:nvPr/>
        </p:nvSpPr>
        <p:spPr>
          <a:xfrm>
            <a:off x="777240" y="3730511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5.  Contributions</a:t>
            </a:r>
          </a:p>
        </p:txBody>
      </p:sp>
      <p:sp>
        <p:nvSpPr>
          <p:cNvPr id="72" name="Rectangle 71"/>
          <p:cNvSpPr/>
          <p:nvPr/>
        </p:nvSpPr>
        <p:spPr>
          <a:xfrm>
            <a:off x="777240" y="3785604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04672" y="38046036"/>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24712" y="37936308"/>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show the modality gap corrupts IVF routing and binary codes together, with recall loss scaling with gap magnitude.</a:t>
            </a:r>
          </a:p>
        </p:txBody>
      </p:sp>
      <p:sp>
        <p:nvSpPr>
          <p:cNvPr id="75" name="Rectangle 74"/>
          <p:cNvSpPr/>
          <p:nvPr/>
        </p:nvSpPr>
        <p:spPr>
          <a:xfrm>
            <a:off x="804672" y="38896428"/>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24712" y="38786700"/>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find the corruption concentrates in a few high-|gᵢ| dimensions; correcting only those recovers most of the loss.</a:t>
            </a:r>
          </a:p>
        </p:txBody>
      </p:sp>
      <p:sp>
        <p:nvSpPr>
          <p:cNvPr id="77" name="Rectangle 76"/>
          <p:cNvSpPr/>
          <p:nvPr/>
        </p:nvSpPr>
        <p:spPr>
          <a:xfrm>
            <a:off x="804672" y="39746820"/>
            <a:ext cx="146304" cy="146304"/>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24712" y="39637092"/>
            <a:ext cx="8799576" cy="768096"/>
          </a:xfrm>
          <a:prstGeom prst="rect">
            <a:avLst/>
          </a:prstGeom>
          <a:noFill/>
        </p:spPr>
        <p:txBody>
          <a:bodyPr wrap="square" lIns="0" rIns="0" tIns="0" bIns="0">
            <a:spAutoFit/>
          </a:bodyPr>
          <a:lstStyle/>
          <a:p>
            <a:pPr algn="l">
              <a:lnSpc>
                <a:spcPct val="120000"/>
              </a:lnSpc>
              <a:spcAft>
                <a:spcPts val="0"/>
              </a:spcAft>
            </a:pPr>
            <a:r>
              <a:rPr sz="2100" b="0" i="0">
                <a:solidFill>
                  <a:srgbClr val="1F1F1F"/>
                </a:solidFill>
                <a:latin typeface="Times New Roman"/>
              </a:rPr>
              <a:t>We propose PMC, a zero-cost build-time correction at α = 1; the ablation confirms database-side over query-side correction.</a:t>
            </a:r>
          </a:p>
        </p:txBody>
      </p:sp>
      <p:sp>
        <p:nvSpPr>
          <p:cNvPr id="79" name="TextBox 78"/>
          <p:cNvSpPr txBox="1"/>
          <p:nvPr/>
        </p:nvSpPr>
        <p:spPr>
          <a:xfrm>
            <a:off x="10564368"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6.  PMC — correct at the source</a:t>
            </a:r>
          </a:p>
        </p:txBody>
      </p:sp>
      <p:sp>
        <p:nvSpPr>
          <p:cNvPr id="80" name="Rectangle 79"/>
          <p:cNvSpPr/>
          <p:nvPr/>
        </p:nvSpPr>
        <p:spPr>
          <a:xfrm>
            <a:off x="10564368"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1840" y="9573615"/>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1    </a:t>
            </a:r>
            <a:r>
              <a:rPr sz="2900" b="1" i="0">
                <a:solidFill>
                  <a:srgbClr val="1F1F1F"/>
                </a:solidFill>
                <a:latin typeface="Times New Roman"/>
              </a:rPr>
              <a:t>Calibrate</a:t>
            </a:r>
          </a:p>
        </p:txBody>
      </p:sp>
      <p:sp>
        <p:nvSpPr>
          <p:cNvPr id="82" name="TextBox 81"/>
          <p:cNvSpPr txBox="1"/>
          <p:nvPr/>
        </p:nvSpPr>
        <p:spPr>
          <a:xfrm>
            <a:off x="10911840" y="10138206"/>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estimate the gap from a small paired sample</a:t>
            </a:r>
          </a:p>
        </p:txBody>
      </p:sp>
      <p:sp>
        <p:nvSpPr>
          <p:cNvPr id="83" name="TextBox 82"/>
          <p:cNvSpPr txBox="1"/>
          <p:nvPr/>
        </p:nvSpPr>
        <p:spPr>
          <a:xfrm>
            <a:off x="10911840" y="10523269"/>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g  =  μ</a:t>
            </a:r>
            <a:r>
              <a:rPr sz="1800" b="1" i="0" baseline="-25000">
                <a:solidFill>
                  <a:srgbClr val="1F1F1F"/>
                </a:solidFill>
                <a:latin typeface="Times New Roman"/>
              </a:rPr>
              <a:t>q</a:t>
            </a:r>
            <a:r>
              <a:rPr sz="2500" b="1" i="0">
                <a:solidFill>
                  <a:srgbClr val="1F1F1F"/>
                </a:solidFill>
                <a:latin typeface="Times New Roman"/>
              </a:rPr>
              <a:t> − μ</a:t>
            </a:r>
            <a:r>
              <a:rPr sz="1800" b="1" i="0" baseline="-25000">
                <a:solidFill>
                  <a:srgbClr val="1F1F1F"/>
                </a:solidFill>
                <a:latin typeface="Times New Roman"/>
              </a:rPr>
              <a:t>x</a:t>
            </a:r>
            <a:r>
              <a:rPr sz="1800" b="0" i="0">
                <a:solidFill>
                  <a:srgbClr val="6F6F6F"/>
                </a:solidFill>
                <a:latin typeface="Times New Roman"/>
              </a:rPr>
              <a:t>      25 samples suffice</a:t>
            </a:r>
          </a:p>
        </p:txBody>
      </p:sp>
      <p:sp>
        <p:nvSpPr>
          <p:cNvPr id="84" name="Rectangle 83"/>
          <p:cNvSpPr/>
          <p:nvPr/>
        </p:nvSpPr>
        <p:spPr>
          <a:xfrm>
            <a:off x="10564368" y="9527895"/>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Down Arrow 84"/>
          <p:cNvSpPr/>
          <p:nvPr/>
        </p:nvSpPr>
        <p:spPr>
          <a:xfrm>
            <a:off x="14753844" y="11106961"/>
            <a:ext cx="768096" cy="502920"/>
          </a:xfrm>
          <a:prstGeom prst="downArrow">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911840" y="11774473"/>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2    </a:t>
            </a:r>
            <a:r>
              <a:rPr sz="2900" b="1" i="0">
                <a:solidFill>
                  <a:srgbClr val="1F1F1F"/>
                </a:solidFill>
                <a:latin typeface="Times New Roman"/>
              </a:rPr>
              <a:t>Build  (offline)</a:t>
            </a:r>
          </a:p>
        </p:txBody>
      </p:sp>
      <p:sp>
        <p:nvSpPr>
          <p:cNvPr id="87" name="TextBox 86"/>
          <p:cNvSpPr txBox="1"/>
          <p:nvPr/>
        </p:nvSpPr>
        <p:spPr>
          <a:xfrm>
            <a:off x="10911840" y="12339064"/>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shift every database vector, renormalize, then build the index exactly as before</a:t>
            </a:r>
          </a:p>
        </p:txBody>
      </p:sp>
      <p:sp>
        <p:nvSpPr>
          <p:cNvPr id="88" name="TextBox 87"/>
          <p:cNvSpPr txBox="1"/>
          <p:nvPr/>
        </p:nvSpPr>
        <p:spPr>
          <a:xfrm>
            <a:off x="10911840" y="12724127"/>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x′  =  (x + α g) / ‖x + α g‖</a:t>
            </a:r>
            <a:r>
              <a:rPr sz="1800" b="0" i="0">
                <a:solidFill>
                  <a:srgbClr val="6F6F6F"/>
                </a:solidFill>
                <a:latin typeface="Times New Roman"/>
              </a:rPr>
              <a:t>      IVF-RaBitQ · BBQ · BinaryFlat</a:t>
            </a:r>
          </a:p>
        </p:txBody>
      </p:sp>
      <p:sp>
        <p:nvSpPr>
          <p:cNvPr id="89" name="Rectangle 88"/>
          <p:cNvSpPr/>
          <p:nvPr/>
        </p:nvSpPr>
        <p:spPr>
          <a:xfrm>
            <a:off x="10564368" y="11728753"/>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Down Arrow 89"/>
          <p:cNvSpPr/>
          <p:nvPr/>
        </p:nvSpPr>
        <p:spPr>
          <a:xfrm>
            <a:off x="14753844" y="13307819"/>
            <a:ext cx="768096" cy="502920"/>
          </a:xfrm>
          <a:prstGeom prst="downArrow">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911840" y="13975331"/>
            <a:ext cx="8763000" cy="564591"/>
          </a:xfrm>
          <a:prstGeom prst="rect">
            <a:avLst/>
          </a:prstGeom>
          <a:noFill/>
        </p:spPr>
        <p:txBody>
          <a:bodyPr wrap="square" lIns="0" rIns="0" tIns="0" bIns="0">
            <a:spAutoFit/>
          </a:bodyPr>
          <a:lstStyle/>
          <a:p>
            <a:pPr algn="l">
              <a:lnSpc>
                <a:spcPct val="122000"/>
              </a:lnSpc>
              <a:spcAft>
                <a:spcPts val="200"/>
              </a:spcAft>
            </a:pPr>
            <a:r>
              <a:rPr sz="2900" b="1" i="0">
                <a:solidFill>
                  <a:srgbClr val="0D4DA3"/>
                </a:solidFill>
                <a:latin typeface="Times New Roman"/>
              </a:rPr>
              <a:t>3    </a:t>
            </a:r>
            <a:r>
              <a:rPr sz="2900" b="1" i="0">
                <a:solidFill>
                  <a:srgbClr val="1F1F1F"/>
                </a:solidFill>
                <a:latin typeface="Times New Roman"/>
              </a:rPr>
              <a:t>Serve  (online)</a:t>
            </a:r>
          </a:p>
        </p:txBody>
      </p:sp>
      <p:sp>
        <p:nvSpPr>
          <p:cNvPr id="92" name="TextBox 91"/>
          <p:cNvSpPr txBox="1"/>
          <p:nvPr/>
        </p:nvSpPr>
        <p:spPr>
          <a:xfrm>
            <a:off x="10911840" y="14539922"/>
            <a:ext cx="8763000" cy="385063"/>
          </a:xfrm>
          <a:prstGeom prst="rect">
            <a:avLst/>
          </a:prstGeom>
          <a:noFill/>
        </p:spPr>
        <p:txBody>
          <a:bodyPr wrap="square" lIns="0" rIns="0" tIns="0" bIns="0">
            <a:spAutoFit/>
          </a:bodyPr>
          <a:lstStyle/>
          <a:p>
            <a:pPr algn="l">
              <a:lnSpc>
                <a:spcPct val="118000"/>
              </a:lnSpc>
              <a:spcAft>
                <a:spcPts val="200"/>
              </a:spcAft>
            </a:pPr>
            <a:r>
              <a:rPr sz="2000" b="0" i="0">
                <a:solidFill>
                  <a:srgbClr val="6F6F6F"/>
                </a:solidFill>
                <a:latin typeface="Times New Roman"/>
              </a:rPr>
              <a:t>search the corrected index — the query is untouched</a:t>
            </a:r>
          </a:p>
        </p:txBody>
      </p:sp>
      <p:sp>
        <p:nvSpPr>
          <p:cNvPr id="93" name="TextBox 92"/>
          <p:cNvSpPr txBox="1"/>
          <p:nvPr/>
        </p:nvSpPr>
        <p:spPr>
          <a:xfrm>
            <a:off x="10911840" y="14924985"/>
            <a:ext cx="8763000" cy="464820"/>
          </a:xfrm>
          <a:prstGeom prst="rect">
            <a:avLst/>
          </a:prstGeom>
          <a:noFill/>
        </p:spPr>
        <p:txBody>
          <a:bodyPr wrap="square" lIns="0" rIns="0" tIns="0" bIns="0">
            <a:spAutoFit/>
          </a:bodyPr>
          <a:lstStyle/>
          <a:p>
            <a:pPr algn="l">
              <a:lnSpc>
                <a:spcPct val="122000"/>
              </a:lnSpc>
              <a:spcAft>
                <a:spcPts val="0"/>
              </a:spcAft>
            </a:pPr>
            <a:r>
              <a:rPr sz="2500" b="1" i="0">
                <a:solidFill>
                  <a:srgbClr val="1F1F1F"/>
                </a:solidFill>
                <a:latin typeface="Times New Roman"/>
              </a:rPr>
              <a:t>q′  =  q</a:t>
            </a:r>
            <a:r>
              <a:rPr sz="1800" b="0" i="0">
                <a:solidFill>
                  <a:srgbClr val="6F6F6F"/>
                </a:solidFill>
                <a:latin typeface="Times New Roman"/>
              </a:rPr>
              <a:t>      at α = 1</a:t>
            </a:r>
          </a:p>
        </p:txBody>
      </p:sp>
      <p:sp>
        <p:nvSpPr>
          <p:cNvPr id="94" name="Rectangle 93"/>
          <p:cNvSpPr/>
          <p:nvPr/>
        </p:nvSpPr>
        <p:spPr>
          <a:xfrm>
            <a:off x="10564368" y="13929611"/>
            <a:ext cx="57150" cy="154249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0564368" y="15563541"/>
            <a:ext cx="9147048" cy="1513433"/>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802112" y="15801285"/>
            <a:ext cx="8671560" cy="1037945"/>
          </a:xfrm>
          <a:prstGeom prst="rect">
            <a:avLst/>
          </a:prstGeom>
          <a:noFill/>
        </p:spPr>
        <p:txBody>
          <a:bodyPr wrap="square" lIns="0" rIns="0" tIns="0" bIns="0">
            <a:spAutoFit/>
          </a:bodyPr>
          <a:lstStyle/>
          <a:p>
            <a:pPr algn="l">
              <a:lnSpc>
                <a:spcPct val="128000"/>
              </a:lnSpc>
              <a:spcAft>
                <a:spcPts val="400"/>
              </a:spcAft>
            </a:pPr>
            <a:r>
              <a:rPr sz="2400" b="1" i="0">
                <a:solidFill>
                  <a:srgbClr val="FFFFFF"/>
                </a:solidFill>
                <a:latin typeface="Times New Roman"/>
              </a:rPr>
              <a:t>At α = 1 the correction is absorbed into the index:</a:t>
            </a:r>
          </a:p>
          <a:p>
            <a:pPr algn="l">
              <a:lnSpc>
                <a:spcPct val="128000"/>
              </a:lnSpc>
              <a:spcAft>
                <a:spcPts val="400"/>
              </a:spcAft>
            </a:pPr>
            <a:r>
              <a:rPr sz="2400" b="1" i="0">
                <a:solidFill>
                  <a:srgbClr val="FFFFFF"/>
                </a:solidFill>
                <a:latin typeface="Times New Roman"/>
              </a:rPr>
              <a:t>zero query-time transform, zero extra index memory.</a:t>
            </a:r>
          </a:p>
        </p:txBody>
      </p:sp>
      <p:sp>
        <p:nvSpPr>
          <p:cNvPr id="97" name="TextBox 96"/>
          <p:cNvSpPr txBox="1"/>
          <p:nvPr/>
        </p:nvSpPr>
        <p:spPr>
          <a:xfrm>
            <a:off x="10564368" y="17223278"/>
            <a:ext cx="9147048" cy="2406192"/>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The query side carries the complement, q′ = (q − (1−α) g) / ‖q − (1−α) g‖. α = 0 is query-only mean shift: it leaves the IVF centroids and the quantized codes misaligned and can lower recall. α = 1 makes q′ = q and rewrites the centroid where it plays both of its roles — routing pivot and code boundary. The α-sweep confirms α = 1 is best or near-best in every setting, and per-vector renormalization keeps the unit-norm structure the index expects.</a:t>
            </a:r>
          </a:p>
        </p:txBody>
      </p:sp>
      <p:sp>
        <p:nvSpPr>
          <p:cNvPr id="98" name="TextBox 97"/>
          <p:cNvSpPr txBox="1"/>
          <p:nvPr/>
        </p:nvSpPr>
        <p:spPr>
          <a:xfrm>
            <a:off x="10564368" y="19739198"/>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7.  Why it works: the gap is concentrated</a:t>
            </a:r>
          </a:p>
        </p:txBody>
      </p:sp>
      <p:sp>
        <p:nvSpPr>
          <p:cNvPr id="99" name="Rectangle 98"/>
          <p:cNvSpPr/>
          <p:nvPr/>
        </p:nvSpPr>
        <p:spPr>
          <a:xfrm>
            <a:off x="10564368" y="20290124"/>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0" name="Picture 99" descr="asset_fig3b.png"/>
          <p:cNvPicPr>
            <a:picLocks noChangeAspect="1"/>
          </p:cNvPicPr>
          <p:nvPr/>
        </p:nvPicPr>
        <p:blipFill>
          <a:blip r:embed="rId6"/>
          <a:stretch>
            <a:fillRect/>
          </a:stretch>
        </p:blipFill>
        <p:spPr>
          <a:xfrm>
            <a:off x="10564368" y="20370388"/>
            <a:ext cx="9147048" cy="7152868"/>
          </a:xfrm>
          <a:prstGeom prst="rect">
            <a:avLst/>
          </a:prstGeom>
        </p:spPr>
      </p:pic>
      <p:sp>
        <p:nvSpPr>
          <p:cNvPr id="101" name="TextBox 100"/>
          <p:cNvSpPr txBox="1"/>
          <p:nvPr/>
        </p:nvSpPr>
        <p:spPr>
          <a:xfrm>
            <a:off x="10564368" y="27614696"/>
            <a:ext cx="9147048" cy="464820"/>
          </a:xfrm>
          <a:prstGeom prst="rect">
            <a:avLst/>
          </a:prstGeom>
          <a:noFill/>
        </p:spPr>
        <p:txBody>
          <a:bodyPr wrap="square" lIns="0" rIns="0" tIns="0" bIns="0">
            <a:spAutoFit/>
          </a:bodyPr>
          <a:lstStyle/>
          <a:p>
            <a:pPr algn="l">
              <a:lnSpc>
                <a:spcPct val="122000"/>
              </a:lnSpc>
              <a:spcAft>
                <a:spcPts val="0"/>
              </a:spcAft>
            </a:pPr>
            <a:r>
              <a:rPr sz="2500" b="1" i="0">
                <a:solidFill>
                  <a:srgbClr val="0D4DA3"/>
                </a:solidFill>
                <a:latin typeface="Times New Roman"/>
              </a:rPr>
              <a:t>Correcting 5% of dimensions can already be enough.</a:t>
            </a:r>
          </a:p>
        </p:txBody>
      </p:sp>
      <p:sp>
        <p:nvSpPr>
          <p:cNvPr id="102" name="TextBox 101"/>
          <p:cNvSpPr txBox="1"/>
          <p:nvPr/>
        </p:nvSpPr>
        <p:spPr>
          <a:xfrm>
            <a:off x="10564368" y="28207532"/>
            <a:ext cx="9147048" cy="2015744"/>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Restricting the shift to the top-P% of dimensions by |gᵢ| isolates the mechanism. On CLIP, whose gap energy is concentrated (top 10% carries 86–92%), P = 5% already reaches peak recall. ImageBind's diffuse gap (≈72%) needs the full vector — exactly what the flip-risk analysis predicts. This is the evidence that PMC repairs a structured failure rather than perturbing the codes at random.</a:t>
            </a:r>
          </a:p>
        </p:txBody>
      </p:sp>
      <p:sp>
        <p:nvSpPr>
          <p:cNvPr id="103" name="TextBox 102"/>
          <p:cNvSpPr txBox="1"/>
          <p:nvPr/>
        </p:nvSpPr>
        <p:spPr>
          <a:xfrm>
            <a:off x="10564368" y="30333004"/>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8.  Beyond one bit</a:t>
            </a:r>
          </a:p>
        </p:txBody>
      </p:sp>
      <p:sp>
        <p:nvSpPr>
          <p:cNvPr id="104" name="Rectangle 103"/>
          <p:cNvSpPr/>
          <p:nvPr/>
        </p:nvSpPr>
        <p:spPr>
          <a:xfrm>
            <a:off x="10564368" y="30883930"/>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564368" y="30964194"/>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Multi-bit quantizers absorb some displacement through wider error margins, so BQ is where the wound is deepest — but the same correction still helps. R@100, Vanilla → PMC, both directions averaged.</a:t>
            </a:r>
          </a:p>
        </p:txBody>
      </p:sp>
      <p:sp>
        <p:nvSpPr>
          <p:cNvPr id="106" name="TextBox 105"/>
          <p:cNvSpPr txBox="1"/>
          <p:nvPr/>
        </p:nvSpPr>
        <p:spPr>
          <a:xfrm>
            <a:off x="10564368" y="32252990"/>
            <a:ext cx="2651760" cy="420624"/>
          </a:xfrm>
          <a:prstGeom prst="rect">
            <a:avLst/>
          </a:prstGeom>
          <a:noFill/>
        </p:spPr>
        <p:txBody>
          <a:bodyPr wrap="none" anchor="ctr" lIns="0" rIns="0" tIns="0" bIns="0">
            <a:spAutoFit/>
          </a:bodyPr>
          <a:lstStyle/>
          <a:p>
            <a:pPr algn="l"/>
            <a:r>
              <a:rPr sz="1900" b="1" i="0">
                <a:solidFill>
                  <a:srgbClr val="6F6F6F"/>
                </a:solidFill>
                <a:latin typeface="Times New Roman"/>
              </a:rPr>
              <a:t>Dataset · Enc.</a:t>
            </a:r>
          </a:p>
        </p:txBody>
      </p:sp>
      <p:sp>
        <p:nvSpPr>
          <p:cNvPr id="107" name="TextBox 106"/>
          <p:cNvSpPr txBox="1"/>
          <p:nvPr/>
        </p:nvSpPr>
        <p:spPr>
          <a:xfrm>
            <a:off x="13216128" y="32252990"/>
            <a:ext cx="3247644" cy="420624"/>
          </a:xfrm>
          <a:prstGeom prst="rect">
            <a:avLst/>
          </a:prstGeom>
          <a:noFill/>
        </p:spPr>
        <p:txBody>
          <a:bodyPr wrap="none" anchor="ctr" lIns="0" rIns="0" tIns="0" bIns="0">
            <a:spAutoFit/>
          </a:bodyPr>
          <a:lstStyle/>
          <a:p>
            <a:pPr algn="r"/>
            <a:r>
              <a:rPr sz="1900" b="1" i="0">
                <a:solidFill>
                  <a:srgbClr val="6F6F6F"/>
                </a:solidFill>
                <a:latin typeface="Times New Roman"/>
              </a:rPr>
              <a:t>IVFPQ</a:t>
            </a:r>
          </a:p>
        </p:txBody>
      </p:sp>
      <p:sp>
        <p:nvSpPr>
          <p:cNvPr id="108" name="TextBox 107"/>
          <p:cNvSpPr txBox="1"/>
          <p:nvPr/>
        </p:nvSpPr>
        <p:spPr>
          <a:xfrm>
            <a:off x="16463772" y="32252990"/>
            <a:ext cx="3247644" cy="420624"/>
          </a:xfrm>
          <a:prstGeom prst="rect">
            <a:avLst/>
          </a:prstGeom>
          <a:noFill/>
        </p:spPr>
        <p:txBody>
          <a:bodyPr wrap="none" anchor="ctr" lIns="0" rIns="0" tIns="0" bIns="0">
            <a:spAutoFit/>
          </a:bodyPr>
          <a:lstStyle/>
          <a:p>
            <a:pPr algn="r"/>
            <a:r>
              <a:rPr sz="1900" b="1" i="0">
                <a:solidFill>
                  <a:srgbClr val="6F6F6F"/>
                </a:solidFill>
                <a:latin typeface="Times New Roman"/>
              </a:rPr>
              <a:t>OPQ</a:t>
            </a:r>
          </a:p>
        </p:txBody>
      </p:sp>
      <p:sp>
        <p:nvSpPr>
          <p:cNvPr id="109" name="Rectangle 108"/>
          <p:cNvSpPr/>
          <p:nvPr/>
        </p:nvSpPr>
        <p:spPr>
          <a:xfrm>
            <a:off x="10564368" y="32710190"/>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564368" y="32747528"/>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CLIP</a:t>
            </a:r>
          </a:p>
        </p:txBody>
      </p:sp>
      <p:sp>
        <p:nvSpPr>
          <p:cNvPr id="111" name="TextBox 110"/>
          <p:cNvSpPr txBox="1"/>
          <p:nvPr/>
        </p:nvSpPr>
        <p:spPr>
          <a:xfrm>
            <a:off x="13216128" y="32747528"/>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.52→</a:t>
            </a:r>
            <a:r>
              <a:rPr sz="2100" b="1" i="0">
                <a:solidFill>
                  <a:srgbClr val="0D4DA3"/>
                </a:solidFill>
                <a:latin typeface="Times New Roman"/>
              </a:rPr>
              <a:t>.64</a:t>
            </a:r>
            <a:r>
              <a:rPr sz="1800" b="1" i="0">
                <a:solidFill>
                  <a:srgbClr val="0D4DA3"/>
                </a:solidFill>
                <a:latin typeface="Times New Roman"/>
              </a:rPr>
              <a:t> +23%</a:t>
            </a:r>
          </a:p>
        </p:txBody>
      </p:sp>
      <p:sp>
        <p:nvSpPr>
          <p:cNvPr id="112" name="TextBox 111"/>
          <p:cNvSpPr txBox="1"/>
          <p:nvPr/>
        </p:nvSpPr>
        <p:spPr>
          <a:xfrm>
            <a:off x="16463772" y="32747528"/>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.64→</a:t>
            </a:r>
            <a:r>
              <a:rPr sz="2100" b="1" i="0">
                <a:solidFill>
                  <a:srgbClr val="0D4DA3"/>
                </a:solidFill>
                <a:latin typeface="Times New Roman"/>
              </a:rPr>
              <a:t>.67</a:t>
            </a:r>
            <a:r>
              <a:rPr sz="1800" b="1" i="0">
                <a:solidFill>
                  <a:srgbClr val="0D4DA3"/>
                </a:solidFill>
                <a:latin typeface="Times New Roman"/>
              </a:rPr>
              <a:t> +4%</a:t>
            </a:r>
          </a:p>
        </p:txBody>
      </p:sp>
      <p:sp>
        <p:nvSpPr>
          <p:cNvPr id="113" name="Rectangle 112"/>
          <p:cNvSpPr/>
          <p:nvPr/>
        </p:nvSpPr>
        <p:spPr>
          <a:xfrm>
            <a:off x="10564368" y="33259592"/>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564368" y="33259592"/>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CL-L</a:t>
            </a:r>
          </a:p>
        </p:txBody>
      </p:sp>
      <p:sp>
        <p:nvSpPr>
          <p:cNvPr id="115" name="TextBox 114"/>
          <p:cNvSpPr txBox="1"/>
          <p:nvPr/>
        </p:nvSpPr>
        <p:spPr>
          <a:xfrm>
            <a:off x="13216128" y="33259592"/>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.39→</a:t>
            </a:r>
            <a:r>
              <a:rPr sz="2100" b="1" i="0">
                <a:solidFill>
                  <a:srgbClr val="0D4DA3"/>
                </a:solidFill>
                <a:latin typeface="Times New Roman"/>
              </a:rPr>
              <a:t>.61</a:t>
            </a:r>
            <a:r>
              <a:rPr sz="1800" b="1" i="0">
                <a:solidFill>
                  <a:srgbClr val="0D4DA3"/>
                </a:solidFill>
                <a:latin typeface="Times New Roman"/>
              </a:rPr>
              <a:t> +56%</a:t>
            </a:r>
          </a:p>
        </p:txBody>
      </p:sp>
      <p:sp>
        <p:nvSpPr>
          <p:cNvPr id="116" name="TextBox 115"/>
          <p:cNvSpPr txBox="1"/>
          <p:nvPr/>
        </p:nvSpPr>
        <p:spPr>
          <a:xfrm>
            <a:off x="16463772" y="33259592"/>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.57→</a:t>
            </a:r>
            <a:r>
              <a:rPr sz="2100" b="1" i="0">
                <a:solidFill>
                  <a:srgbClr val="0D4DA3"/>
                </a:solidFill>
                <a:latin typeface="Times New Roman"/>
              </a:rPr>
              <a:t>.67</a:t>
            </a:r>
            <a:r>
              <a:rPr sz="1800" b="1" i="0">
                <a:solidFill>
                  <a:srgbClr val="0D4DA3"/>
                </a:solidFill>
                <a:latin typeface="Times New Roman"/>
              </a:rPr>
              <a:t> +17%</a:t>
            </a:r>
          </a:p>
        </p:txBody>
      </p:sp>
      <p:sp>
        <p:nvSpPr>
          <p:cNvPr id="117" name="Rectangle 116"/>
          <p:cNvSpPr/>
          <p:nvPr/>
        </p:nvSpPr>
        <p:spPr>
          <a:xfrm>
            <a:off x="10564368" y="33771656"/>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564368" y="33771656"/>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MSCOCO IB</a:t>
            </a:r>
          </a:p>
        </p:txBody>
      </p:sp>
      <p:sp>
        <p:nvSpPr>
          <p:cNvPr id="119" name="TextBox 118"/>
          <p:cNvSpPr txBox="1"/>
          <p:nvPr/>
        </p:nvSpPr>
        <p:spPr>
          <a:xfrm>
            <a:off x="13216128" y="33771656"/>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.59→</a:t>
            </a:r>
            <a:r>
              <a:rPr sz="2100" b="1" i="0">
                <a:solidFill>
                  <a:srgbClr val="0D4DA3"/>
                </a:solidFill>
                <a:latin typeface="Times New Roman"/>
              </a:rPr>
              <a:t>.69</a:t>
            </a:r>
            <a:r>
              <a:rPr sz="1800" b="1" i="0">
                <a:solidFill>
                  <a:srgbClr val="0D4DA3"/>
                </a:solidFill>
                <a:latin typeface="Times New Roman"/>
              </a:rPr>
              <a:t> +17%</a:t>
            </a:r>
          </a:p>
        </p:txBody>
      </p:sp>
      <p:sp>
        <p:nvSpPr>
          <p:cNvPr id="120" name="TextBox 119"/>
          <p:cNvSpPr txBox="1"/>
          <p:nvPr/>
        </p:nvSpPr>
        <p:spPr>
          <a:xfrm>
            <a:off x="16463772" y="33771656"/>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.70→</a:t>
            </a:r>
            <a:r>
              <a:rPr sz="2100" b="1" i="0">
                <a:solidFill>
                  <a:srgbClr val="0D4DA3"/>
                </a:solidFill>
                <a:latin typeface="Times New Roman"/>
              </a:rPr>
              <a:t>.77</a:t>
            </a:r>
            <a:r>
              <a:rPr sz="1800" b="1" i="0">
                <a:solidFill>
                  <a:srgbClr val="0D4DA3"/>
                </a:solidFill>
                <a:latin typeface="Times New Roman"/>
              </a:rPr>
              <a:t> +9%</a:t>
            </a:r>
          </a:p>
        </p:txBody>
      </p:sp>
      <p:sp>
        <p:nvSpPr>
          <p:cNvPr id="121" name="Rectangle 120"/>
          <p:cNvSpPr/>
          <p:nvPr/>
        </p:nvSpPr>
        <p:spPr>
          <a:xfrm>
            <a:off x="10564368" y="34283720"/>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0564368" y="34283720"/>
            <a:ext cx="2651760" cy="512064"/>
          </a:xfrm>
          <a:prstGeom prst="rect">
            <a:avLst/>
          </a:prstGeom>
          <a:noFill/>
        </p:spPr>
        <p:txBody>
          <a:bodyPr wrap="none" anchor="ctr" lIns="0" rIns="0" tIns="0" bIns="0">
            <a:spAutoFit/>
          </a:bodyPr>
          <a:lstStyle/>
          <a:p>
            <a:pPr algn="l"/>
            <a:r>
              <a:rPr sz="2000" b="0" i="0">
                <a:solidFill>
                  <a:srgbClr val="1F1F1F"/>
                </a:solidFill>
                <a:latin typeface="Times New Roman"/>
              </a:rPr>
              <a:t>Flickr30K CL-L</a:t>
            </a:r>
          </a:p>
        </p:txBody>
      </p:sp>
      <p:sp>
        <p:nvSpPr>
          <p:cNvPr id="123" name="TextBox 122"/>
          <p:cNvSpPr txBox="1"/>
          <p:nvPr/>
        </p:nvSpPr>
        <p:spPr>
          <a:xfrm>
            <a:off x="13216128" y="34283720"/>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.47→</a:t>
            </a:r>
            <a:r>
              <a:rPr sz="2100" b="1" i="0">
                <a:solidFill>
                  <a:srgbClr val="0D4DA3"/>
                </a:solidFill>
                <a:latin typeface="Times New Roman"/>
              </a:rPr>
              <a:t>.50</a:t>
            </a:r>
            <a:r>
              <a:rPr sz="1800" b="1" i="0">
                <a:solidFill>
                  <a:srgbClr val="0D4DA3"/>
                </a:solidFill>
                <a:latin typeface="Times New Roman"/>
              </a:rPr>
              <a:t> +7%</a:t>
            </a:r>
          </a:p>
        </p:txBody>
      </p:sp>
      <p:sp>
        <p:nvSpPr>
          <p:cNvPr id="124" name="TextBox 123"/>
          <p:cNvSpPr txBox="1"/>
          <p:nvPr/>
        </p:nvSpPr>
        <p:spPr>
          <a:xfrm>
            <a:off x="16463772" y="34283720"/>
            <a:ext cx="3247644" cy="512064"/>
          </a:xfrm>
          <a:prstGeom prst="rect">
            <a:avLst/>
          </a:prstGeom>
          <a:noFill/>
        </p:spPr>
        <p:txBody>
          <a:bodyPr wrap="none" anchor="ctr" lIns="0" rIns="0" tIns="0" bIns="0">
            <a:spAutoFit/>
          </a:bodyPr>
          <a:lstStyle/>
          <a:p>
            <a:pPr algn="r"/>
            <a:r>
              <a:rPr sz="1800" b="0" i="0">
                <a:solidFill>
                  <a:srgbClr val="6F6F6F"/>
                </a:solidFill>
                <a:latin typeface="Times New Roman"/>
              </a:rPr>
              <a:t>.51→</a:t>
            </a:r>
            <a:r>
              <a:rPr sz="2100" b="1" i="0">
                <a:solidFill>
                  <a:srgbClr val="0D4DA3"/>
                </a:solidFill>
                <a:latin typeface="Times New Roman"/>
              </a:rPr>
              <a:t>.52</a:t>
            </a:r>
            <a:r>
              <a:rPr sz="1800" b="1" i="0">
                <a:solidFill>
                  <a:srgbClr val="0D4DA3"/>
                </a:solidFill>
                <a:latin typeface="Times New Roman"/>
              </a:rPr>
              <a:t> +1%</a:t>
            </a:r>
          </a:p>
        </p:txBody>
      </p:sp>
      <p:sp>
        <p:nvSpPr>
          <p:cNvPr id="125" name="Rectangle 124"/>
          <p:cNvSpPr/>
          <p:nvPr/>
        </p:nvSpPr>
        <p:spPr>
          <a:xfrm>
            <a:off x="10564368" y="34795784"/>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564368" y="34960376"/>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OPQ's learned rotation partly absorbs the shift, giving smaller but complementary gains; IVFPQ lacks this and benefits more. Audio is omitted here — its database is too small to train a codebook.</a:t>
            </a:r>
          </a:p>
        </p:txBody>
      </p:sp>
      <p:sp>
        <p:nvSpPr>
          <p:cNvPr id="127" name="TextBox 126"/>
          <p:cNvSpPr txBox="1"/>
          <p:nvPr/>
        </p:nvSpPr>
        <p:spPr>
          <a:xfrm>
            <a:off x="10564368" y="36249172"/>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9.  Experimental setup</a:t>
            </a:r>
          </a:p>
        </p:txBody>
      </p:sp>
      <p:sp>
        <p:nvSpPr>
          <p:cNvPr id="128" name="Rectangle 127"/>
          <p:cNvSpPr/>
          <p:nvPr/>
        </p:nvSpPr>
        <p:spPr>
          <a:xfrm>
            <a:off x="10564368" y="36800098"/>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0564368" y="36880362"/>
            <a:ext cx="9147048" cy="2294635"/>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Five benchmarks — MSCOCO 5K, Flickr30K (31K), Clotho v2 (5,926), AudioCaps (884 clips / 4,415 captions) and LAION-400M (407M vectors) — three frozen encoders (CLIP-B/32, CLIP-L/14, ImageBind) and four BQ index types (BinaryFlat, BinaryIVF, BBQ-style rotated, RaBitQ). FAISS IVFRaBitQFastScan at 72–136 B/vec; n_list = ⌈√n⌉ and n_probe ≈ n_list/4, matched across methods. R@100 against exact inner-product ground truth on the original embeddings; single-thread CPU.</a:t>
            </a:r>
          </a:p>
        </p:txBody>
      </p:sp>
      <p:sp>
        <p:nvSpPr>
          <p:cNvPr id="130" name="TextBox 129"/>
          <p:cNvSpPr txBox="1"/>
          <p:nvPr/>
        </p:nvSpPr>
        <p:spPr>
          <a:xfrm>
            <a:off x="20351496" y="889670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10.  Results</a:t>
            </a:r>
          </a:p>
        </p:txBody>
      </p:sp>
      <p:sp>
        <p:nvSpPr>
          <p:cNvPr id="131" name="Rectangle 130"/>
          <p:cNvSpPr/>
          <p:nvPr/>
        </p:nvSpPr>
        <p:spPr>
          <a:xfrm>
            <a:off x="20351496" y="944763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20351496" y="9546183"/>
            <a:ext cx="9147048" cy="839723"/>
          </a:xfrm>
          <a:prstGeom prst="rect">
            <a:avLst/>
          </a:prstGeom>
          <a:noFill/>
        </p:spPr>
        <p:txBody>
          <a:bodyPr wrap="square" lIns="0" rIns="0" tIns="0" bIns="0">
            <a:spAutoFit/>
          </a:bodyPr>
          <a:lstStyle/>
          <a:p>
            <a:pPr algn="l">
              <a:lnSpc>
                <a:spcPct val="95000"/>
              </a:lnSpc>
              <a:spcAft>
                <a:spcPts val="0"/>
              </a:spcAft>
            </a:pPr>
            <a:r>
              <a:rPr sz="5800" b="1" i="0">
                <a:solidFill>
                  <a:srgbClr val="8B0029"/>
                </a:solidFill>
                <a:latin typeface="Times New Roman"/>
              </a:rPr>
              <a:t>407 M</a:t>
            </a:r>
            <a:r>
              <a:rPr sz="2400" b="0" i="0">
                <a:solidFill>
                  <a:srgbClr val="6F6F6F"/>
                </a:solidFill>
                <a:latin typeface="Times New Roman"/>
              </a:rPr>
              <a:t>  vectors</a:t>
            </a:r>
          </a:p>
        </p:txBody>
      </p:sp>
      <p:sp>
        <p:nvSpPr>
          <p:cNvPr id="133" name="TextBox 132"/>
          <p:cNvSpPr txBox="1"/>
          <p:nvPr/>
        </p:nvSpPr>
        <p:spPr>
          <a:xfrm>
            <a:off x="20351496" y="10422482"/>
            <a:ext cx="9147048" cy="371855"/>
          </a:xfrm>
          <a:prstGeom prst="rect">
            <a:avLst/>
          </a:prstGeom>
          <a:noFill/>
        </p:spPr>
        <p:txBody>
          <a:bodyPr wrap="square" lIns="0" rIns="0" tIns="0" bIns="0">
            <a:spAutoFit/>
          </a:bodyPr>
          <a:lstStyle/>
          <a:p>
            <a:pPr algn="l">
              <a:lnSpc>
                <a:spcPct val="122000"/>
              </a:lnSpc>
              <a:spcAft>
                <a:spcPts val="0"/>
              </a:spcAft>
            </a:pPr>
            <a:r>
              <a:rPr sz="2000" b="1" i="0">
                <a:solidFill>
                  <a:srgbClr val="6F6F6F"/>
                </a:solidFill>
                <a:latin typeface="Times New Roman"/>
              </a:rPr>
              <a:t>LAION-400M  ·  29.3 GB of codes at 72 B/vec  ·  28× compressed</a:t>
            </a:r>
          </a:p>
        </p:txBody>
      </p:sp>
      <p:sp>
        <p:nvSpPr>
          <p:cNvPr id="134" name="TextBox 133"/>
          <p:cNvSpPr txBox="1"/>
          <p:nvPr/>
        </p:nvSpPr>
        <p:spPr>
          <a:xfrm>
            <a:off x="20351496" y="10977217"/>
            <a:ext cx="9147048" cy="371855"/>
          </a:xfrm>
          <a:prstGeom prst="rect">
            <a:avLst/>
          </a:prstGeom>
          <a:noFill/>
        </p:spPr>
        <p:txBody>
          <a:bodyPr wrap="square" lIns="0" rIns="0" tIns="0" bIns="0">
            <a:spAutoFit/>
          </a:bodyPr>
          <a:lstStyle/>
          <a:p>
            <a:pPr algn="l">
              <a:lnSpc>
                <a:spcPct val="122000"/>
              </a:lnSpc>
              <a:spcAft>
                <a:spcPts val="0"/>
              </a:spcAft>
            </a:pPr>
            <a:r>
              <a:rPr sz="2000" b="1" i="0">
                <a:solidFill>
                  <a:srgbClr val="1F1F1F"/>
                </a:solidFill>
                <a:latin typeface="Times New Roman"/>
              </a:rPr>
              <a:t>R@100, no reranking (n_list = 80K, n_probe = 256)</a:t>
            </a:r>
          </a:p>
        </p:txBody>
      </p:sp>
      <p:sp>
        <p:nvSpPr>
          <p:cNvPr id="135" name="Rectangle 134"/>
          <p:cNvSpPr/>
          <p:nvPr/>
        </p:nvSpPr>
        <p:spPr>
          <a:xfrm>
            <a:off x="20351496" y="11477088"/>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20351496" y="11477088"/>
            <a:ext cx="5906896"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20497800" y="11477088"/>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Vanilla</a:t>
            </a:r>
          </a:p>
        </p:txBody>
      </p:sp>
      <p:sp>
        <p:nvSpPr>
          <p:cNvPr id="138" name="TextBox 137"/>
          <p:cNvSpPr txBox="1"/>
          <p:nvPr/>
        </p:nvSpPr>
        <p:spPr>
          <a:xfrm>
            <a:off x="28282392" y="11477088"/>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.108</a:t>
            </a:r>
          </a:p>
        </p:txBody>
      </p:sp>
      <p:sp>
        <p:nvSpPr>
          <p:cNvPr id="139" name="Rectangle 138"/>
          <p:cNvSpPr/>
          <p:nvPr/>
        </p:nvSpPr>
        <p:spPr>
          <a:xfrm>
            <a:off x="20351496" y="12108024"/>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20351496" y="12108024"/>
            <a:ext cx="7821168" cy="54864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20497800" y="12108024"/>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PMC   (+32%)</a:t>
            </a:r>
          </a:p>
        </p:txBody>
      </p:sp>
      <p:sp>
        <p:nvSpPr>
          <p:cNvPr id="142" name="TextBox 141"/>
          <p:cNvSpPr txBox="1"/>
          <p:nvPr/>
        </p:nvSpPr>
        <p:spPr>
          <a:xfrm>
            <a:off x="28282392" y="12108024"/>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.143</a:t>
            </a:r>
          </a:p>
        </p:txBody>
      </p:sp>
      <p:sp>
        <p:nvSpPr>
          <p:cNvPr id="143" name="TextBox 142"/>
          <p:cNvSpPr txBox="1"/>
          <p:nvPr/>
        </p:nvSpPr>
        <p:spPr>
          <a:xfrm>
            <a:off x="20351496" y="12757248"/>
            <a:ext cx="9147048" cy="371855"/>
          </a:xfrm>
          <a:prstGeom prst="rect">
            <a:avLst/>
          </a:prstGeom>
          <a:noFill/>
        </p:spPr>
        <p:txBody>
          <a:bodyPr wrap="square" lIns="0" rIns="0" tIns="0" bIns="0">
            <a:spAutoFit/>
          </a:bodyPr>
          <a:lstStyle/>
          <a:p>
            <a:pPr algn="l">
              <a:lnSpc>
                <a:spcPct val="122000"/>
              </a:lnSpc>
              <a:spcAft>
                <a:spcPts val="0"/>
              </a:spcAft>
            </a:pPr>
            <a:r>
              <a:rPr sz="2000" b="0" i="0">
                <a:solidFill>
                  <a:srgbClr val="1F1F1F"/>
                </a:solidFill>
                <a:latin typeface="Times New Roman"/>
              </a:rPr>
              <a:t>With exact reranking at K′ = 400 the lead carries over: </a:t>
            </a:r>
            <a:r>
              <a:rPr sz="2000" b="1" i="0">
                <a:solidFill>
                  <a:srgbClr val="0D4DA3"/>
                </a:solidFill>
                <a:latin typeface="Times New Roman"/>
              </a:rPr>
              <a:t>.198 → .277  (+40%)</a:t>
            </a:r>
          </a:p>
        </p:txBody>
      </p:sp>
      <p:sp>
        <p:nvSpPr>
          <p:cNvPr id="144" name="TextBox 143"/>
          <p:cNvSpPr txBox="1"/>
          <p:nvPr/>
        </p:nvSpPr>
        <p:spPr>
          <a:xfrm>
            <a:off x="20351496" y="13330271"/>
            <a:ext cx="9147048"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configuration, ordered by modality gap</a:t>
            </a:r>
          </a:p>
        </p:txBody>
      </p:sp>
      <p:sp>
        <p:nvSpPr>
          <p:cNvPr id="145" name="TextBox 144"/>
          <p:cNvSpPr txBox="1"/>
          <p:nvPr/>
        </p:nvSpPr>
        <p:spPr>
          <a:xfrm>
            <a:off x="20351496" y="13904209"/>
            <a:ext cx="694944" cy="420624"/>
          </a:xfrm>
          <a:prstGeom prst="rect">
            <a:avLst/>
          </a:prstGeom>
          <a:noFill/>
        </p:spPr>
        <p:txBody>
          <a:bodyPr wrap="none" anchor="ctr" lIns="0" rIns="0" tIns="0" bIns="0">
            <a:spAutoFit/>
          </a:bodyPr>
          <a:lstStyle/>
          <a:p>
            <a:pPr algn="l"/>
            <a:r>
              <a:rPr sz="1900" b="1" i="0">
                <a:solidFill>
                  <a:srgbClr val="6F6F6F"/>
                </a:solidFill>
                <a:latin typeface="Times New Roman"/>
              </a:rPr>
              <a:t>‖g‖</a:t>
            </a:r>
          </a:p>
        </p:txBody>
      </p:sp>
      <p:sp>
        <p:nvSpPr>
          <p:cNvPr id="146" name="TextBox 145"/>
          <p:cNvSpPr txBox="1"/>
          <p:nvPr/>
        </p:nvSpPr>
        <p:spPr>
          <a:xfrm>
            <a:off x="21046440" y="13904209"/>
            <a:ext cx="2240280" cy="420624"/>
          </a:xfrm>
          <a:prstGeom prst="rect">
            <a:avLst/>
          </a:prstGeom>
          <a:noFill/>
        </p:spPr>
        <p:txBody>
          <a:bodyPr wrap="none" anchor="ctr" lIns="0" rIns="0" tIns="0" bIns="0">
            <a:spAutoFit/>
          </a:bodyPr>
          <a:lstStyle/>
          <a:p>
            <a:pPr algn="l"/>
            <a:r>
              <a:rPr sz="1900" b="1" i="0">
                <a:solidFill>
                  <a:srgbClr val="6F6F6F"/>
                </a:solidFill>
                <a:latin typeface="Times New Roman"/>
              </a:rPr>
              <a:t>Dataset · Enc.</a:t>
            </a:r>
          </a:p>
        </p:txBody>
      </p:sp>
      <p:sp>
        <p:nvSpPr>
          <p:cNvPr id="147" name="TextBox 146"/>
          <p:cNvSpPr txBox="1"/>
          <p:nvPr/>
        </p:nvSpPr>
        <p:spPr>
          <a:xfrm>
            <a:off x="23286720" y="13904209"/>
            <a:ext cx="3105912" cy="420624"/>
          </a:xfrm>
          <a:prstGeom prst="rect">
            <a:avLst/>
          </a:prstGeom>
          <a:noFill/>
        </p:spPr>
        <p:txBody>
          <a:bodyPr wrap="none" anchor="ctr" lIns="0" rIns="0" tIns="0" bIns="0">
            <a:spAutoFit/>
          </a:bodyPr>
          <a:lstStyle/>
          <a:p>
            <a:pPr algn="r"/>
            <a:r>
              <a:rPr sz="1900" b="1" i="0">
                <a:solidFill>
                  <a:srgbClr val="6F6F6F"/>
                </a:solidFill>
                <a:latin typeface="Times New Roman"/>
              </a:rPr>
              <a:t>q→db</a:t>
            </a:r>
          </a:p>
        </p:txBody>
      </p:sp>
      <p:sp>
        <p:nvSpPr>
          <p:cNvPr id="148" name="TextBox 147"/>
          <p:cNvSpPr txBox="1"/>
          <p:nvPr/>
        </p:nvSpPr>
        <p:spPr>
          <a:xfrm>
            <a:off x="26392632" y="13904209"/>
            <a:ext cx="3105912" cy="420624"/>
          </a:xfrm>
          <a:prstGeom prst="rect">
            <a:avLst/>
          </a:prstGeom>
          <a:noFill/>
        </p:spPr>
        <p:txBody>
          <a:bodyPr wrap="none" anchor="ctr" lIns="0" rIns="0" tIns="0" bIns="0">
            <a:spAutoFit/>
          </a:bodyPr>
          <a:lstStyle/>
          <a:p>
            <a:pPr algn="r"/>
            <a:r>
              <a:rPr sz="1900" b="1" i="0">
                <a:solidFill>
                  <a:srgbClr val="6F6F6F"/>
                </a:solidFill>
                <a:latin typeface="Times New Roman"/>
              </a:rPr>
              <a:t>db→q</a:t>
            </a:r>
          </a:p>
        </p:txBody>
      </p:sp>
      <p:sp>
        <p:nvSpPr>
          <p:cNvPr id="149" name="Rectangle 148"/>
          <p:cNvSpPr/>
          <p:nvPr/>
        </p:nvSpPr>
        <p:spPr>
          <a:xfrm>
            <a:off x="20351496" y="14361409"/>
            <a:ext cx="9147048"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20351496" y="14398747"/>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.82</a:t>
            </a:r>
          </a:p>
        </p:txBody>
      </p:sp>
      <p:sp>
        <p:nvSpPr>
          <p:cNvPr id="151" name="TextBox 150"/>
          <p:cNvSpPr txBox="1"/>
          <p:nvPr/>
        </p:nvSpPr>
        <p:spPr>
          <a:xfrm>
            <a:off x="21046440" y="14398747"/>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CL-L</a:t>
            </a:r>
          </a:p>
        </p:txBody>
      </p:sp>
      <p:sp>
        <p:nvSpPr>
          <p:cNvPr id="152" name="TextBox 151"/>
          <p:cNvSpPr txBox="1"/>
          <p:nvPr/>
        </p:nvSpPr>
        <p:spPr>
          <a:xfrm>
            <a:off x="23286720" y="1439874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.55→</a:t>
            </a:r>
            <a:r>
              <a:rPr sz="2100" b="1" i="0">
                <a:solidFill>
                  <a:srgbClr val="0D4DA3"/>
                </a:solidFill>
                <a:latin typeface="Times New Roman"/>
              </a:rPr>
              <a:t>.65</a:t>
            </a:r>
            <a:r>
              <a:rPr sz="1800" b="1" i="0">
                <a:solidFill>
                  <a:srgbClr val="0D4DA3"/>
                </a:solidFill>
                <a:latin typeface="Times New Roman"/>
              </a:rPr>
              <a:t> +18%</a:t>
            </a:r>
          </a:p>
        </p:txBody>
      </p:sp>
      <p:sp>
        <p:nvSpPr>
          <p:cNvPr id="153" name="TextBox 152"/>
          <p:cNvSpPr txBox="1"/>
          <p:nvPr/>
        </p:nvSpPr>
        <p:spPr>
          <a:xfrm>
            <a:off x="26392632" y="1439874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.47→</a:t>
            </a:r>
            <a:r>
              <a:rPr sz="2100" b="1" i="0">
                <a:solidFill>
                  <a:srgbClr val="0D4DA3"/>
                </a:solidFill>
                <a:latin typeface="Times New Roman"/>
              </a:rPr>
              <a:t>.63</a:t>
            </a:r>
            <a:r>
              <a:rPr sz="1800" b="1" i="0">
                <a:solidFill>
                  <a:srgbClr val="0D4DA3"/>
                </a:solidFill>
                <a:latin typeface="Times New Roman"/>
              </a:rPr>
              <a:t> +34%</a:t>
            </a:r>
          </a:p>
        </p:txBody>
      </p:sp>
      <p:sp>
        <p:nvSpPr>
          <p:cNvPr id="154" name="Rectangle 153"/>
          <p:cNvSpPr/>
          <p:nvPr/>
        </p:nvSpPr>
        <p:spPr>
          <a:xfrm>
            <a:off x="20351496" y="14929099"/>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20351496" y="14929099"/>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.82</a:t>
            </a:r>
          </a:p>
        </p:txBody>
      </p:sp>
      <p:sp>
        <p:nvSpPr>
          <p:cNvPr id="156" name="TextBox 155"/>
          <p:cNvSpPr txBox="1"/>
          <p:nvPr/>
        </p:nvSpPr>
        <p:spPr>
          <a:xfrm>
            <a:off x="21046440" y="14929099"/>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CLIP</a:t>
            </a:r>
          </a:p>
        </p:txBody>
      </p:sp>
      <p:sp>
        <p:nvSpPr>
          <p:cNvPr id="157" name="TextBox 156"/>
          <p:cNvSpPr txBox="1"/>
          <p:nvPr/>
        </p:nvSpPr>
        <p:spPr>
          <a:xfrm>
            <a:off x="23286720" y="1492909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.58→</a:t>
            </a:r>
            <a:r>
              <a:rPr sz="2100" b="1" i="0">
                <a:solidFill>
                  <a:srgbClr val="0D4DA3"/>
                </a:solidFill>
                <a:latin typeface="Times New Roman"/>
              </a:rPr>
              <a:t>.63</a:t>
            </a:r>
            <a:r>
              <a:rPr sz="1800" b="1" i="0">
                <a:solidFill>
                  <a:srgbClr val="0D4DA3"/>
                </a:solidFill>
                <a:latin typeface="Times New Roman"/>
              </a:rPr>
              <a:t> +9%</a:t>
            </a:r>
          </a:p>
        </p:txBody>
      </p:sp>
      <p:sp>
        <p:nvSpPr>
          <p:cNvPr id="158" name="TextBox 157"/>
          <p:cNvSpPr txBox="1"/>
          <p:nvPr/>
        </p:nvSpPr>
        <p:spPr>
          <a:xfrm>
            <a:off x="26392632" y="1492909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.50→</a:t>
            </a:r>
            <a:r>
              <a:rPr sz="2100" b="1" i="0">
                <a:solidFill>
                  <a:srgbClr val="0D4DA3"/>
                </a:solidFill>
                <a:latin typeface="Times New Roman"/>
              </a:rPr>
              <a:t>.60</a:t>
            </a:r>
            <a:r>
              <a:rPr sz="1800" b="1" i="0">
                <a:solidFill>
                  <a:srgbClr val="0D4DA3"/>
                </a:solidFill>
                <a:latin typeface="Times New Roman"/>
              </a:rPr>
              <a:t> +20%</a:t>
            </a:r>
          </a:p>
        </p:txBody>
      </p:sp>
      <p:sp>
        <p:nvSpPr>
          <p:cNvPr id="159" name="Rectangle 158"/>
          <p:cNvSpPr/>
          <p:nvPr/>
        </p:nvSpPr>
        <p:spPr>
          <a:xfrm>
            <a:off x="20351496" y="15459451"/>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20351496" y="15459451"/>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.77</a:t>
            </a:r>
          </a:p>
        </p:txBody>
      </p:sp>
      <p:sp>
        <p:nvSpPr>
          <p:cNvPr id="161" name="TextBox 160"/>
          <p:cNvSpPr txBox="1"/>
          <p:nvPr/>
        </p:nvSpPr>
        <p:spPr>
          <a:xfrm>
            <a:off x="21046440" y="15459451"/>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Flickr30K CL-L</a:t>
            </a:r>
          </a:p>
        </p:txBody>
      </p:sp>
      <p:sp>
        <p:nvSpPr>
          <p:cNvPr id="162" name="TextBox 161"/>
          <p:cNvSpPr txBox="1"/>
          <p:nvPr/>
        </p:nvSpPr>
        <p:spPr>
          <a:xfrm>
            <a:off x="23286720" y="15459451"/>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.41→</a:t>
            </a:r>
            <a:r>
              <a:rPr sz="2100" b="1" i="0">
                <a:solidFill>
                  <a:srgbClr val="0D4DA3"/>
                </a:solidFill>
                <a:latin typeface="Times New Roman"/>
              </a:rPr>
              <a:t>.48</a:t>
            </a:r>
            <a:r>
              <a:rPr sz="1800" b="1" i="0">
                <a:solidFill>
                  <a:srgbClr val="0D4DA3"/>
                </a:solidFill>
                <a:latin typeface="Times New Roman"/>
              </a:rPr>
              <a:t> +17%</a:t>
            </a:r>
          </a:p>
        </p:txBody>
      </p:sp>
      <p:sp>
        <p:nvSpPr>
          <p:cNvPr id="163" name="TextBox 162"/>
          <p:cNvSpPr txBox="1"/>
          <p:nvPr/>
        </p:nvSpPr>
        <p:spPr>
          <a:xfrm>
            <a:off x="26392632" y="15459451"/>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.33→</a:t>
            </a:r>
            <a:r>
              <a:rPr sz="2100" b="1" i="0">
                <a:solidFill>
                  <a:srgbClr val="0D4DA3"/>
                </a:solidFill>
                <a:latin typeface="Times New Roman"/>
              </a:rPr>
              <a:t>.48</a:t>
            </a:r>
            <a:r>
              <a:rPr sz="1800" b="1" i="0">
                <a:solidFill>
                  <a:srgbClr val="0D4DA3"/>
                </a:solidFill>
                <a:latin typeface="Times New Roman"/>
              </a:rPr>
              <a:t> +45%</a:t>
            </a:r>
          </a:p>
        </p:txBody>
      </p:sp>
      <p:sp>
        <p:nvSpPr>
          <p:cNvPr id="164" name="Rectangle 163"/>
          <p:cNvSpPr/>
          <p:nvPr/>
        </p:nvSpPr>
        <p:spPr>
          <a:xfrm>
            <a:off x="20351496" y="15989803"/>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20351496" y="15989803"/>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.72</a:t>
            </a:r>
          </a:p>
        </p:txBody>
      </p:sp>
      <p:sp>
        <p:nvSpPr>
          <p:cNvPr id="166" name="TextBox 165"/>
          <p:cNvSpPr txBox="1"/>
          <p:nvPr/>
        </p:nvSpPr>
        <p:spPr>
          <a:xfrm>
            <a:off x="21046440" y="15989803"/>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LAION-400M CLIP</a:t>
            </a:r>
          </a:p>
        </p:txBody>
      </p:sp>
      <p:sp>
        <p:nvSpPr>
          <p:cNvPr id="167" name="TextBox 166"/>
          <p:cNvSpPr txBox="1"/>
          <p:nvPr/>
        </p:nvSpPr>
        <p:spPr>
          <a:xfrm>
            <a:off x="23286720" y="15989803"/>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.108→</a:t>
            </a:r>
            <a:r>
              <a:rPr sz="2100" b="1" i="0">
                <a:solidFill>
                  <a:srgbClr val="0D4DA3"/>
                </a:solidFill>
                <a:latin typeface="Times New Roman"/>
              </a:rPr>
              <a:t>.143</a:t>
            </a:r>
            <a:r>
              <a:rPr sz="1800" b="1" i="0">
                <a:solidFill>
                  <a:srgbClr val="0D4DA3"/>
                </a:solidFill>
                <a:latin typeface="Times New Roman"/>
              </a:rPr>
              <a:t> +32%</a:t>
            </a:r>
          </a:p>
        </p:txBody>
      </p:sp>
      <p:sp>
        <p:nvSpPr>
          <p:cNvPr id="168" name="TextBox 167"/>
          <p:cNvSpPr txBox="1"/>
          <p:nvPr/>
        </p:nvSpPr>
        <p:spPr>
          <a:xfrm>
            <a:off x="26392632" y="15989803"/>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.069→</a:t>
            </a:r>
            <a:r>
              <a:rPr sz="2100" b="1" i="0">
                <a:solidFill>
                  <a:srgbClr val="0D4DA3"/>
                </a:solidFill>
                <a:latin typeface="Times New Roman"/>
              </a:rPr>
              <a:t>.073</a:t>
            </a:r>
            <a:r>
              <a:rPr sz="1800" b="1" i="0">
                <a:solidFill>
                  <a:srgbClr val="0D4DA3"/>
                </a:solidFill>
                <a:latin typeface="Times New Roman"/>
              </a:rPr>
              <a:t> +6%</a:t>
            </a:r>
          </a:p>
        </p:txBody>
      </p:sp>
      <p:sp>
        <p:nvSpPr>
          <p:cNvPr id="169" name="Rectangle 168"/>
          <p:cNvSpPr/>
          <p:nvPr/>
        </p:nvSpPr>
        <p:spPr>
          <a:xfrm>
            <a:off x="20351496" y="16520155"/>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20351496" y="16520155"/>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.70</a:t>
            </a:r>
          </a:p>
        </p:txBody>
      </p:sp>
      <p:sp>
        <p:nvSpPr>
          <p:cNvPr id="171" name="TextBox 170"/>
          <p:cNvSpPr txBox="1"/>
          <p:nvPr/>
        </p:nvSpPr>
        <p:spPr>
          <a:xfrm>
            <a:off x="21046440" y="16520155"/>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MSCOCO IB</a:t>
            </a:r>
          </a:p>
        </p:txBody>
      </p:sp>
      <p:sp>
        <p:nvSpPr>
          <p:cNvPr id="172" name="TextBox 171"/>
          <p:cNvSpPr txBox="1"/>
          <p:nvPr/>
        </p:nvSpPr>
        <p:spPr>
          <a:xfrm>
            <a:off x="23286720" y="16520155"/>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.67→</a:t>
            </a:r>
            <a:r>
              <a:rPr sz="2100" b="1" i="0">
                <a:solidFill>
                  <a:srgbClr val="0D4DA3"/>
                </a:solidFill>
                <a:latin typeface="Times New Roman"/>
              </a:rPr>
              <a:t>.75</a:t>
            </a:r>
            <a:r>
              <a:rPr sz="1800" b="1" i="0">
                <a:solidFill>
                  <a:srgbClr val="0D4DA3"/>
                </a:solidFill>
                <a:latin typeface="Times New Roman"/>
              </a:rPr>
              <a:t> +12%</a:t>
            </a:r>
          </a:p>
        </p:txBody>
      </p:sp>
      <p:sp>
        <p:nvSpPr>
          <p:cNvPr id="173" name="TextBox 172"/>
          <p:cNvSpPr txBox="1"/>
          <p:nvPr/>
        </p:nvSpPr>
        <p:spPr>
          <a:xfrm>
            <a:off x="26392632" y="16520155"/>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.71→</a:t>
            </a:r>
            <a:r>
              <a:rPr sz="2100" b="1" i="0">
                <a:solidFill>
                  <a:srgbClr val="0D4DA3"/>
                </a:solidFill>
                <a:latin typeface="Times New Roman"/>
              </a:rPr>
              <a:t>.75</a:t>
            </a:r>
            <a:r>
              <a:rPr sz="1800" b="1" i="0">
                <a:solidFill>
                  <a:srgbClr val="0D4DA3"/>
                </a:solidFill>
                <a:latin typeface="Times New Roman"/>
              </a:rPr>
              <a:t> +6%</a:t>
            </a:r>
          </a:p>
        </p:txBody>
      </p:sp>
      <p:sp>
        <p:nvSpPr>
          <p:cNvPr id="174" name="Rectangle 173"/>
          <p:cNvSpPr/>
          <p:nvPr/>
        </p:nvSpPr>
        <p:spPr>
          <a:xfrm>
            <a:off x="20351496" y="17050507"/>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20351496" y="17050507"/>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.61</a:t>
            </a:r>
          </a:p>
        </p:txBody>
      </p:sp>
      <p:sp>
        <p:nvSpPr>
          <p:cNvPr id="176" name="TextBox 175"/>
          <p:cNvSpPr txBox="1"/>
          <p:nvPr/>
        </p:nvSpPr>
        <p:spPr>
          <a:xfrm>
            <a:off x="21046440" y="17050507"/>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Clotho IB</a:t>
            </a:r>
          </a:p>
        </p:txBody>
      </p:sp>
      <p:sp>
        <p:nvSpPr>
          <p:cNvPr id="177" name="TextBox 176"/>
          <p:cNvSpPr txBox="1"/>
          <p:nvPr/>
        </p:nvSpPr>
        <p:spPr>
          <a:xfrm>
            <a:off x="23286720" y="1705050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.72→</a:t>
            </a:r>
            <a:r>
              <a:rPr sz="2100" b="1" i="0">
                <a:solidFill>
                  <a:srgbClr val="0D4DA3"/>
                </a:solidFill>
                <a:latin typeface="Times New Roman"/>
              </a:rPr>
              <a:t>.73</a:t>
            </a:r>
            <a:r>
              <a:rPr sz="1800" b="1" i="0">
                <a:solidFill>
                  <a:srgbClr val="0D4DA3"/>
                </a:solidFill>
                <a:latin typeface="Times New Roman"/>
              </a:rPr>
              <a:t> +1%</a:t>
            </a:r>
          </a:p>
        </p:txBody>
      </p:sp>
      <p:sp>
        <p:nvSpPr>
          <p:cNvPr id="178" name="TextBox 177"/>
          <p:cNvSpPr txBox="1"/>
          <p:nvPr/>
        </p:nvSpPr>
        <p:spPr>
          <a:xfrm>
            <a:off x="26392632" y="17050507"/>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.62→</a:t>
            </a:r>
            <a:r>
              <a:rPr sz="2100" b="1" i="0">
                <a:solidFill>
                  <a:srgbClr val="0D4DA3"/>
                </a:solidFill>
                <a:latin typeface="Times New Roman"/>
              </a:rPr>
              <a:t>.69</a:t>
            </a:r>
            <a:r>
              <a:rPr sz="1800" b="1" i="0">
                <a:solidFill>
                  <a:srgbClr val="0D4DA3"/>
                </a:solidFill>
                <a:latin typeface="Times New Roman"/>
              </a:rPr>
              <a:t> +11%</a:t>
            </a:r>
          </a:p>
        </p:txBody>
      </p:sp>
      <p:sp>
        <p:nvSpPr>
          <p:cNvPr id="179" name="Rectangle 178"/>
          <p:cNvSpPr/>
          <p:nvPr/>
        </p:nvSpPr>
        <p:spPr>
          <a:xfrm>
            <a:off x="20351496" y="17580859"/>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0351496" y="17580859"/>
            <a:ext cx="694944" cy="530352"/>
          </a:xfrm>
          <a:prstGeom prst="rect">
            <a:avLst/>
          </a:prstGeom>
          <a:noFill/>
        </p:spPr>
        <p:txBody>
          <a:bodyPr wrap="none" anchor="ctr" lIns="0" rIns="0" tIns="0" bIns="0">
            <a:spAutoFit/>
          </a:bodyPr>
          <a:lstStyle/>
          <a:p>
            <a:pPr algn="l"/>
            <a:r>
              <a:rPr sz="2100" b="1" i="0">
                <a:solidFill>
                  <a:srgbClr val="8B0029"/>
                </a:solidFill>
                <a:latin typeface="Times New Roman"/>
              </a:rPr>
              <a:t>.61</a:t>
            </a:r>
          </a:p>
        </p:txBody>
      </p:sp>
      <p:sp>
        <p:nvSpPr>
          <p:cNvPr id="181" name="TextBox 180"/>
          <p:cNvSpPr txBox="1"/>
          <p:nvPr/>
        </p:nvSpPr>
        <p:spPr>
          <a:xfrm>
            <a:off x="21046440" y="17580859"/>
            <a:ext cx="2240280" cy="530352"/>
          </a:xfrm>
          <a:prstGeom prst="rect">
            <a:avLst/>
          </a:prstGeom>
          <a:noFill/>
        </p:spPr>
        <p:txBody>
          <a:bodyPr wrap="none" anchor="ctr" lIns="0" rIns="0" tIns="0" bIns="0">
            <a:spAutoFit/>
          </a:bodyPr>
          <a:lstStyle/>
          <a:p>
            <a:pPr algn="l"/>
            <a:r>
              <a:rPr sz="2000" b="0" i="0">
                <a:solidFill>
                  <a:srgbClr val="1F1F1F"/>
                </a:solidFill>
                <a:latin typeface="Times New Roman"/>
              </a:rPr>
              <a:t>AudioCaps IB</a:t>
            </a:r>
          </a:p>
        </p:txBody>
      </p:sp>
      <p:sp>
        <p:nvSpPr>
          <p:cNvPr id="182" name="TextBox 181"/>
          <p:cNvSpPr txBox="1"/>
          <p:nvPr/>
        </p:nvSpPr>
        <p:spPr>
          <a:xfrm>
            <a:off x="23286720" y="1758085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.75→</a:t>
            </a:r>
            <a:r>
              <a:rPr sz="2100" b="1" i="0">
                <a:solidFill>
                  <a:srgbClr val="0D4DA3"/>
                </a:solidFill>
                <a:latin typeface="Times New Roman"/>
              </a:rPr>
              <a:t>.78</a:t>
            </a:r>
            <a:r>
              <a:rPr sz="1800" b="1" i="0">
                <a:solidFill>
                  <a:srgbClr val="0D4DA3"/>
                </a:solidFill>
                <a:latin typeface="Times New Roman"/>
              </a:rPr>
              <a:t> +4%</a:t>
            </a:r>
          </a:p>
        </p:txBody>
      </p:sp>
      <p:sp>
        <p:nvSpPr>
          <p:cNvPr id="183" name="TextBox 182"/>
          <p:cNvSpPr txBox="1"/>
          <p:nvPr/>
        </p:nvSpPr>
        <p:spPr>
          <a:xfrm>
            <a:off x="26392632" y="17580859"/>
            <a:ext cx="3105912" cy="530352"/>
          </a:xfrm>
          <a:prstGeom prst="rect">
            <a:avLst/>
          </a:prstGeom>
          <a:noFill/>
        </p:spPr>
        <p:txBody>
          <a:bodyPr wrap="none" anchor="ctr" lIns="0" rIns="0" tIns="0" bIns="0">
            <a:spAutoFit/>
          </a:bodyPr>
          <a:lstStyle/>
          <a:p>
            <a:pPr algn="r"/>
            <a:r>
              <a:rPr sz="1800" b="0" i="0">
                <a:solidFill>
                  <a:srgbClr val="6F6F6F"/>
                </a:solidFill>
                <a:latin typeface="Times New Roman"/>
              </a:rPr>
              <a:t>.83→</a:t>
            </a:r>
            <a:r>
              <a:rPr sz="2100" b="1" i="0">
                <a:solidFill>
                  <a:srgbClr val="0D4DA3"/>
                </a:solidFill>
                <a:latin typeface="Times New Roman"/>
              </a:rPr>
              <a:t>.83</a:t>
            </a:r>
            <a:r>
              <a:rPr sz="1800" b="1" i="0">
                <a:solidFill>
                  <a:srgbClr val="0D4DA3"/>
                </a:solidFill>
                <a:latin typeface="Times New Roman"/>
              </a:rPr>
              <a:t> +0%</a:t>
            </a:r>
          </a:p>
        </p:txBody>
      </p:sp>
      <p:sp>
        <p:nvSpPr>
          <p:cNvPr id="184" name="Rectangle 183"/>
          <p:cNvSpPr/>
          <p:nvPr/>
        </p:nvSpPr>
        <p:spPr>
          <a:xfrm>
            <a:off x="20351496" y="18111211"/>
            <a:ext cx="9147048"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20351496" y="18294091"/>
            <a:ext cx="9147048" cy="1234846"/>
          </a:xfrm>
          <a:prstGeom prst="rect">
            <a:avLst/>
          </a:prstGeom>
          <a:noFill/>
        </p:spPr>
        <p:txBody>
          <a:bodyPr wrap="square" lIns="0" rIns="0" tIns="0" bIns="0">
            <a:spAutoFit/>
          </a:bodyPr>
          <a:lstStyle/>
          <a:p>
            <a:pPr algn="l">
              <a:lnSpc>
                <a:spcPct val="122000"/>
              </a:lnSpc>
              <a:spcAft>
                <a:spcPts val="500"/>
              </a:spcAft>
            </a:pPr>
            <a:r>
              <a:rPr sz="2100" b="1" i="0">
                <a:solidFill>
                  <a:srgbClr val="8B0029"/>
                </a:solidFill>
                <a:latin typeface="Times New Roman"/>
              </a:rPr>
              <a:t>The gain tracks the gap. </a:t>
            </a:r>
            <a:r>
              <a:rPr sz="2100" b="0" i="0">
                <a:solidFill>
                  <a:srgbClr val="1F1F1F"/>
                </a:solidFill>
                <a:latin typeface="Times New Roman"/>
              </a:rPr>
              <a:t>R@100 improves or matches in all 16 BQ configurations and PMC is best in all 14 at R@10, so the benefit is not confined to deep result lists. The rows with the smallest gap gain least, exactly as the flip-risk analysis predicts.</a:t>
            </a:r>
          </a:p>
        </p:txBody>
      </p:sp>
      <p:sp>
        <p:nvSpPr>
          <p:cNvPr id="186" name="TextBox 185"/>
          <p:cNvSpPr txBox="1"/>
          <p:nvPr/>
        </p:nvSpPr>
        <p:spPr>
          <a:xfrm>
            <a:off x="20351496" y="19638665"/>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11.  Robustness under exact reranking</a:t>
            </a:r>
          </a:p>
        </p:txBody>
      </p:sp>
      <p:sp>
        <p:nvSpPr>
          <p:cNvPr id="187" name="Rectangle 186"/>
          <p:cNvSpPr/>
          <p:nvPr/>
        </p:nvSpPr>
        <p:spPr>
          <a:xfrm>
            <a:off x="20351496" y="20189591"/>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20351496" y="20269855"/>
            <a:ext cx="9147048" cy="1179068"/>
          </a:xfrm>
          <a:prstGeom prst="rect">
            <a:avLst/>
          </a:prstGeom>
          <a:noFill/>
        </p:spPr>
        <p:txBody>
          <a:bodyPr wrap="square" lIns="0" rIns="0" tIns="0" bIns="0">
            <a:spAutoFit/>
          </a:bodyPr>
          <a:lstStyle/>
          <a:p>
            <a:pPr algn="l">
              <a:lnSpc>
                <a:spcPct val="122000"/>
              </a:lnSpc>
              <a:spcAft>
                <a:spcPts val="500"/>
              </a:spcAft>
            </a:pPr>
            <a:r>
              <a:rPr sz="2000" b="0" i="0">
                <a:solidFill>
                  <a:srgbClr val="1F1F1F"/>
                </a:solidFill>
                <a:latin typeface="Times New Roman"/>
              </a:rPr>
              <a:t>Exact rescoring can only recover what the first stage retrieved, so Vanilla stays capped by what its corrupted codes admit. On MSCOCO t→i, PMC reaches .62/.80/.90/.93 at K′ = 100/200/400/500 against Vanilla's .53/.69/.81/.85 — R@100 ≥ 0.90 at a smaller budget.</a:t>
            </a:r>
          </a:p>
        </p:txBody>
      </p:sp>
      <p:sp>
        <p:nvSpPr>
          <p:cNvPr id="189" name="Rectangle 188"/>
          <p:cNvSpPr/>
          <p:nvPr/>
        </p:nvSpPr>
        <p:spPr>
          <a:xfrm>
            <a:off x="20351496" y="21503787"/>
            <a:ext cx="9147048" cy="2042566"/>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20570952" y="21723243"/>
            <a:ext cx="8708136" cy="1603654"/>
          </a:xfrm>
          <a:prstGeom prst="rect">
            <a:avLst/>
          </a:prstGeom>
          <a:noFill/>
        </p:spPr>
        <p:txBody>
          <a:bodyPr wrap="square" lIns="0" rIns="0" tIns="0" bIns="0">
            <a:spAutoFit/>
          </a:bodyPr>
          <a:lstStyle/>
          <a:p>
            <a:pPr algn="l">
              <a:lnSpc>
                <a:spcPct val="128000"/>
              </a:lnSpc>
              <a:spcAft>
                <a:spcPts val="400"/>
              </a:spcAft>
            </a:pPr>
            <a:r>
              <a:rPr sz="2000" b="1" i="0">
                <a:solidFill>
                  <a:srgbClr val="8B0029"/>
                </a:solidFill>
                <a:latin typeface="Times New Roman"/>
              </a:rPr>
              <a:t>One regime favours uncorrected codes.</a:t>
            </a:r>
          </a:p>
          <a:p>
            <a:pPr algn="l">
              <a:lnSpc>
                <a:spcPct val="128000"/>
              </a:lnSpc>
              <a:spcAft>
                <a:spcPts val="400"/>
              </a:spcAft>
            </a:pPr>
            <a:r>
              <a:rPr sz="1900" b="0" i="0">
                <a:solidFill>
                  <a:srgbClr val="1F1F1F"/>
                </a:solidFill>
                <a:latin typeface="Times New Roman"/>
              </a:rPr>
              <a:t>At 400M scale in the reverse direction, rescoring lets Vanilla overtake PMC for K′ ≥ 200: LAION probes only 0.32% of its lists, so PMC's flatter candidate pool covers fewer true positives — a scan-depth effect, not a limit of the correction.</a:t>
            </a:r>
          </a:p>
        </p:txBody>
      </p:sp>
      <p:sp>
        <p:nvSpPr>
          <p:cNvPr id="191" name="TextBox 190"/>
          <p:cNvSpPr txBox="1"/>
          <p:nvPr/>
        </p:nvSpPr>
        <p:spPr>
          <a:xfrm>
            <a:off x="20351496" y="23656081"/>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12.  Where to correct</a:t>
            </a:r>
          </a:p>
        </p:txBody>
      </p:sp>
      <p:sp>
        <p:nvSpPr>
          <p:cNvPr id="192" name="Rectangle 191"/>
          <p:cNvSpPr/>
          <p:nvPr/>
        </p:nvSpPr>
        <p:spPr>
          <a:xfrm>
            <a:off x="20351496" y="24207007"/>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20351496" y="24287271"/>
            <a:ext cx="9147048" cy="353263"/>
          </a:xfrm>
          <a:prstGeom prst="rect">
            <a:avLst/>
          </a:prstGeom>
          <a:noFill/>
        </p:spPr>
        <p:txBody>
          <a:bodyPr wrap="square" lIns="0" rIns="0" tIns="0" bIns="0">
            <a:spAutoFit/>
          </a:bodyPr>
          <a:lstStyle/>
          <a:p>
            <a:pPr algn="l">
              <a:lnSpc>
                <a:spcPct val="122000"/>
              </a:lnSpc>
              <a:spcAft>
                <a:spcPts val="0"/>
              </a:spcAft>
            </a:pPr>
            <a:r>
              <a:rPr sz="1900" b="0" i="0">
                <a:solidFill>
                  <a:srgbClr val="6F6F6F"/>
                </a:solidFill>
                <a:latin typeface="Times New Roman"/>
              </a:rPr>
              <a:t>MSCOCO · CLIP-B/32 · IVF-RaBitQ · R@100 (t→i)</a:t>
            </a:r>
          </a:p>
        </p:txBody>
      </p:sp>
      <p:sp>
        <p:nvSpPr>
          <p:cNvPr id="194" name="Rectangle 193"/>
          <p:cNvSpPr/>
          <p:nvPr/>
        </p:nvSpPr>
        <p:spPr>
          <a:xfrm>
            <a:off x="20351496" y="24768550"/>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20351496" y="24768550"/>
            <a:ext cx="5353526"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20497800" y="24768550"/>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Vanilla</a:t>
            </a:r>
          </a:p>
        </p:txBody>
      </p:sp>
      <p:sp>
        <p:nvSpPr>
          <p:cNvPr id="197" name="TextBox 196"/>
          <p:cNvSpPr txBox="1"/>
          <p:nvPr/>
        </p:nvSpPr>
        <p:spPr>
          <a:xfrm>
            <a:off x="28282392" y="24768550"/>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.578</a:t>
            </a:r>
          </a:p>
        </p:txBody>
      </p:sp>
      <p:sp>
        <p:nvSpPr>
          <p:cNvPr id="198" name="Rectangle 197"/>
          <p:cNvSpPr/>
          <p:nvPr/>
        </p:nvSpPr>
        <p:spPr>
          <a:xfrm>
            <a:off x="20351496" y="25399486"/>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20351496" y="25399486"/>
            <a:ext cx="3806022"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20497800" y="25399486"/>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Query-only</a:t>
            </a:r>
          </a:p>
        </p:txBody>
      </p:sp>
      <p:sp>
        <p:nvSpPr>
          <p:cNvPr id="201" name="TextBox 200"/>
          <p:cNvSpPr txBox="1"/>
          <p:nvPr/>
        </p:nvSpPr>
        <p:spPr>
          <a:xfrm>
            <a:off x="28282392" y="25399486"/>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.541</a:t>
            </a:r>
          </a:p>
        </p:txBody>
      </p:sp>
      <p:sp>
        <p:nvSpPr>
          <p:cNvPr id="202" name="Rectangle 201"/>
          <p:cNvSpPr/>
          <p:nvPr/>
        </p:nvSpPr>
        <p:spPr>
          <a:xfrm>
            <a:off x="20351496" y="26030422"/>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20351496" y="26030422"/>
            <a:ext cx="6231839" cy="5486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203"/>
          <p:cNvSpPr txBox="1"/>
          <p:nvPr/>
        </p:nvSpPr>
        <p:spPr>
          <a:xfrm>
            <a:off x="20497800" y="26030422"/>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Both sides</a:t>
            </a:r>
          </a:p>
        </p:txBody>
      </p:sp>
      <p:sp>
        <p:nvSpPr>
          <p:cNvPr id="205" name="TextBox 204"/>
          <p:cNvSpPr txBox="1"/>
          <p:nvPr/>
        </p:nvSpPr>
        <p:spPr>
          <a:xfrm>
            <a:off x="28282392" y="26030422"/>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.599</a:t>
            </a:r>
          </a:p>
        </p:txBody>
      </p:sp>
      <p:sp>
        <p:nvSpPr>
          <p:cNvPr id="206" name="Rectangle 205"/>
          <p:cNvSpPr/>
          <p:nvPr/>
        </p:nvSpPr>
        <p:spPr>
          <a:xfrm>
            <a:off x="20351496" y="26661358"/>
            <a:ext cx="7821168" cy="54864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20351496" y="26661358"/>
            <a:ext cx="7821168" cy="54864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extBox 207"/>
          <p:cNvSpPr txBox="1"/>
          <p:nvPr/>
        </p:nvSpPr>
        <p:spPr>
          <a:xfrm>
            <a:off x="20497800" y="26661358"/>
            <a:ext cx="7546848" cy="548640"/>
          </a:xfrm>
          <a:prstGeom prst="rect">
            <a:avLst/>
          </a:prstGeom>
          <a:noFill/>
        </p:spPr>
        <p:txBody>
          <a:bodyPr wrap="none" anchor="ctr" lIns="0" rIns="0" tIns="0" bIns="0">
            <a:spAutoFit/>
          </a:bodyPr>
          <a:lstStyle/>
          <a:p>
            <a:pPr algn="l"/>
            <a:r>
              <a:rPr sz="2100" b="0" i="0">
                <a:solidFill>
                  <a:srgbClr val="FFFFFF"/>
                </a:solidFill>
                <a:latin typeface="Times New Roman"/>
              </a:rPr>
              <a:t>DB-only  (PMC)</a:t>
            </a:r>
          </a:p>
        </p:txBody>
      </p:sp>
      <p:sp>
        <p:nvSpPr>
          <p:cNvPr id="209" name="TextBox 208"/>
          <p:cNvSpPr txBox="1"/>
          <p:nvPr/>
        </p:nvSpPr>
        <p:spPr>
          <a:xfrm>
            <a:off x="28282392" y="26661358"/>
            <a:ext cx="1216152" cy="548640"/>
          </a:xfrm>
          <a:prstGeom prst="rect">
            <a:avLst/>
          </a:prstGeom>
          <a:noFill/>
        </p:spPr>
        <p:txBody>
          <a:bodyPr wrap="none" anchor="ctr" lIns="0" rIns="0" tIns="0" bIns="0">
            <a:spAutoFit/>
          </a:bodyPr>
          <a:lstStyle/>
          <a:p>
            <a:pPr algn="l"/>
            <a:r>
              <a:rPr sz="2100" b="1" i="0">
                <a:solidFill>
                  <a:srgbClr val="1F1F1F"/>
                </a:solidFill>
                <a:latin typeface="Times New Roman"/>
              </a:rPr>
              <a:t>.637</a:t>
            </a:r>
          </a:p>
        </p:txBody>
      </p:sp>
      <p:sp>
        <p:nvSpPr>
          <p:cNvPr id="210" name="TextBox 209"/>
          <p:cNvSpPr txBox="1"/>
          <p:nvPr/>
        </p:nvSpPr>
        <p:spPr>
          <a:xfrm>
            <a:off x="20351496" y="27328870"/>
            <a:ext cx="9147048" cy="844397"/>
          </a:xfrm>
          <a:prstGeom prst="rect">
            <a:avLst/>
          </a:prstGeom>
          <a:noFill/>
        </p:spPr>
        <p:txBody>
          <a:bodyPr wrap="square" lIns="0" rIns="0" tIns="0" bIns="0">
            <a:spAutoFit/>
          </a:bodyPr>
          <a:lstStyle/>
          <a:p>
            <a:pPr algn="l">
              <a:lnSpc>
                <a:spcPct val="122000"/>
              </a:lnSpc>
              <a:spcAft>
                <a:spcPts val="500"/>
              </a:spcAft>
            </a:pPr>
            <a:r>
              <a:rPr sz="2100" b="0" i="0">
                <a:solidFill>
                  <a:srgbClr val="1F1F1F"/>
                </a:solidFill>
                <a:latin typeface="Times New Roman"/>
              </a:rPr>
              <a:t>Shifting both sides re-displaces the routing pivot. </a:t>
            </a:r>
            <a:r>
              <a:rPr sz="2100" b="1" i="0">
                <a:solidFill>
                  <a:srgbClr val="8B0029"/>
                </a:solidFill>
                <a:latin typeface="Times New Roman"/>
              </a:rPr>
              <a:t>Correct the centroid where it controls both routing and code formation.</a:t>
            </a:r>
          </a:p>
        </p:txBody>
      </p:sp>
      <p:sp>
        <p:nvSpPr>
          <p:cNvPr id="211" name="TextBox 210"/>
          <p:cNvSpPr txBox="1"/>
          <p:nvPr/>
        </p:nvSpPr>
        <p:spPr>
          <a:xfrm>
            <a:off x="20351496" y="28191555"/>
            <a:ext cx="9147048" cy="1105916"/>
          </a:xfrm>
          <a:prstGeom prst="rect">
            <a:avLst/>
          </a:prstGeom>
          <a:noFill/>
        </p:spPr>
        <p:txBody>
          <a:bodyPr wrap="square" lIns="0" rIns="0" tIns="0" bIns="0">
            <a:spAutoFit/>
          </a:bodyPr>
          <a:lstStyle/>
          <a:p>
            <a:pPr algn="l">
              <a:lnSpc>
                <a:spcPct val="120000"/>
              </a:lnSpc>
              <a:spcAft>
                <a:spcPts val="500"/>
              </a:spcAft>
            </a:pPr>
            <a:r>
              <a:rPr sz="1900" b="0" i="0">
                <a:solidFill>
                  <a:srgbClr val="6F6F6F"/>
                </a:solidFill>
                <a:latin typeface="Times New Roman"/>
              </a:rPr>
              <a:t>Direction controls (t→i): a random direction of the same norm gives .562, a shuffled gap .552, a sign-flipped gap .514, an un-normalized shift .555 — all below Vanilla's .578, far below PMC's .637. The direction of g is what matters, not perturbing the codes.</a:t>
            </a:r>
          </a:p>
        </p:txBody>
      </p:sp>
      <p:sp>
        <p:nvSpPr>
          <p:cNvPr id="212" name="TextBox 211"/>
          <p:cNvSpPr txBox="1"/>
          <p:nvPr/>
        </p:nvSpPr>
        <p:spPr>
          <a:xfrm>
            <a:off x="20351496" y="29407199"/>
            <a:ext cx="9147048" cy="496062"/>
          </a:xfrm>
          <a:prstGeom prst="rect">
            <a:avLst/>
          </a:prstGeom>
          <a:noFill/>
        </p:spPr>
        <p:txBody>
          <a:bodyPr wrap="square" lIns="0" rIns="0" tIns="0" bIns="0">
            <a:spAutoFit/>
          </a:bodyPr>
          <a:lstStyle/>
          <a:p>
            <a:pPr algn="l">
              <a:lnSpc>
                <a:spcPct val="105000"/>
              </a:lnSpc>
              <a:spcAft>
                <a:spcPts val="0"/>
              </a:spcAft>
            </a:pPr>
            <a:r>
              <a:rPr sz="3100" b="1" i="0">
                <a:solidFill>
                  <a:srgbClr val="8B0029"/>
                </a:solidFill>
                <a:latin typeface="Times New Roman"/>
              </a:rPr>
              <a:t>13.  Throughput and conclusion</a:t>
            </a:r>
          </a:p>
        </p:txBody>
      </p:sp>
      <p:sp>
        <p:nvSpPr>
          <p:cNvPr id="213" name="Rectangle 212"/>
          <p:cNvSpPr/>
          <p:nvPr/>
        </p:nvSpPr>
        <p:spPr>
          <a:xfrm>
            <a:off x="20351496" y="29958125"/>
            <a:ext cx="9147048" cy="254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4" name="Picture 213" descr="asset_fig3c.png"/>
          <p:cNvPicPr>
            <a:picLocks noChangeAspect="1"/>
          </p:cNvPicPr>
          <p:nvPr/>
        </p:nvPicPr>
        <p:blipFill>
          <a:blip r:embed="rId7"/>
          <a:stretch>
            <a:fillRect/>
          </a:stretch>
        </p:blipFill>
        <p:spPr>
          <a:xfrm>
            <a:off x="20808848" y="30038389"/>
            <a:ext cx="8232343" cy="6341498"/>
          </a:xfrm>
          <a:prstGeom prst="rect">
            <a:avLst/>
          </a:prstGeom>
        </p:spPr>
      </p:pic>
      <p:sp>
        <p:nvSpPr>
          <p:cNvPr id="215" name="TextBox 214"/>
          <p:cNvSpPr txBox="1"/>
          <p:nvPr/>
        </p:nvSpPr>
        <p:spPr>
          <a:xfrm>
            <a:off x="20351496" y="36434751"/>
            <a:ext cx="9147048" cy="315468"/>
          </a:xfrm>
          <a:prstGeom prst="rect">
            <a:avLst/>
          </a:prstGeom>
          <a:noFill/>
        </p:spPr>
        <p:txBody>
          <a:bodyPr wrap="square" lIns="0" rIns="0" tIns="0" bIns="0">
            <a:spAutoFit/>
          </a:bodyPr>
          <a:lstStyle/>
          <a:p>
            <a:pPr algn="l">
              <a:lnSpc>
                <a:spcPct val="115000"/>
              </a:lnSpc>
              <a:spcAft>
                <a:spcPts val="0"/>
              </a:spcAft>
            </a:pPr>
            <a:r>
              <a:rPr sz="1800" b="0" i="1">
                <a:solidFill>
                  <a:srgbClr val="6F6F6F"/>
                </a:solidFill>
                <a:latin typeface="Times New Roman"/>
              </a:rPr>
              <a:t>QPS tracks Vanilla at every n_probe — PMC adds no per-query work.</a:t>
            </a:r>
          </a:p>
        </p:txBody>
      </p:sp>
      <p:sp>
        <p:nvSpPr>
          <p:cNvPr id="216" name="Rectangle 215"/>
          <p:cNvSpPr/>
          <p:nvPr/>
        </p:nvSpPr>
        <p:spPr>
          <a:xfrm>
            <a:off x="20351496" y="36896523"/>
            <a:ext cx="9147048" cy="3088233"/>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20570952" y="37115979"/>
            <a:ext cx="8708136" cy="2649321"/>
          </a:xfrm>
          <a:prstGeom prst="rect">
            <a:avLst/>
          </a:prstGeom>
          <a:noFill/>
        </p:spPr>
        <p:txBody>
          <a:bodyPr wrap="square" lIns="0" rIns="0" tIns="0" bIns="0">
            <a:spAutoFit/>
          </a:bodyPr>
          <a:lstStyle/>
          <a:p>
            <a:pPr algn="l">
              <a:lnSpc>
                <a:spcPct val="128000"/>
              </a:lnSpc>
              <a:spcAft>
                <a:spcPts val="400"/>
              </a:spcAft>
            </a:pPr>
            <a:r>
              <a:rPr sz="2300" b="1" i="0">
                <a:solidFill>
                  <a:srgbClr val="1F1F1F"/>
                </a:solidFill>
                <a:latin typeface="Times New Roman"/>
              </a:rPr>
              <a:t>A one-time, database-side centroid correction repairs IVF routing and binary quantization together — without changing the serving path.</a:t>
            </a:r>
          </a:p>
          <a:p>
            <a:pPr algn="l">
              <a:lnSpc>
                <a:spcPct val="128000"/>
              </a:lnSpc>
              <a:spcAft>
                <a:spcPts val="400"/>
              </a:spcAft>
            </a:pPr>
            <a:r>
              <a:rPr sz="2000" b="0" i="0">
                <a:solidFill>
                  <a:srgbClr val="0D4DA3"/>
                </a:solidFill>
                <a:latin typeface="Times New Roman"/>
              </a:rPr>
              <a:t>↑ Recall, scaling with ‖g‖   ·   0 query-time transform   ·   0 extra index memory   ·   validated at 407M-vector scale</a:t>
            </a:r>
          </a:p>
          <a:p>
            <a:pPr algn="l">
              <a:lnSpc>
                <a:spcPct val="128000"/>
              </a:lnSpc>
              <a:spcAft>
                <a:spcPts val="400"/>
              </a:spcAft>
            </a:pPr>
            <a:r>
              <a:rPr sz="1900" b="0" i="0">
                <a:solidFill>
                  <a:srgbClr val="6F6F6F"/>
                </a:solidFill>
                <a:latin typeface="Times New Roman"/>
              </a:rPr>
              <a:t>Drift-adaptive α, graph-based ANN and billion-scale deployment remain future work.</a:t>
            </a:r>
          </a:p>
        </p:txBody>
      </p:sp>
      <p:sp>
        <p:nvSpPr>
          <p:cNvPr id="218" name="Rectangle 217"/>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0" name="Picture 219"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221" name="TextBox 220"/>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222" name="TextBox 221"/>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