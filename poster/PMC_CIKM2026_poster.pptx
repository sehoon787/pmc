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236" y="914400"/>
            <a:ext cx="2963428" cy="118872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0561" y="914400"/>
            <a:ext cx="3808755" cy="118872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12544" y="2514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72064" y="47091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14400"/>
            <a:ext cx="1957730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611880"/>
            <a:ext cx="195773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70832"/>
            <a:ext cx="19577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 ·   Intelligence Engineering 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349240"/>
            <a:ext cx="2835554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23983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37490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97880"/>
            <a:ext cx="85066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1.  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6949440"/>
            <a:ext cx="850666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7498080"/>
            <a:ext cx="850666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Cross-modal queries and database vectors do not share a centroid.</a:t>
            </a:r>
          </a:p>
        </p:txBody>
      </p:sp>
      <p:pic>
        <p:nvPicPr>
          <p:cNvPr id="16" name="Picture 15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9555480"/>
            <a:ext cx="8506663" cy="4228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14104040"/>
            <a:ext cx="8506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t-SNE (ImageBind): modality clusters separate in (a); after PMC they overlap in (b).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5338480"/>
            <a:ext cx="8506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16536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6390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queries are steered into the wrong inverted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17679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17533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codes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sign(x − c) has zero error margin — the boundary passes exactly through the centroid, so the offset flips bits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9864760"/>
            <a:ext cx="8506663" cy="246888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0184800"/>
            <a:ext cx="7683703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R@100 = 0.71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R@100 = 0.54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2607960"/>
            <a:ext cx="850666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The damage is structured.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The top 10% of dimensions carry ≈90% of ‖g‖² on CLIP-L, and flip risk grows with 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|:   E[F] ≈ α Σ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 p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(0)·|g</a:t>
            </a:r>
            <a:r>
              <a:rPr sz="1728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|.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1183" y="5897880"/>
            <a:ext cx="94991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2.  PMC — correct at the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81183" y="6949440"/>
            <a:ext cx="9499107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1183" y="749808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8383" y="744321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1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Calibrate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8383" y="836676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estimate the gap from a small paired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8383" y="941832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g  = 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q</a:t>
            </a:r>
            <a:r>
              <a:rPr sz="3200" b="1" i="0">
                <a:solidFill>
                  <a:srgbClr val="1F1F1F"/>
                </a:solidFill>
                <a:latin typeface="Times New Roman"/>
              </a:rPr>
              <a:t> − μ</a:t>
            </a:r>
            <a:r>
              <a:rPr sz="2304" b="1" i="0" baseline="-25000">
                <a:solidFill>
                  <a:srgbClr val="1F1F1F"/>
                </a:solidFill>
                <a:latin typeface="Times New Roman"/>
              </a:rPr>
              <a:t>x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(25 samples suffice)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14582096" y="1076248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381183" y="1170432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8383" y="1164945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2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Build 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8383" y="1257300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shift every database vector, then build the 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8383" y="13688568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x′  =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164263" y="13350240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x + α 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07263" y="13910310"/>
            <a:ext cx="192024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164263" y="14010894"/>
            <a:ext cx="420624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‖x + α g‖</a:t>
            </a:r>
          </a:p>
        </p:txBody>
      </p:sp>
      <p:sp>
        <p:nvSpPr>
          <p:cNvPr id="40" name="Down Arrow 39"/>
          <p:cNvSpPr/>
          <p:nvPr/>
        </p:nvSpPr>
        <p:spPr>
          <a:xfrm>
            <a:off x="14582096" y="14968728"/>
            <a:ext cx="1097280" cy="777240"/>
          </a:xfrm>
          <a:prstGeom prst="downArrow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81183" y="15910560"/>
            <a:ext cx="63500" cy="3154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38383" y="1585569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3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Serve  (online)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38383" y="1677924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search the corrected index — the query is untouched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38383" y="17830800"/>
            <a:ext cx="85847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q′  =  q</a:t>
            </a:r>
            <a:r>
              <a:rPr sz="2400" b="0" i="0">
                <a:solidFill>
                  <a:srgbClr val="6F6F6F"/>
                </a:solidFill>
                <a:latin typeface="Times New Roman"/>
              </a:rPr>
              <a:t>        (at α = 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381183" y="19522440"/>
            <a:ext cx="9499107" cy="1874519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38383" y="19815048"/>
            <a:ext cx="85847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zero query-time transform, zero extra memory.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1183" y="21854160"/>
            <a:ext cx="94991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The query side carries the complement: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8343" y="22814280"/>
            <a:ext cx="1371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 i="0">
                <a:solidFill>
                  <a:srgbClr val="1F1F1F"/>
                </a:solidFill>
                <a:latin typeface="Times New Roman"/>
              </a:rPr>
              <a:t>q′  =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07063" y="22539960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q − (1 − α) 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154863" y="23031450"/>
            <a:ext cx="2773680" cy="3048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07063" y="23132034"/>
            <a:ext cx="5669280" cy="445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‖q − (1 − α) g‖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81183" y="23687532"/>
            <a:ext cx="949910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α = 0 is query-only mean shift: it leaves IVF centroids and quantized codes misaligned, and can lower recall.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1" i="0">
                <a:solidFill>
                  <a:srgbClr val="1F1F1F"/>
                </a:solidFill>
                <a:latin typeface="Times New Roman"/>
              </a:rPr>
              <a:t>α = 1 makes q′ = q and rewrites the centroid where it plays both of its roles — routing pivot and code boundary.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0D4DA3"/>
                </a:solidFill>
                <a:latin typeface="Times New Roman"/>
              </a:rPr>
              <a:t>The α-sweep confirms α = 1 best or near-best in every setting.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794690" y="5897880"/>
            <a:ext cx="852097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3.  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0794690" y="6949440"/>
            <a:ext cx="852097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794690" y="7360920"/>
            <a:ext cx="852097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2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3200" b="0" i="0">
                <a:solidFill>
                  <a:srgbClr val="6F6F6F"/>
                </a:solidFill>
                <a:latin typeface="Times New Roman"/>
              </a:rPr>
              <a:t>   vectors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794690" y="896112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6F6F6F"/>
                </a:solidFill>
                <a:latin typeface="Times New Roman"/>
              </a:rPr>
              <a:t>LAION-400M  ·  29.3 GB at 72 B/vec  ·  28× compressed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794690" y="969264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CLIP · R@100, no reranking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794690" y="10378440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0794690" y="10378440"/>
            <a:ext cx="5054229" cy="73152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977570" y="10378440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651456" y="1037844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0794690" y="11274552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0794690" y="11274552"/>
            <a:ext cx="6692174" cy="73152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0977570" y="11274552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651456" y="11274552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794690" y="1229868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with exact reranking K′ = 400:   .198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.277   (+40%)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0794690" y="13304520"/>
            <a:ext cx="8520974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Every configuration, ordered by modality gap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794690" y="14081760"/>
            <a:ext cx="777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‖g‖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571930" y="1408176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Dataset · Enc.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315130" y="1408176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q→db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815397" y="14081760"/>
            <a:ext cx="25002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6F6F6F"/>
                </a:solidFill>
                <a:latin typeface="Times New Roman"/>
              </a:rPr>
              <a:t>db→q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794690" y="14703552"/>
            <a:ext cx="8520974" cy="20320"/>
          </a:xfrm>
          <a:prstGeom prst="rect">
            <a:avLst/>
          </a:prstGeom>
          <a:solidFill>
            <a:srgbClr val="1F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794690" y="1490472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571930" y="1490472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CL-L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315130" y="1484985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6815397" y="1484985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+34%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794690" y="1554480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0794690" y="1565452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571930" y="1565452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CLIP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15130" y="1559966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+9%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815397" y="1559966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.50→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.60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+20%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794690" y="1629460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794690" y="16404336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571930" y="16404336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Flickr30K CL-L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4315130" y="1634947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.41→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+17%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6815397" y="16349472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.33→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0794690" y="17044416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0794690" y="17154144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1930" y="17154144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LAION-400M CLIP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315130" y="1709928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.108→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.143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+32%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6815397" y="17099280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.069→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.073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794690" y="17794224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794690" y="17903952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571930" y="17903952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MSCOCO IB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4315130" y="1784908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.67→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6815397" y="17849088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.71→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0794690" y="18544032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0794690" y="18653760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571930" y="18653760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Clotho IB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315130" y="1859889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6815397" y="18598896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.62→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.69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+11%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794690" y="19293840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0794690" y="19403568"/>
            <a:ext cx="777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.61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1571930" y="19403568"/>
            <a:ext cx="2743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1F1F1F"/>
                </a:solidFill>
                <a:latin typeface="Times New Roman"/>
              </a:rPr>
              <a:t>AudioCaps IB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315130" y="1934870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.75→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.78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6815397" y="19348704"/>
            <a:ext cx="2500267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6F6F6F"/>
                </a:solidFill>
                <a:latin typeface="Times New Roman"/>
              </a:rPr>
              <a:t>.83→</a:t>
            </a:r>
            <a:r>
              <a:rPr sz="2400" b="1" i="0">
                <a:solidFill>
                  <a:srgbClr val="0D4DA3"/>
                </a:solidFill>
                <a:latin typeface="Times New Roman"/>
              </a:rPr>
              <a:t>.83</a:t>
            </a:r>
            <a:r>
              <a:rPr sz="2000" b="1" i="0">
                <a:solidFill>
                  <a:srgbClr val="0D4DA3"/>
                </a:solidFill>
                <a:latin typeface="Times New Roman"/>
              </a:rPr>
              <a:t> +0%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0794690" y="20043648"/>
            <a:ext cx="8520974" cy="1016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0794690" y="20372832"/>
            <a:ext cx="852097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1" i="0">
                <a:solidFill>
                  <a:srgbClr val="8B0029"/>
                </a:solidFill>
                <a:latin typeface="Times New Roman"/>
              </a:rPr>
              <a:t>The gain tracks the gap.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R@100 improved or matched in all 16 BQ configurations; best in all 14 at R@10.</a:t>
            </a:r>
          </a:p>
        </p:txBody>
      </p:sp>
      <p:pic>
        <p:nvPicPr>
          <p:cNvPr id="109" name="Picture 108" descr="asset_fig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94690" y="22064472"/>
            <a:ext cx="8520974" cy="6563834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20794690" y="28811186"/>
            <a:ext cx="8520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</a:t>
            </a:r>
            <a:r>
              <a:rPr sz="1512" b="0" i="1" baseline="-25000">
                <a:solidFill>
                  <a:srgbClr val="6F6F6F"/>
                </a:solidFill>
                <a:latin typeface="Times New Roman"/>
              </a:rPr>
              <a:t>probe</a:t>
            </a:r>
            <a:r>
              <a:rPr sz="2100" b="0" i="1">
                <a:solidFill>
                  <a:srgbClr val="6F6F6F"/>
                </a:solidFill>
                <a:latin typeface="Times New Roman"/>
              </a:rPr>
              <a:t> — PMC adds no per-query work.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0120" y="26883360"/>
            <a:ext cx="28355544" cy="152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176709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76282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60120" y="27340560"/>
            <a:ext cx="1034977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4.  Why it works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" y="28392120"/>
            <a:ext cx="1034977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28940760"/>
            <a:ext cx="10349773" cy="8093383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960120" y="37537063"/>
            <a:ext cx="1034977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60120" y="38862943"/>
            <a:ext cx="1034977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CLIP’s gap energy is concentrated (top 10% ≈ 86–92%), so selective PMC on the highest-|g</a:t>
            </a:r>
            <a:r>
              <a:rPr sz="1872" b="0" i="0" baseline="-25000">
                <a:solidFill>
                  <a:srgbClr val="1F1F1F"/>
                </a:solidFill>
                <a:latin typeface="Times New Roman"/>
              </a:rPr>
              <a:t>i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| dimensions recovers peak recall. ImageBind’s diffuse gap (≈72%) needs the full vector — exactly what the flip-risk analysis predicts.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2224293" y="27340560"/>
            <a:ext cx="80813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5.  Where to correct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2224293" y="28392120"/>
            <a:ext cx="8081330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2224293" y="28757880"/>
            <a:ext cx="80813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2224293" y="29489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2224293" y="29489400"/>
            <a:ext cx="4279806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2407173" y="29489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641415" y="29489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224293" y="30632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2224293" y="30632400"/>
            <a:ext cx="3042675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2407173" y="30632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8641415" y="30632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2224293" y="31775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224293" y="31775400"/>
            <a:ext cx="4981962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407173" y="31775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641415" y="31775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2407173" y="32918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8641415" y="32918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224293" y="34655760"/>
            <a:ext cx="808133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Shifting both sides re-displaces the routing pivot.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9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400" b="0" i="0">
                <a:solidFill>
                  <a:srgbClr val="6F6F6F"/>
                </a:solidFill>
                <a:latin typeface="Times New Roman"/>
              </a:rPr>
              <a:t>Random, shuffled, sign-flipped and un-normalized controls all trail DB-PMC.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1220023" y="27340560"/>
            <a:ext cx="8095641" cy="13862304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1220023" y="27340560"/>
            <a:ext cx="8095641" cy="508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1768663" y="27889200"/>
            <a:ext cx="699836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8B0029"/>
                </a:solidFill>
                <a:latin typeface="Times New Roman"/>
              </a:rPr>
              <a:t>Takeaway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768663" y="29077920"/>
            <a:ext cx="699836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300" b="1" i="0">
                <a:solidFill>
                  <a:srgbClr val="1F1F1F"/>
                </a:solidFill>
                <a:latin typeface="Times New Roman"/>
              </a:rPr>
              <a:t>A one-time, database-side centroid correction repairs IVF routing and binary quantization together — without changing the serving path.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1768663" y="33421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2299015" y="33284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Recall gains scale with the gap ‖g‖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21768663" y="34564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2299015" y="34427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query-time transform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21768663" y="35707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22299015" y="35570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additional index memory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1768663" y="36850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2299015" y="36713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Validated at 407M-vector scale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60120" y="41522904"/>
            <a:ext cx="2835554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60120" y="41815512"/>
            <a:ext cx="28355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0" i="0">
                <a:solidFill>
                  <a:srgbClr val="6F6F6F"/>
                </a:solidFill>
                <a:latin typeface="Times New Roman"/>
              </a:rPr>
              <a:t>CIKM ’26 · November 07–11, 2026 · Rome, Italy          DOI 10.1145/3799682.3840007          CC-BY 4.0          Supported by the NRF of Korea (MSIT),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