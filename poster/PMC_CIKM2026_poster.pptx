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30275784" cy="42803064"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0275784" cy="42803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sset_ielab.png"/>
          <p:cNvPicPr>
            <a:picLocks noChangeAspect="1"/>
          </p:cNvPicPr>
          <p:nvPr/>
        </p:nvPicPr>
        <p:blipFill>
          <a:blip r:embed="rId2"/>
          <a:stretch>
            <a:fillRect/>
          </a:stretch>
        </p:blipFill>
        <p:spPr>
          <a:xfrm>
            <a:off x="26877050" y="594360"/>
            <a:ext cx="2621494" cy="1051560"/>
          </a:xfrm>
          <a:prstGeom prst="rect">
            <a:avLst/>
          </a:prstGeom>
        </p:spPr>
      </p:pic>
      <p:pic>
        <p:nvPicPr>
          <p:cNvPr id="4" name="Picture 3" descr="asset_ku.jpg"/>
          <p:cNvPicPr>
            <a:picLocks noChangeAspect="1"/>
          </p:cNvPicPr>
          <p:nvPr/>
        </p:nvPicPr>
        <p:blipFill>
          <a:blip r:embed="rId3"/>
          <a:stretch>
            <a:fillRect/>
          </a:stretch>
        </p:blipFill>
        <p:spPr>
          <a:xfrm>
            <a:off x="23050566" y="594360"/>
            <a:ext cx="3369284" cy="1051560"/>
          </a:xfrm>
          <a:prstGeom prst="rect">
            <a:avLst/>
          </a:prstGeom>
        </p:spPr>
      </p:pic>
      <p:pic>
        <p:nvPicPr>
          <p:cNvPr id="5" name="Picture 4" descr="asset_qr.png"/>
          <p:cNvPicPr>
            <a:picLocks noChangeAspect="1"/>
          </p:cNvPicPr>
          <p:nvPr/>
        </p:nvPicPr>
        <p:blipFill>
          <a:blip r:embed="rId4"/>
          <a:stretch>
            <a:fillRect/>
          </a:stretch>
        </p:blipFill>
        <p:spPr>
          <a:xfrm>
            <a:off x="27624025" y="2011680"/>
            <a:ext cx="1874519" cy="1874519"/>
          </a:xfrm>
          <a:prstGeom prst="rect">
            <a:avLst/>
          </a:prstGeom>
        </p:spPr>
      </p:pic>
      <p:sp>
        <p:nvSpPr>
          <p:cNvPr id="6" name="TextBox 5"/>
          <p:cNvSpPr txBox="1"/>
          <p:nvPr/>
        </p:nvSpPr>
        <p:spPr>
          <a:xfrm>
            <a:off x="23554944" y="3977639"/>
            <a:ext cx="5943600" cy="411480"/>
          </a:xfrm>
          <a:prstGeom prst="rect">
            <a:avLst/>
          </a:prstGeom>
          <a:noFill/>
        </p:spPr>
        <p:txBody>
          <a:bodyPr wrap="none" anchor="ctr" lIns="0" rIns="0" tIns="0" bIns="0">
            <a:spAutoFit/>
          </a:bodyPr>
          <a:lstStyle/>
          <a:p>
            <a:pPr algn="r"/>
            <a:r>
              <a:rPr sz="1700" b="0" i="0">
                <a:solidFill>
                  <a:srgbClr val="6F6F6F"/>
                </a:solidFill>
                <a:latin typeface="Times New Roman"/>
              </a:rPr>
              <a:t>Paper + code:  github.com/sehoon787/PMC</a:t>
            </a:r>
          </a:p>
        </p:txBody>
      </p:sp>
      <p:sp>
        <p:nvSpPr>
          <p:cNvPr id="7" name="TextBox 6"/>
          <p:cNvSpPr txBox="1"/>
          <p:nvPr/>
        </p:nvSpPr>
        <p:spPr>
          <a:xfrm>
            <a:off x="777240" y="658368"/>
            <a:ext cx="20491704" cy="1844040"/>
          </a:xfrm>
          <a:prstGeom prst="rect">
            <a:avLst/>
          </a:prstGeom>
          <a:noFill/>
        </p:spPr>
        <p:txBody>
          <a:bodyPr wrap="square" lIns="0" rIns="0" tIns="0" bIns="0">
            <a:spAutoFit/>
          </a:bodyPr>
          <a:lstStyle/>
          <a:p>
            <a:pPr algn="l">
              <a:lnSpc>
                <a:spcPct val="110000"/>
              </a:lnSpc>
              <a:spcAft>
                <a:spcPts val="0"/>
              </a:spcAft>
            </a:pPr>
            <a:r>
              <a:rPr sz="5500" b="1" i="0">
                <a:solidFill>
                  <a:srgbClr val="8B0029"/>
                </a:solidFill>
                <a:latin typeface="Times New Roman"/>
              </a:rPr>
              <a:t>PMC: Build-Time Per-Modality Centroid Correction</a:t>
            </a:r>
          </a:p>
          <a:p>
            <a:pPr algn="l">
              <a:lnSpc>
                <a:spcPct val="110000"/>
              </a:lnSpc>
              <a:spcAft>
                <a:spcPts val="0"/>
              </a:spcAft>
            </a:pPr>
            <a:r>
              <a:rPr sz="5500" b="1" i="0">
                <a:solidFill>
                  <a:srgbClr val="8B0029"/>
                </a:solidFill>
                <a:latin typeface="Times New Roman"/>
              </a:rPr>
              <a:t>for Cross-Modal Binary-Quantized Retrieval</a:t>
            </a:r>
          </a:p>
        </p:txBody>
      </p:sp>
      <p:sp>
        <p:nvSpPr>
          <p:cNvPr id="8" name="TextBox 7"/>
          <p:cNvSpPr txBox="1"/>
          <p:nvPr/>
        </p:nvSpPr>
        <p:spPr>
          <a:xfrm>
            <a:off x="777240" y="2740152"/>
            <a:ext cx="20491704" cy="557784"/>
          </a:xfrm>
          <a:prstGeom prst="rect">
            <a:avLst/>
          </a:prstGeom>
          <a:noFill/>
        </p:spPr>
        <p:txBody>
          <a:bodyPr wrap="square" lIns="0" rIns="0" tIns="0" bIns="0">
            <a:spAutoFit/>
          </a:bodyPr>
          <a:lstStyle/>
          <a:p>
            <a:pPr algn="l">
              <a:lnSpc>
                <a:spcPct val="122000"/>
              </a:lnSpc>
              <a:spcAft>
                <a:spcPts val="0"/>
              </a:spcAft>
            </a:pPr>
            <a:r>
              <a:rPr sz="3000" b="0" i="0">
                <a:solidFill>
                  <a:srgbClr val="1F1F1F"/>
                </a:solidFill>
                <a:latin typeface="Times New Roman"/>
              </a:rPr>
              <a:t>Se Hoon Kim,   Jun Hyung Lee,   Soonyoung Jung*</a:t>
            </a:r>
          </a:p>
        </p:txBody>
      </p:sp>
      <p:sp>
        <p:nvSpPr>
          <p:cNvPr id="9" name="TextBox 8"/>
          <p:cNvSpPr txBox="1"/>
          <p:nvPr/>
        </p:nvSpPr>
        <p:spPr>
          <a:xfrm>
            <a:off x="777240" y="3371088"/>
            <a:ext cx="20491704" cy="409041"/>
          </a:xfrm>
          <a:prstGeom prst="rect">
            <a:avLst/>
          </a:prstGeom>
          <a:noFill/>
        </p:spPr>
        <p:txBody>
          <a:bodyPr wrap="square" lIns="0" rIns="0" tIns="0" bIns="0">
            <a:spAutoFit/>
          </a:bodyPr>
          <a:lstStyle/>
          <a:p>
            <a:pPr algn="l">
              <a:lnSpc>
                <a:spcPct val="122000"/>
              </a:lnSpc>
              <a:spcAft>
                <a:spcPts val="0"/>
              </a:spcAft>
            </a:pPr>
            <a:r>
              <a:rPr sz="2200" b="0" i="0">
                <a:solidFill>
                  <a:srgbClr val="6F6F6F"/>
                </a:solidFill>
                <a:latin typeface="Times New Roman"/>
              </a:rPr>
              <a:t>Department of Computer Science and Engineering, Korea University  ·  Intelligence Engineering Lab</a:t>
            </a:r>
          </a:p>
        </p:txBody>
      </p:sp>
      <p:sp>
        <p:nvSpPr>
          <p:cNvPr id="10" name="TextBox 9"/>
          <p:cNvSpPr txBox="1"/>
          <p:nvPr/>
        </p:nvSpPr>
        <p:spPr>
          <a:xfrm>
            <a:off x="777240" y="3834993"/>
            <a:ext cx="20491704" cy="371855"/>
          </a:xfrm>
          <a:prstGeom prst="rect">
            <a:avLst/>
          </a:prstGeom>
          <a:noFill/>
        </p:spPr>
        <p:txBody>
          <a:bodyPr wrap="square" lIns="0" rIns="0" tIns="0" bIns="0">
            <a:spAutoFit/>
          </a:bodyPr>
          <a:lstStyle/>
          <a:p>
            <a:pPr algn="l">
              <a:lnSpc>
                <a:spcPct val="122000"/>
              </a:lnSpc>
              <a:spcAft>
                <a:spcPts val="0"/>
              </a:spcAft>
            </a:pPr>
            <a:r>
              <a:rPr sz="2000" b="0" i="1">
                <a:solidFill>
                  <a:srgbClr val="6F6F6F"/>
                </a:solidFill>
                <a:latin typeface="Times New Roman"/>
              </a:rPr>
              <a:t>{sehoon787, junicus, jsy}@korea.ac.kr</a:t>
            </a:r>
          </a:p>
        </p:txBody>
      </p:sp>
      <p:sp>
        <p:nvSpPr>
          <p:cNvPr id="11" name="Rectangle 10"/>
          <p:cNvSpPr/>
          <p:nvPr/>
        </p:nvSpPr>
        <p:spPr>
          <a:xfrm>
            <a:off x="777240" y="4800600"/>
            <a:ext cx="28721304" cy="381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137892" y="5184648"/>
            <a:ext cx="12700" cy="35469577"/>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5184648"/>
            <a:ext cx="14040612" cy="5320182"/>
          </a:xfrm>
          <a:prstGeom prst="rect">
            <a:avLst/>
          </a:prstGeom>
          <a:solidFill>
            <a:srgbClr val="F6F5F3"/>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458968"/>
            <a:ext cx="13491972" cy="4771542"/>
          </a:xfrm>
          <a:prstGeom prst="rect">
            <a:avLst/>
          </a:prstGeom>
          <a:noFill/>
        </p:spPr>
        <p:txBody>
          <a:bodyPr wrap="square" lIns="0" rIns="0" tIns="0" bIns="0">
            <a:spAutoFit/>
          </a:bodyPr>
          <a:lstStyle/>
          <a:p>
            <a:pPr algn="l">
              <a:lnSpc>
                <a:spcPct val="128000"/>
              </a:lnSpc>
              <a:spcAft>
                <a:spcPts val="400"/>
              </a:spcAft>
            </a:pPr>
            <a:r>
              <a:rPr sz="2200" b="1" i="0">
                <a:solidFill>
                  <a:srgbClr val="8B0029"/>
                </a:solidFill>
                <a:latin typeface="Times New Roman"/>
              </a:rPr>
              <a:t>Abstract.  </a:t>
            </a:r>
            <a:r>
              <a:rPr sz="2200" b="0" i="0">
                <a:solidFill>
                  <a:srgbClr val="1F1F1F"/>
                </a:solidFill>
                <a:latin typeface="Times New Roman"/>
              </a:rPr>
              <a:t>Approximate nearest neighbor search is a core operator in large-scale retrieval, where vector quantization is widely used to reduce memory cost. Binary quantization methods encode each dimension as a single bit, but they assume queries and database vectors share a common centroid. This assumption fails in cross-modal retrieval, where each modality clusters around a different centroid, producing a modality gap that corrupts the centroid's dual role as inverted-file routing pivot and sign-bit decision boundary. We propose Per-Modality Centroid Correction (PMC), which shifts database vectors toward the query centroid at build time, rewriting routing and code boundaries at the source rather than merely adjusting queries at serving time. A selective variant confirms that concentrated gap energy in a few dimensions drives most recall loss. PMC adds no index memory or serving overhead; at α=1, the correction is fully absorbed into the index with zero query-time cost. Experiments on five cross-modal benchmarks, three encoders, and four binary-quantized index types show gains over uncorrected and query-shifted baselines that scale with modality-gap magnitude, up to a 400M-vector deployment.</a:t>
            </a:r>
          </a:p>
        </p:txBody>
      </p:sp>
      <p:sp>
        <p:nvSpPr>
          <p:cNvPr id="15" name="TextBox 14"/>
          <p:cNvSpPr txBox="1"/>
          <p:nvPr/>
        </p:nvSpPr>
        <p:spPr>
          <a:xfrm>
            <a:off x="777240" y="10779150"/>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1.  The problem: the modality gap</a:t>
            </a:r>
          </a:p>
        </p:txBody>
      </p:sp>
      <p:sp>
        <p:nvSpPr>
          <p:cNvPr id="16" name="Rectangle 15"/>
          <p:cNvSpPr/>
          <p:nvPr/>
        </p:nvSpPr>
        <p:spPr>
          <a:xfrm>
            <a:off x="777240" y="11384940"/>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11462410"/>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A frozen multimodal encoder φ maps both modalities into d-dimensional space: the database holds modality-b embeddings, queries come from modality a. Their means differ — the </a:t>
            </a:r>
            <a:r>
              <a:rPr sz="2200" b="1" i="0">
                <a:solidFill>
                  <a:srgbClr val="8B0029"/>
                </a:solidFill>
                <a:latin typeface="Times New Roman"/>
              </a:rPr>
              <a:t>modality gap</a:t>
            </a:r>
            <a:r>
              <a:rPr sz="2200" b="0" i="0">
                <a:solidFill>
                  <a:srgbClr val="1F1F1F"/>
                </a:solidFill>
                <a:latin typeface="Times New Roman"/>
              </a:rPr>
              <a:t>  g = μ</a:t>
            </a:r>
            <a:r>
              <a:rPr sz="1980" b="0" i="0" baseline="-25000">
                <a:solidFill>
                  <a:srgbClr val="1F1F1F"/>
                </a:solidFill>
                <a:latin typeface="Times New Roman"/>
              </a:rPr>
              <a:t>q</a:t>
            </a:r>
            <a:r>
              <a:rPr sz="2200" b="0" i="0">
                <a:solidFill>
                  <a:srgbClr val="1F1F1F"/>
                </a:solidFill>
                <a:latin typeface="Times New Roman"/>
              </a:rPr>
              <a:t> − μ</a:t>
            </a:r>
            <a:r>
              <a:rPr sz="1980" b="0" i="0" baseline="-25000">
                <a:solidFill>
                  <a:srgbClr val="1F1F1F"/>
                </a:solidFill>
                <a:latin typeface="Times New Roman"/>
              </a:rPr>
              <a:t>x</a:t>
            </a:r>
            <a:r>
              <a:rPr sz="2200" b="0" i="0">
                <a:solidFill>
                  <a:srgbClr val="1F1F1F"/>
                </a:solidFill>
                <a:latin typeface="Times New Roman"/>
              </a:rPr>
              <a:t>  is stable and large, ‖g‖ = .61–.82 on our benchmarks.</a:t>
            </a:r>
          </a:p>
        </p:txBody>
      </p:sp>
      <p:pic>
        <p:nvPicPr>
          <p:cNvPr id="18" name="Picture 17" descr="asset_fig1.png"/>
          <p:cNvPicPr>
            <a:picLocks noChangeAspect="1"/>
          </p:cNvPicPr>
          <p:nvPr/>
        </p:nvPicPr>
        <p:blipFill>
          <a:blip r:embed="rId5"/>
          <a:stretch>
            <a:fillRect/>
          </a:stretch>
        </p:blipFill>
        <p:spPr>
          <a:xfrm>
            <a:off x="1268661" y="12881050"/>
            <a:ext cx="13057769" cy="6490799"/>
          </a:xfrm>
          <a:prstGeom prst="rect">
            <a:avLst/>
          </a:prstGeom>
        </p:spPr>
      </p:pic>
      <p:sp>
        <p:nvSpPr>
          <p:cNvPr id="19" name="TextBox 18"/>
          <p:cNvSpPr txBox="1"/>
          <p:nvPr/>
        </p:nvSpPr>
        <p:spPr>
          <a:xfrm>
            <a:off x="777240" y="19445001"/>
            <a:ext cx="14040612" cy="350520"/>
          </a:xfrm>
          <a:prstGeom prst="rect">
            <a:avLst/>
          </a:prstGeom>
          <a:noFill/>
        </p:spPr>
        <p:txBody>
          <a:bodyPr wrap="square" lIns="0" rIns="0" tIns="0" bIns="0">
            <a:spAutoFit/>
          </a:bodyPr>
          <a:lstStyle/>
          <a:p>
            <a:pPr algn="l">
              <a:lnSpc>
                <a:spcPct val="115000"/>
              </a:lnSpc>
              <a:spcAft>
                <a:spcPts val="0"/>
              </a:spcAft>
            </a:pPr>
            <a:r>
              <a:rPr sz="2000" b="0" i="1">
                <a:solidFill>
                  <a:srgbClr val="6F6F6F"/>
                </a:solidFill>
                <a:latin typeface="Times New Roman"/>
              </a:rPr>
              <a:t>t-SNE of ImageBind embeddings: each modality forms its own cluster; after PMC the paired points overlap.</a:t>
            </a:r>
          </a:p>
        </p:txBody>
      </p:sp>
      <p:sp>
        <p:nvSpPr>
          <p:cNvPr id="20" name="TextBox 19"/>
          <p:cNvSpPr txBox="1"/>
          <p:nvPr/>
        </p:nvSpPr>
        <p:spPr>
          <a:xfrm>
            <a:off x="777240" y="19978401"/>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BQ encodes each dimension as  sign(x</a:t>
            </a:r>
            <a:r>
              <a:rPr sz="1980" b="0" i="0" baseline="-25000">
                <a:solidFill>
                  <a:srgbClr val="1F1F1F"/>
                </a:solidFill>
                <a:latin typeface="Times New Roman"/>
              </a:rPr>
              <a:t>i</a:t>
            </a:r>
            <a:r>
              <a:rPr sz="2200" b="0" i="0">
                <a:solidFill>
                  <a:srgbClr val="1F1F1F"/>
                </a:solidFill>
                <a:latin typeface="Times New Roman"/>
              </a:rPr>
              <a:t> − c</a:t>
            </a:r>
            <a:r>
              <a:rPr sz="1980" b="0" i="0" baseline="-25000">
                <a:solidFill>
                  <a:srgbClr val="1F1F1F"/>
                </a:solidFill>
                <a:latin typeface="Times New Roman"/>
              </a:rPr>
              <a:t>i</a:t>
            </a:r>
            <a:r>
              <a:rPr sz="2200" b="0" i="0">
                <a:solidFill>
                  <a:srgbClr val="1F1F1F"/>
                </a:solidFill>
                <a:latin typeface="Times New Roman"/>
              </a:rPr>
              <a:t>)  relative to a centroid c (RaBitQ, Lucene BBQ). With one bit the decision boundary passes exactly through c with zero error margin — and the same centroid routes queries to IVF lists, so one offset corrupts codes and routing at once. Let δ</a:t>
            </a:r>
            <a:r>
              <a:rPr sz="1980" b="0" i="0" baseline="-25000">
                <a:solidFill>
                  <a:srgbClr val="1F1F1F"/>
                </a:solidFill>
                <a:latin typeface="Times New Roman"/>
              </a:rPr>
              <a:t>i</a:t>
            </a:r>
            <a:r>
              <a:rPr sz="2200" b="0" i="0">
                <a:solidFill>
                  <a:srgbClr val="1F1F1F"/>
                </a:solidFill>
                <a:latin typeface="Times New Roman"/>
              </a:rPr>
              <a:t> = x</a:t>
            </a:r>
            <a:r>
              <a:rPr sz="1980" b="0" i="0" baseline="-25000">
                <a:solidFill>
                  <a:srgbClr val="1F1F1F"/>
                </a:solidFill>
                <a:latin typeface="Times New Roman"/>
              </a:rPr>
              <a:t>i</a:t>
            </a:r>
            <a:r>
              <a:rPr sz="2200" b="0" i="0">
                <a:solidFill>
                  <a:srgbClr val="1F1F1F"/>
                </a:solidFill>
                <a:latin typeface="Times New Roman"/>
              </a:rPr>
              <a:t> − c</a:t>
            </a:r>
            <a:r>
              <a:rPr sz="1980" b="0" i="0" baseline="-25000">
                <a:solidFill>
                  <a:srgbClr val="1F1F1F"/>
                </a:solidFill>
                <a:latin typeface="Times New Roman"/>
              </a:rPr>
              <a:t>i</a:t>
            </a:r>
            <a:r>
              <a:rPr sz="2200" b="0" i="0">
                <a:solidFill>
                  <a:srgbClr val="1F1F1F"/>
                </a:solidFill>
                <a:latin typeface="Times New Roman"/>
              </a:rPr>
              <a:t> be the residual; shifting the centroid by αg flips dimension i's sign iff</a:t>
            </a:r>
          </a:p>
        </p:txBody>
      </p:sp>
      <p:sp>
        <p:nvSpPr>
          <p:cNvPr id="21" name="TextBox 20"/>
          <p:cNvSpPr txBox="1"/>
          <p:nvPr/>
        </p:nvSpPr>
        <p:spPr>
          <a:xfrm>
            <a:off x="777240" y="21415329"/>
            <a:ext cx="14040612" cy="557784"/>
          </a:xfrm>
          <a:prstGeom prst="rect">
            <a:avLst/>
          </a:prstGeom>
          <a:noFill/>
        </p:spPr>
        <p:txBody>
          <a:bodyPr wrap="square" lIns="0" rIns="0" tIns="0" bIns="0">
            <a:spAutoFit/>
          </a:bodyPr>
          <a:lstStyle/>
          <a:p>
            <a:pPr algn="ctr">
              <a:lnSpc>
                <a:spcPct val="122000"/>
              </a:lnSpc>
              <a:spcAft>
                <a:spcPts val="0"/>
              </a:spcAft>
            </a:pPr>
            <a:r>
              <a:rPr sz="3000" b="1" i="0">
                <a:solidFill>
                  <a:srgbClr val="1F1F1F"/>
                </a:solidFill>
                <a:latin typeface="Times New Roman"/>
              </a:rPr>
              <a:t>δ</a:t>
            </a:r>
            <a:r>
              <a:rPr sz="2700" b="1" i="0" baseline="-25000">
                <a:solidFill>
                  <a:srgbClr val="1F1F1F"/>
                </a:solidFill>
                <a:latin typeface="Times New Roman"/>
              </a:rPr>
              <a:t>i</a:t>
            </a:r>
            <a:r>
              <a:rPr sz="3000" b="1" i="0">
                <a:solidFill>
                  <a:srgbClr val="1F1F1F"/>
                </a:solidFill>
                <a:latin typeface="Times New Roman"/>
              </a:rPr>
              <a:t> (δ</a:t>
            </a:r>
            <a:r>
              <a:rPr sz="2700" b="1" i="0" baseline="-25000">
                <a:solidFill>
                  <a:srgbClr val="1F1F1F"/>
                </a:solidFill>
                <a:latin typeface="Times New Roman"/>
              </a:rPr>
              <a:t>i</a:t>
            </a:r>
            <a:r>
              <a:rPr sz="3000" b="1" i="0">
                <a:solidFill>
                  <a:srgbClr val="1F1F1F"/>
                </a:solidFill>
                <a:latin typeface="Times New Roman"/>
              </a:rPr>
              <a:t> − α g</a:t>
            </a:r>
            <a:r>
              <a:rPr sz="2700" b="1" i="0" baseline="-25000">
                <a:solidFill>
                  <a:srgbClr val="1F1F1F"/>
                </a:solidFill>
                <a:latin typeface="Times New Roman"/>
              </a:rPr>
              <a:t>i</a:t>
            </a:r>
            <a:r>
              <a:rPr sz="3000" b="1" i="0">
                <a:solidFill>
                  <a:srgbClr val="1F1F1F"/>
                </a:solidFill>
                <a:latin typeface="Times New Roman"/>
              </a:rPr>
              <a:t>)  &lt;  0 ,      i.e.,      0  &lt;  δ</a:t>
            </a:r>
            <a:r>
              <a:rPr sz="2700" b="1" i="0" baseline="-25000">
                <a:solidFill>
                  <a:srgbClr val="1F1F1F"/>
                </a:solidFill>
                <a:latin typeface="Times New Roman"/>
              </a:rPr>
              <a:t>i</a:t>
            </a:r>
            <a:r>
              <a:rPr sz="3000" b="1" i="0">
                <a:solidFill>
                  <a:srgbClr val="1F1F1F"/>
                </a:solidFill>
                <a:latin typeface="Times New Roman"/>
              </a:rPr>
              <a:t> / (α g</a:t>
            </a:r>
            <a:r>
              <a:rPr sz="2700" b="1" i="0" baseline="-25000">
                <a:solidFill>
                  <a:srgbClr val="1F1F1F"/>
                </a:solidFill>
                <a:latin typeface="Times New Roman"/>
              </a:rPr>
              <a:t>i</a:t>
            </a:r>
            <a:r>
              <a:rPr sz="3000" b="1" i="0">
                <a:solidFill>
                  <a:srgbClr val="1F1F1F"/>
                </a:solidFill>
                <a:latin typeface="Times New Roman"/>
              </a:rPr>
              <a:t>)  &lt;  1</a:t>
            </a:r>
          </a:p>
        </p:txBody>
      </p:sp>
      <p:sp>
        <p:nvSpPr>
          <p:cNvPr id="22" name="TextBox 21"/>
          <p:cNvSpPr txBox="1"/>
          <p:nvPr/>
        </p:nvSpPr>
        <p:spPr>
          <a:xfrm>
            <a:off x="777240" y="21973113"/>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δ</a:t>
            </a:r>
            <a:r>
              <a:rPr sz="1800" b="0" i="1" baseline="-25000">
                <a:solidFill>
                  <a:srgbClr val="6F6F6F"/>
                </a:solidFill>
                <a:latin typeface="Times New Roman"/>
              </a:rPr>
              <a:t>i</a:t>
            </a:r>
            <a:r>
              <a:rPr sz="2000" b="0" i="1">
                <a:solidFill>
                  <a:srgbClr val="6F6F6F"/>
                </a:solidFill>
                <a:latin typeface="Times New Roman"/>
              </a:rPr>
              <a:t>: residual x</a:t>
            </a:r>
            <a:r>
              <a:rPr sz="1800" b="0" i="1" baseline="-25000">
                <a:solidFill>
                  <a:srgbClr val="6F6F6F"/>
                </a:solidFill>
                <a:latin typeface="Times New Roman"/>
              </a:rPr>
              <a:t>i</a:t>
            </a:r>
            <a:r>
              <a:rPr sz="2000" b="0" i="1">
                <a:solidFill>
                  <a:srgbClr val="6F6F6F"/>
                </a:solidFill>
                <a:latin typeface="Times New Roman"/>
              </a:rPr>
              <a:t> − c</a:t>
            </a:r>
            <a:r>
              <a:rPr sz="1800" b="0" i="1" baseline="-25000">
                <a:solidFill>
                  <a:srgbClr val="6F6F6F"/>
                </a:solidFill>
                <a:latin typeface="Times New Roman"/>
              </a:rPr>
              <a:t>i</a:t>
            </a:r>
            <a:r>
              <a:rPr sz="2000" b="0" i="1">
                <a:solidFill>
                  <a:srgbClr val="6F6F6F"/>
                </a:solidFill>
                <a:latin typeface="Times New Roman"/>
              </a:rPr>
              <a:t>   ·   g</a:t>
            </a:r>
            <a:r>
              <a:rPr sz="1800" b="0" i="1" baseline="-25000">
                <a:solidFill>
                  <a:srgbClr val="6F6F6F"/>
                </a:solidFill>
                <a:latin typeface="Times New Roman"/>
              </a:rPr>
              <a:t>i</a:t>
            </a:r>
            <a:r>
              <a:rPr sz="2000" b="0" i="1">
                <a:solidFill>
                  <a:srgbClr val="6F6F6F"/>
                </a:solidFill>
                <a:latin typeface="Times New Roman"/>
              </a:rPr>
              <a:t>: gap component   ·   α: shift strength</a:t>
            </a:r>
          </a:p>
        </p:txBody>
      </p:sp>
      <p:sp>
        <p:nvSpPr>
          <p:cNvPr id="23" name="TextBox 22"/>
          <p:cNvSpPr txBox="1"/>
          <p:nvPr/>
        </p:nvSpPr>
        <p:spPr>
          <a:xfrm>
            <a:off x="777240" y="22509560"/>
            <a:ext cx="14040612" cy="472541"/>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Under smooth symmetric residual densities, a first-order expansion gives the expected number of flipped bits,</a:t>
            </a:r>
          </a:p>
        </p:txBody>
      </p:sp>
      <p:sp>
        <p:nvSpPr>
          <p:cNvPr id="24" name="TextBox 23"/>
          <p:cNvSpPr txBox="1"/>
          <p:nvPr/>
        </p:nvSpPr>
        <p:spPr>
          <a:xfrm>
            <a:off x="777240" y="23128405"/>
            <a:ext cx="14040612" cy="632155"/>
          </a:xfrm>
          <a:prstGeom prst="rect">
            <a:avLst/>
          </a:prstGeom>
          <a:noFill/>
        </p:spPr>
        <p:txBody>
          <a:bodyPr wrap="square" lIns="0" rIns="0" tIns="0" bIns="0">
            <a:spAutoFit/>
          </a:bodyPr>
          <a:lstStyle/>
          <a:p>
            <a:pPr algn="ctr">
              <a:lnSpc>
                <a:spcPct val="122000"/>
              </a:lnSpc>
              <a:spcAft>
                <a:spcPts val="0"/>
              </a:spcAft>
            </a:pPr>
            <a:r>
              <a:rPr sz="3400" b="1" i="0">
                <a:solidFill>
                  <a:srgbClr val="1F1F1F"/>
                </a:solidFill>
                <a:latin typeface="Times New Roman"/>
              </a:rPr>
              <a:t>E[F]  ≈  α Σ</a:t>
            </a:r>
            <a:r>
              <a:rPr sz="3060" b="1" i="0" baseline="-25000">
                <a:solidFill>
                  <a:srgbClr val="1F1F1F"/>
                </a:solidFill>
                <a:latin typeface="Times New Roman"/>
              </a:rPr>
              <a:t>i</a:t>
            </a:r>
            <a:r>
              <a:rPr sz="3400" b="1" i="0">
                <a:solidFill>
                  <a:srgbClr val="1F1F1F"/>
                </a:solidFill>
                <a:latin typeface="Times New Roman"/>
              </a:rPr>
              <a:t> p</a:t>
            </a:r>
            <a:r>
              <a:rPr sz="3060" b="1" i="0" baseline="-25000">
                <a:solidFill>
                  <a:srgbClr val="1F1F1F"/>
                </a:solidFill>
                <a:latin typeface="Times New Roman"/>
              </a:rPr>
              <a:t>i</a:t>
            </a:r>
            <a:r>
              <a:rPr sz="3400" b="1" i="0">
                <a:solidFill>
                  <a:srgbClr val="1F1F1F"/>
                </a:solidFill>
                <a:latin typeface="Times New Roman"/>
              </a:rPr>
              <a:t>(0) |g</a:t>
            </a:r>
            <a:r>
              <a:rPr sz="3060" b="1" i="0" baseline="-25000">
                <a:solidFill>
                  <a:srgbClr val="1F1F1F"/>
                </a:solidFill>
                <a:latin typeface="Times New Roman"/>
              </a:rPr>
              <a:t>i</a:t>
            </a:r>
            <a:r>
              <a:rPr sz="3400" b="1" i="0">
                <a:solidFill>
                  <a:srgbClr val="1F1F1F"/>
                </a:solidFill>
                <a:latin typeface="Times New Roman"/>
              </a:rPr>
              <a:t>|</a:t>
            </a:r>
          </a:p>
        </p:txBody>
      </p:sp>
      <p:sp>
        <p:nvSpPr>
          <p:cNvPr id="25" name="TextBox 24"/>
          <p:cNvSpPr txBox="1"/>
          <p:nvPr/>
        </p:nvSpPr>
        <p:spPr>
          <a:xfrm>
            <a:off x="777240" y="23760560"/>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E[F]: expected bit flips   ·   p</a:t>
            </a:r>
            <a:r>
              <a:rPr sz="1800" b="0" i="1" baseline="-25000">
                <a:solidFill>
                  <a:srgbClr val="6F6F6F"/>
                </a:solidFill>
                <a:latin typeface="Times New Roman"/>
              </a:rPr>
              <a:t>i</a:t>
            </a:r>
            <a:r>
              <a:rPr sz="2000" b="0" i="1">
                <a:solidFill>
                  <a:srgbClr val="6F6F6F"/>
                </a:solidFill>
                <a:latin typeface="Times New Roman"/>
              </a:rPr>
              <a:t>(0): residual density at the code boundary</a:t>
            </a:r>
          </a:p>
        </p:txBody>
      </p:sp>
      <p:sp>
        <p:nvSpPr>
          <p:cNvPr id="26" name="TextBox 25"/>
          <p:cNvSpPr txBox="1"/>
          <p:nvPr/>
        </p:nvSpPr>
        <p:spPr>
          <a:xfrm>
            <a:off x="777240" y="24297007"/>
            <a:ext cx="14040612" cy="881583"/>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a density-weighted ℓ₁ norm of the gap: flip risk grows with |g</a:t>
            </a:r>
            <a:r>
              <a:rPr sz="1980" b="0" i="0" baseline="-25000">
                <a:solidFill>
                  <a:srgbClr val="1F1F1F"/>
                </a:solidFill>
                <a:latin typeface="Times New Roman"/>
              </a:rPr>
              <a:t>i</a:t>
            </a:r>
            <a:r>
              <a:rPr sz="2200" b="0" i="0">
                <a:solidFill>
                  <a:srgbClr val="1F1F1F"/>
                </a:solidFill>
                <a:latin typeface="Times New Roman"/>
              </a:rPr>
              <a:t>|. On CLIP-L the top 10% of dimensions carry ≈90% of ‖g‖², so the corruption is structured rather than random, biasing Hamming distances systematically.</a:t>
            </a:r>
          </a:p>
        </p:txBody>
      </p:sp>
      <p:sp>
        <p:nvSpPr>
          <p:cNvPr id="27" name="Rectangle 26"/>
          <p:cNvSpPr/>
          <p:nvPr/>
        </p:nvSpPr>
        <p:spPr>
          <a:xfrm>
            <a:off x="777240" y="25306606"/>
            <a:ext cx="14040612" cy="1384604"/>
          </a:xfrm>
          <a:prstGeom prst="rect">
            <a:avLst/>
          </a:prstGeom>
          <a:solidFill>
            <a:srgbClr val="F6F5F3"/>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14984" y="25544350"/>
            <a:ext cx="13565124" cy="909116"/>
          </a:xfrm>
          <a:prstGeom prst="rect">
            <a:avLst/>
          </a:prstGeom>
          <a:noFill/>
        </p:spPr>
        <p:txBody>
          <a:bodyPr wrap="square" lIns="0" rIns="0" tIns="0" bIns="0">
            <a:spAutoFit/>
          </a:bodyPr>
          <a:lstStyle/>
          <a:p>
            <a:pPr algn="l">
              <a:lnSpc>
                <a:spcPct val="128000"/>
              </a:lnSpc>
              <a:spcAft>
                <a:spcPts val="400"/>
              </a:spcAft>
            </a:pPr>
            <a:r>
              <a:rPr sz="2200" b="1" i="0">
                <a:solidFill>
                  <a:srgbClr val="1F1F1F"/>
                </a:solidFill>
                <a:latin typeface="Times New Roman"/>
              </a:rPr>
              <a:t>Oracle test — MSCOCO, CLIP-L, RaBitQ.   </a:t>
            </a:r>
            <a:r>
              <a:rPr sz="2200" b="0" i="0">
                <a:solidFill>
                  <a:srgbClr val="1F1F1F"/>
                </a:solidFill>
                <a:latin typeface="Times New Roman"/>
              </a:rPr>
              <a:t>Same-modality queries (‖g‖ = 0) reach R@100 = 0.71; cross-modal queries (‖g‖ = .82) fall to </a:t>
            </a:r>
            <a:r>
              <a:rPr sz="2200" b="1" i="0">
                <a:solidFill>
                  <a:srgbClr val="8B0029"/>
                </a:solidFill>
                <a:latin typeface="Times New Roman"/>
              </a:rPr>
              <a:t>0.54</a:t>
            </a:r>
            <a:r>
              <a:rPr sz="2200" b="0" i="0">
                <a:solidFill>
                  <a:srgbClr val="1F1F1F"/>
                </a:solidFill>
                <a:latin typeface="Times New Roman"/>
              </a:rPr>
              <a:t>. The loss is the gap, not the quantizer.</a:t>
            </a:r>
          </a:p>
        </p:txBody>
      </p:sp>
      <p:sp>
        <p:nvSpPr>
          <p:cNvPr id="29" name="TextBox 28"/>
          <p:cNvSpPr txBox="1"/>
          <p:nvPr/>
        </p:nvSpPr>
        <p:spPr>
          <a:xfrm>
            <a:off x="777240" y="26764362"/>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2.  Method: PMC correction</a:t>
            </a:r>
          </a:p>
        </p:txBody>
      </p:sp>
      <p:sp>
        <p:nvSpPr>
          <p:cNvPr id="30" name="Rectangle 29"/>
          <p:cNvSpPr/>
          <p:nvPr/>
        </p:nvSpPr>
        <p:spPr>
          <a:xfrm>
            <a:off x="777240" y="27370152"/>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7240" y="27447622"/>
            <a:ext cx="14040612" cy="881583"/>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PMC applies a one-time centroid alignment before index construction. From a small paired sample we compute g and shift database vectors toward the query centroid:</a:t>
            </a:r>
          </a:p>
        </p:txBody>
      </p:sp>
      <p:sp>
        <p:nvSpPr>
          <p:cNvPr id="32" name="TextBox 31"/>
          <p:cNvSpPr txBox="1"/>
          <p:nvPr/>
        </p:nvSpPr>
        <p:spPr>
          <a:xfrm>
            <a:off x="777240" y="28475509"/>
            <a:ext cx="14040612" cy="557784"/>
          </a:xfrm>
          <a:prstGeom prst="rect">
            <a:avLst/>
          </a:prstGeom>
          <a:noFill/>
        </p:spPr>
        <p:txBody>
          <a:bodyPr wrap="square" lIns="0" rIns="0" tIns="0" bIns="0">
            <a:spAutoFit/>
          </a:bodyPr>
          <a:lstStyle/>
          <a:p>
            <a:pPr algn="ctr">
              <a:lnSpc>
                <a:spcPct val="122000"/>
              </a:lnSpc>
              <a:spcAft>
                <a:spcPts val="0"/>
              </a:spcAft>
            </a:pPr>
            <a:r>
              <a:rPr sz="3000" b="1" i="0">
                <a:solidFill>
                  <a:srgbClr val="1F1F1F"/>
                </a:solidFill>
                <a:latin typeface="Times New Roman"/>
              </a:rPr>
              <a:t>x′ = (x + α g) / ‖x + α g‖ ,      q′ = (q − (1−α) g) / ‖q − (1−α) g‖</a:t>
            </a:r>
          </a:p>
        </p:txBody>
      </p:sp>
      <p:sp>
        <p:nvSpPr>
          <p:cNvPr id="33" name="TextBox 32"/>
          <p:cNvSpPr txBox="1"/>
          <p:nvPr/>
        </p:nvSpPr>
        <p:spPr>
          <a:xfrm>
            <a:off x="777240" y="29033293"/>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x: database vector   ·   q: query   ·   g: modality gap   ·   α ∈ [0,1]: shift strength  (α = 1  →  q′ = q)</a:t>
            </a:r>
          </a:p>
        </p:txBody>
      </p:sp>
      <p:sp>
        <p:nvSpPr>
          <p:cNvPr id="34" name="TextBox 33"/>
          <p:cNvSpPr txBox="1"/>
          <p:nvPr/>
        </p:nvSpPr>
        <p:spPr>
          <a:xfrm>
            <a:off x="777240" y="29569740"/>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α interpolates between full query-side correction (α = 0, mean shift) and full database-side alignment (α = 1). The BQ index is built on {x′}; at α = 1 the query-time transform is identity, so serving incurs no extra cost. Per-vector renormalization preserves the unit-norm structure, and the α-sweep confirms α = 1 is best or near-best in every setting.</a:t>
            </a:r>
          </a:p>
        </p:txBody>
      </p:sp>
      <p:sp>
        <p:nvSpPr>
          <p:cNvPr id="35" name="Rectangle 34"/>
          <p:cNvSpPr/>
          <p:nvPr/>
        </p:nvSpPr>
        <p:spPr>
          <a:xfrm>
            <a:off x="777240" y="31006668"/>
            <a:ext cx="14040612" cy="2794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7240" y="31098108"/>
            <a:ext cx="14040612" cy="427634"/>
          </a:xfrm>
          <a:prstGeom prst="rect">
            <a:avLst/>
          </a:prstGeom>
          <a:noFill/>
        </p:spPr>
        <p:txBody>
          <a:bodyPr wrap="square" lIns="0" rIns="0" tIns="0" bIns="0">
            <a:spAutoFit/>
          </a:bodyPr>
          <a:lstStyle/>
          <a:p>
            <a:pPr algn="l">
              <a:lnSpc>
                <a:spcPct val="122000"/>
              </a:lnSpc>
              <a:spcAft>
                <a:spcPts val="0"/>
              </a:spcAft>
            </a:pPr>
            <a:r>
              <a:rPr sz="2300" b="1" i="0">
                <a:solidFill>
                  <a:srgbClr val="1F1F1F"/>
                </a:solidFill>
                <a:latin typeface="Times New Roman"/>
              </a:rPr>
              <a:t>Algorithm 1  PMC Index Construction</a:t>
            </a:r>
          </a:p>
        </p:txBody>
      </p:sp>
      <p:sp>
        <p:nvSpPr>
          <p:cNvPr id="37" name="Rectangle 36"/>
          <p:cNvSpPr/>
          <p:nvPr/>
        </p:nvSpPr>
        <p:spPr>
          <a:xfrm>
            <a:off x="777240" y="31598894"/>
            <a:ext cx="14040612" cy="1270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77240" y="31690334"/>
            <a:ext cx="14040612" cy="4087368"/>
          </a:xfrm>
          <a:prstGeom prst="rect">
            <a:avLst/>
          </a:prstGeom>
          <a:noFill/>
        </p:spPr>
        <p:txBody>
          <a:bodyPr wrap="square" lIns="0" rIns="0" tIns="0" bIns="0">
            <a:spAutoFit/>
          </a:bodyPr>
          <a:lstStyle/>
          <a:p>
            <a:pPr algn="l">
              <a:lnSpc>
                <a:spcPct val="130000"/>
              </a:lnSpc>
              <a:spcAft>
                <a:spcPts val="300"/>
              </a:spcAft>
            </a:pPr>
            <a:r>
              <a:rPr sz="2100" b="1" i="0">
                <a:solidFill>
                  <a:srgbClr val="1F1F1F"/>
                </a:solidFill>
                <a:latin typeface="Times New Roman"/>
              </a:rPr>
              <a:t>Require:</a:t>
            </a:r>
            <a:r>
              <a:rPr sz="2100" b="0" i="0">
                <a:solidFill>
                  <a:srgbClr val="1F1F1F"/>
                </a:solidFill>
                <a:latin typeface="Times New Roman"/>
              </a:rPr>
              <a:t>  database X (modality b), query sample Q (modality a), interpolation α</a:t>
            </a:r>
          </a:p>
          <a:p>
            <a:pPr algn="l">
              <a:lnSpc>
                <a:spcPct val="130000"/>
              </a:lnSpc>
              <a:spcAft>
                <a:spcPts val="300"/>
              </a:spcAft>
            </a:pPr>
            <a:r>
              <a:rPr sz="2100" b="1" i="0">
                <a:solidFill>
                  <a:srgbClr val="1F1F1F"/>
                </a:solidFill>
                <a:latin typeface="Times New Roman"/>
              </a:rPr>
              <a:t>Ensure:</a:t>
            </a:r>
            <a:r>
              <a:rPr sz="2100" b="0" i="0">
                <a:solidFill>
                  <a:srgbClr val="1F1F1F"/>
                </a:solidFill>
                <a:latin typeface="Times New Roman"/>
              </a:rPr>
              <a:t>  IVF-based quantized index I and gap g</a:t>
            </a:r>
          </a:p>
          <a:p>
            <a:pPr algn="l">
              <a:lnSpc>
                <a:spcPct val="130000"/>
              </a:lnSpc>
              <a:spcAft>
                <a:spcPts val="300"/>
              </a:spcAft>
            </a:pPr>
            <a:r>
              <a:rPr sz="2100" b="0" i="0">
                <a:solidFill>
                  <a:srgbClr val="1F1F1F"/>
                </a:solidFill>
                <a:latin typeface="Times New Roman"/>
              </a:rPr>
              <a:t>1:  μ</a:t>
            </a:r>
            <a:r>
              <a:rPr sz="1890" b="0" i="0" baseline="-25000">
                <a:solidFill>
                  <a:srgbClr val="1F1F1F"/>
                </a:solidFill>
                <a:latin typeface="Times New Roman"/>
              </a:rPr>
              <a:t>q</a:t>
            </a:r>
            <a:r>
              <a:rPr sz="2100" b="0" i="0">
                <a:solidFill>
                  <a:srgbClr val="1F1F1F"/>
                </a:solidFill>
                <a:latin typeface="Times New Roman"/>
              </a:rPr>
              <a:t> ← mean(Q);   μ</a:t>
            </a:r>
            <a:r>
              <a:rPr sz="1890" b="0" i="0" baseline="-25000">
                <a:solidFill>
                  <a:srgbClr val="1F1F1F"/>
                </a:solidFill>
                <a:latin typeface="Times New Roman"/>
              </a:rPr>
              <a:t>x</a:t>
            </a:r>
            <a:r>
              <a:rPr sz="2100" b="0" i="0">
                <a:solidFill>
                  <a:srgbClr val="1F1F1F"/>
                </a:solidFill>
                <a:latin typeface="Times New Roman"/>
              </a:rPr>
              <a:t> ← mean(X)</a:t>
            </a:r>
          </a:p>
          <a:p>
            <a:pPr algn="l">
              <a:lnSpc>
                <a:spcPct val="130000"/>
              </a:lnSpc>
              <a:spcAft>
                <a:spcPts val="300"/>
              </a:spcAft>
            </a:pPr>
            <a:r>
              <a:rPr sz="2100" b="0" i="0">
                <a:solidFill>
                  <a:srgbClr val="1F1F1F"/>
                </a:solidFill>
                <a:latin typeface="Times New Roman"/>
              </a:rPr>
              <a:t>2:  g ← μ</a:t>
            </a:r>
            <a:r>
              <a:rPr sz="1890" b="0" i="0" baseline="-25000">
                <a:solidFill>
                  <a:srgbClr val="1F1F1F"/>
                </a:solidFill>
                <a:latin typeface="Times New Roman"/>
              </a:rPr>
              <a:t>q</a:t>
            </a:r>
            <a:r>
              <a:rPr sz="2100" b="0" i="0">
                <a:solidFill>
                  <a:srgbClr val="1F1F1F"/>
                </a:solidFill>
                <a:latin typeface="Times New Roman"/>
              </a:rPr>
              <a:t> − μ</a:t>
            </a:r>
            <a:r>
              <a:rPr sz="1890" b="0" i="0" baseline="-25000">
                <a:solidFill>
                  <a:srgbClr val="1F1F1F"/>
                </a:solidFill>
                <a:latin typeface="Times New Roman"/>
              </a:rPr>
              <a:t>x</a:t>
            </a:r>
          </a:p>
          <a:p>
            <a:pPr algn="l">
              <a:lnSpc>
                <a:spcPct val="130000"/>
              </a:lnSpc>
              <a:spcAft>
                <a:spcPts val="300"/>
              </a:spcAft>
            </a:pPr>
            <a:r>
              <a:rPr sz="2100" b="0" i="0">
                <a:solidFill>
                  <a:srgbClr val="1F1F1F"/>
                </a:solidFill>
                <a:latin typeface="Times New Roman"/>
              </a:rPr>
              <a:t>3:  for each x ∈ X do</a:t>
            </a:r>
          </a:p>
          <a:p>
            <a:pPr algn="l">
              <a:lnSpc>
                <a:spcPct val="130000"/>
              </a:lnSpc>
              <a:spcAft>
                <a:spcPts val="300"/>
              </a:spcAft>
            </a:pPr>
            <a:r>
              <a:rPr sz="2100" b="0" i="0">
                <a:solidFill>
                  <a:srgbClr val="1F1F1F"/>
                </a:solidFill>
                <a:latin typeface="Times New Roman"/>
              </a:rPr>
              <a:t>4:      x′ ← normalize(x + α g)</a:t>
            </a:r>
          </a:p>
          <a:p>
            <a:pPr algn="l">
              <a:lnSpc>
                <a:spcPct val="130000"/>
              </a:lnSpc>
              <a:spcAft>
                <a:spcPts val="300"/>
              </a:spcAft>
            </a:pPr>
            <a:r>
              <a:rPr sz="2100" b="0" i="0">
                <a:solidFill>
                  <a:srgbClr val="1F1F1F"/>
                </a:solidFill>
                <a:latin typeface="Times New Roman"/>
              </a:rPr>
              <a:t>5:  end for</a:t>
            </a:r>
          </a:p>
          <a:p>
            <a:pPr algn="l">
              <a:lnSpc>
                <a:spcPct val="130000"/>
              </a:lnSpc>
              <a:spcAft>
                <a:spcPts val="300"/>
              </a:spcAft>
            </a:pPr>
            <a:r>
              <a:rPr sz="2100" b="0" i="0">
                <a:solidFill>
                  <a:srgbClr val="1F1F1F"/>
                </a:solidFill>
                <a:latin typeface="Times New Roman"/>
              </a:rPr>
              <a:t>6:  I ← BuildIndex({x′})        — RaBitQ · BBQ · BinaryFlat</a:t>
            </a:r>
          </a:p>
          <a:p>
            <a:pPr algn="l">
              <a:lnSpc>
                <a:spcPct val="130000"/>
              </a:lnSpc>
              <a:spcAft>
                <a:spcPts val="300"/>
              </a:spcAft>
            </a:pPr>
            <a:r>
              <a:rPr sz="2100" b="0" i="0">
                <a:solidFill>
                  <a:srgbClr val="1F1F1F"/>
                </a:solidFill>
                <a:latin typeface="Times New Roman"/>
              </a:rPr>
              <a:t>7:  return I, g</a:t>
            </a:r>
          </a:p>
        </p:txBody>
      </p:sp>
      <p:sp>
        <p:nvSpPr>
          <p:cNvPr id="39" name="Rectangle 38"/>
          <p:cNvSpPr/>
          <p:nvPr/>
        </p:nvSpPr>
        <p:spPr>
          <a:xfrm>
            <a:off x="777240" y="35850854"/>
            <a:ext cx="14040612" cy="2794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77240" y="36143462"/>
            <a:ext cx="14040612" cy="472541"/>
          </a:xfrm>
          <a:prstGeom prst="rect">
            <a:avLst/>
          </a:prstGeom>
          <a:noFill/>
        </p:spPr>
        <p:txBody>
          <a:bodyPr wrap="square" lIns="0" rIns="0" tIns="0" bIns="0">
            <a:spAutoFit/>
          </a:bodyPr>
          <a:lstStyle/>
          <a:p>
            <a:pPr algn="l">
              <a:lnSpc>
                <a:spcPct val="122000"/>
              </a:lnSpc>
              <a:spcAft>
                <a:spcPts val="500"/>
              </a:spcAft>
            </a:pPr>
            <a:r>
              <a:rPr sz="2200" b="1" i="0">
                <a:solidFill>
                  <a:srgbClr val="1F1F1F"/>
                </a:solidFill>
                <a:latin typeface="Times New Roman"/>
              </a:rPr>
              <a:t>Selective PMC as a mechanism test.  </a:t>
            </a:r>
            <a:r>
              <a:rPr sz="2200" b="0" i="0">
                <a:solidFill>
                  <a:srgbClr val="1F1F1F"/>
                </a:solidFill>
                <a:latin typeface="Times New Roman"/>
              </a:rPr>
              <a:t>Correction restricted to the top-P% of dimensions ranked by |g</a:t>
            </a:r>
            <a:r>
              <a:rPr sz="1980" b="0" i="0" baseline="-25000">
                <a:solidFill>
                  <a:srgbClr val="1F1F1F"/>
                </a:solidFill>
                <a:latin typeface="Times New Roman"/>
              </a:rPr>
              <a:t>i</a:t>
            </a:r>
            <a:r>
              <a:rPr sz="2200" b="0" i="0">
                <a:solidFill>
                  <a:srgbClr val="1F1F1F"/>
                </a:solidFill>
                <a:latin typeface="Times New Roman"/>
              </a:rPr>
              <a:t>|,</a:t>
            </a:r>
          </a:p>
        </p:txBody>
      </p:sp>
      <p:sp>
        <p:nvSpPr>
          <p:cNvPr id="41" name="TextBox 40"/>
          <p:cNvSpPr txBox="1"/>
          <p:nvPr/>
        </p:nvSpPr>
        <p:spPr>
          <a:xfrm>
            <a:off x="777240" y="36762307"/>
            <a:ext cx="14040612" cy="520598"/>
          </a:xfrm>
          <a:prstGeom prst="rect">
            <a:avLst/>
          </a:prstGeom>
          <a:noFill/>
        </p:spPr>
        <p:txBody>
          <a:bodyPr wrap="square" lIns="0" rIns="0" tIns="0" bIns="0">
            <a:spAutoFit/>
          </a:bodyPr>
          <a:lstStyle/>
          <a:p>
            <a:pPr algn="ctr">
              <a:lnSpc>
                <a:spcPct val="122000"/>
              </a:lnSpc>
              <a:spcAft>
                <a:spcPts val="0"/>
              </a:spcAft>
            </a:pPr>
            <a:r>
              <a:rPr sz="2800" b="1" i="0">
                <a:solidFill>
                  <a:srgbClr val="1F1F1F"/>
                </a:solidFill>
                <a:latin typeface="Times New Roman"/>
              </a:rPr>
              <a:t>g</a:t>
            </a:r>
            <a:r>
              <a:rPr sz="2520" b="1" i="0" baseline="-25000">
                <a:solidFill>
                  <a:srgbClr val="1F1F1F"/>
                </a:solidFill>
                <a:latin typeface="Times New Roman"/>
              </a:rPr>
              <a:t>sel,i</a:t>
            </a:r>
            <a:r>
              <a:rPr sz="2800" b="1" i="0">
                <a:solidFill>
                  <a:srgbClr val="1F1F1F"/>
                </a:solidFill>
                <a:latin typeface="Times New Roman"/>
              </a:rPr>
              <a:t> = g</a:t>
            </a:r>
            <a:r>
              <a:rPr sz="2520" b="1" i="0" baseline="-25000">
                <a:solidFill>
                  <a:srgbClr val="1F1F1F"/>
                </a:solidFill>
                <a:latin typeface="Times New Roman"/>
              </a:rPr>
              <a:t>i</a:t>
            </a:r>
            <a:r>
              <a:rPr sz="2800" b="1" i="0">
                <a:solidFill>
                  <a:srgbClr val="1F1F1F"/>
                </a:solidFill>
                <a:latin typeface="Times New Roman"/>
              </a:rPr>
              <a:t>  if  |g</a:t>
            </a:r>
            <a:r>
              <a:rPr sz="2520" b="1" i="0" baseline="-25000">
                <a:solidFill>
                  <a:srgbClr val="1F1F1F"/>
                </a:solidFill>
                <a:latin typeface="Times New Roman"/>
              </a:rPr>
              <a:t>i</a:t>
            </a:r>
            <a:r>
              <a:rPr sz="2800" b="1" i="0">
                <a:solidFill>
                  <a:srgbClr val="1F1F1F"/>
                </a:solidFill>
                <a:latin typeface="Times New Roman"/>
              </a:rPr>
              <a:t>| ≥ |g|</a:t>
            </a:r>
            <a:r>
              <a:rPr sz="2520" b="1" i="0" baseline="-25000">
                <a:solidFill>
                  <a:srgbClr val="1F1F1F"/>
                </a:solidFill>
                <a:latin typeface="Times New Roman"/>
              </a:rPr>
              <a:t>(P)</a:t>
            </a:r>
            <a:r>
              <a:rPr sz="2800" b="1" i="0">
                <a:solidFill>
                  <a:srgbClr val="1F1F1F"/>
                </a:solidFill>
                <a:latin typeface="Times New Roman"/>
              </a:rPr>
              <a:t> ,  0  otherwise ;      x′</a:t>
            </a:r>
            <a:r>
              <a:rPr sz="2520" b="1" i="0" baseline="-25000">
                <a:solidFill>
                  <a:srgbClr val="1F1F1F"/>
                </a:solidFill>
                <a:latin typeface="Times New Roman"/>
              </a:rPr>
              <a:t>sel</a:t>
            </a:r>
            <a:r>
              <a:rPr sz="2800" b="1" i="0">
                <a:solidFill>
                  <a:srgbClr val="1F1F1F"/>
                </a:solidFill>
                <a:latin typeface="Times New Roman"/>
              </a:rPr>
              <a:t> = (x + α g</a:t>
            </a:r>
            <a:r>
              <a:rPr sz="2520" b="1" i="0" baseline="-25000">
                <a:solidFill>
                  <a:srgbClr val="1F1F1F"/>
                </a:solidFill>
                <a:latin typeface="Times New Roman"/>
              </a:rPr>
              <a:t>sel</a:t>
            </a:r>
            <a:r>
              <a:rPr sz="2800" b="1" i="0">
                <a:solidFill>
                  <a:srgbClr val="1F1F1F"/>
                </a:solidFill>
                <a:latin typeface="Times New Roman"/>
              </a:rPr>
              <a:t>) / ‖x + α g</a:t>
            </a:r>
            <a:r>
              <a:rPr sz="2520" b="1" i="0" baseline="-25000">
                <a:solidFill>
                  <a:srgbClr val="1F1F1F"/>
                </a:solidFill>
                <a:latin typeface="Times New Roman"/>
              </a:rPr>
              <a:t>sel</a:t>
            </a:r>
            <a:r>
              <a:rPr sz="2800" b="1" i="0">
                <a:solidFill>
                  <a:srgbClr val="1F1F1F"/>
                </a:solidFill>
                <a:latin typeface="Times New Roman"/>
              </a:rPr>
              <a:t>‖</a:t>
            </a:r>
          </a:p>
        </p:txBody>
      </p:sp>
      <p:sp>
        <p:nvSpPr>
          <p:cNvPr id="42" name="TextBox 41"/>
          <p:cNvSpPr txBox="1"/>
          <p:nvPr/>
        </p:nvSpPr>
        <p:spPr>
          <a:xfrm>
            <a:off x="777240" y="37282905"/>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g</a:t>
            </a:r>
            <a:r>
              <a:rPr sz="1800" b="0" i="1" baseline="-25000">
                <a:solidFill>
                  <a:srgbClr val="6F6F6F"/>
                </a:solidFill>
                <a:latin typeface="Times New Roman"/>
              </a:rPr>
              <a:t>sel</a:t>
            </a:r>
            <a:r>
              <a:rPr sz="2000" b="0" i="1">
                <a:solidFill>
                  <a:srgbClr val="6F6F6F"/>
                </a:solidFill>
                <a:latin typeface="Times New Roman"/>
              </a:rPr>
              <a:t>: truncated gap   ·   |g|</a:t>
            </a:r>
            <a:r>
              <a:rPr sz="1800" b="0" i="1" baseline="-25000">
                <a:solidFill>
                  <a:srgbClr val="6F6F6F"/>
                </a:solidFill>
                <a:latin typeface="Times New Roman"/>
              </a:rPr>
              <a:t>(P)</a:t>
            </a:r>
            <a:r>
              <a:rPr sz="2000" b="0" i="1">
                <a:solidFill>
                  <a:srgbClr val="6F6F6F"/>
                </a:solidFill>
                <a:latin typeface="Times New Roman"/>
              </a:rPr>
              <a:t>: top-P% magnitude threshold</a:t>
            </a:r>
          </a:p>
        </p:txBody>
      </p:sp>
      <p:sp>
        <p:nvSpPr>
          <p:cNvPr id="43" name="TextBox 42"/>
          <p:cNvSpPr txBox="1"/>
          <p:nvPr/>
        </p:nvSpPr>
        <p:spPr>
          <a:xfrm>
            <a:off x="777240" y="37965656"/>
            <a:ext cx="14040612" cy="520598"/>
          </a:xfrm>
          <a:prstGeom prst="rect">
            <a:avLst/>
          </a:prstGeom>
          <a:noFill/>
        </p:spPr>
        <p:txBody>
          <a:bodyPr wrap="square" lIns="0" rIns="0" tIns="0" bIns="0">
            <a:spAutoFit/>
          </a:bodyPr>
          <a:lstStyle/>
          <a:p>
            <a:pPr algn="ctr">
              <a:lnSpc>
                <a:spcPct val="122000"/>
              </a:lnSpc>
              <a:spcAft>
                <a:spcPts val="0"/>
              </a:spcAft>
            </a:pPr>
            <a:r>
              <a:rPr sz="2800" b="1" i="0">
                <a:solidFill>
                  <a:srgbClr val="1F1F1F"/>
                </a:solidFill>
                <a:latin typeface="Times New Roman"/>
              </a:rPr>
              <a:t>E(P)  =  Σ</a:t>
            </a:r>
            <a:r>
              <a:rPr sz="2520" b="1" i="0" baseline="-25000">
                <a:solidFill>
                  <a:srgbClr val="1F1F1F"/>
                </a:solidFill>
                <a:latin typeface="Times New Roman"/>
              </a:rPr>
              <a:t>i ∈ S(P)</a:t>
            </a:r>
            <a:r>
              <a:rPr sz="2800" b="1" i="0">
                <a:solidFill>
                  <a:srgbClr val="1F1F1F"/>
                </a:solidFill>
                <a:latin typeface="Times New Roman"/>
              </a:rPr>
              <a:t> g</a:t>
            </a:r>
            <a:r>
              <a:rPr sz="2520" b="1" i="0" baseline="-25000">
                <a:solidFill>
                  <a:srgbClr val="1F1F1F"/>
                </a:solidFill>
                <a:latin typeface="Times New Roman"/>
              </a:rPr>
              <a:t>i</a:t>
            </a:r>
            <a:r>
              <a:rPr sz="2800" b="1" i="0">
                <a:solidFill>
                  <a:srgbClr val="1F1F1F"/>
                </a:solidFill>
                <a:latin typeface="Times New Roman"/>
              </a:rPr>
              <a:t>²  /  ‖g‖² ,      S(P) = { i : |g</a:t>
            </a:r>
            <a:r>
              <a:rPr sz="2520" b="1" i="0" baseline="-25000">
                <a:solidFill>
                  <a:srgbClr val="1F1F1F"/>
                </a:solidFill>
                <a:latin typeface="Times New Roman"/>
              </a:rPr>
              <a:t>i</a:t>
            </a:r>
            <a:r>
              <a:rPr sz="2800" b="1" i="0">
                <a:solidFill>
                  <a:srgbClr val="1F1F1F"/>
                </a:solidFill>
                <a:latin typeface="Times New Roman"/>
              </a:rPr>
              <a:t>| ≥ |g|</a:t>
            </a:r>
            <a:r>
              <a:rPr sz="2520" b="1" i="0" baseline="-25000">
                <a:solidFill>
                  <a:srgbClr val="1F1F1F"/>
                </a:solidFill>
                <a:latin typeface="Times New Roman"/>
              </a:rPr>
              <a:t>(P)</a:t>
            </a:r>
            <a:r>
              <a:rPr sz="2800" b="1" i="0">
                <a:solidFill>
                  <a:srgbClr val="1F1F1F"/>
                </a:solidFill>
                <a:latin typeface="Times New Roman"/>
              </a:rPr>
              <a:t> }</a:t>
            </a:r>
          </a:p>
        </p:txBody>
      </p:sp>
      <p:sp>
        <p:nvSpPr>
          <p:cNvPr id="44" name="TextBox 43"/>
          <p:cNvSpPr txBox="1"/>
          <p:nvPr/>
        </p:nvSpPr>
        <p:spPr>
          <a:xfrm>
            <a:off x="777240" y="38486254"/>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E(P): captured gap-energy fraction   ·   S(P): top-P% index set</a:t>
            </a:r>
          </a:p>
        </p:txBody>
      </p:sp>
      <p:sp>
        <p:nvSpPr>
          <p:cNvPr id="45" name="TextBox 44"/>
          <p:cNvSpPr txBox="1"/>
          <p:nvPr/>
        </p:nvSpPr>
        <p:spPr>
          <a:xfrm>
            <a:off x="777240" y="39022701"/>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isolates the mechanism. Since flip risk concentrates in high-|g</a:t>
            </a:r>
            <a:r>
              <a:rPr sz="1980" b="0" i="0" baseline="-25000">
                <a:solidFill>
                  <a:srgbClr val="1F1F1F"/>
                </a:solidFill>
                <a:latin typeface="Times New Roman"/>
              </a:rPr>
              <a:t>i</a:t>
            </a:r>
            <a:r>
              <a:rPr sz="2200" b="0" i="0">
                <a:solidFill>
                  <a:srgbClr val="1F1F1F"/>
                </a:solidFill>
                <a:latin typeface="Times New Roman"/>
              </a:rPr>
              <a:t>| dimensions, correcting only the highest-energy ones suffices: for CLIP the top 10% carry 86–92% of gap energy, so P = 5% already recovers peak recall; ImageBind's diffuse gap (≈72%) requires full-vector correction.</a:t>
            </a:r>
          </a:p>
        </p:txBody>
      </p:sp>
      <p:sp>
        <p:nvSpPr>
          <p:cNvPr id="46" name="TextBox 45"/>
          <p:cNvSpPr txBox="1"/>
          <p:nvPr/>
        </p:nvSpPr>
        <p:spPr>
          <a:xfrm>
            <a:off x="15457932" y="5257800"/>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3.  PMC workflow</a:t>
            </a:r>
          </a:p>
        </p:txBody>
      </p:sp>
      <p:sp>
        <p:nvSpPr>
          <p:cNvPr id="47" name="Rectangle 46"/>
          <p:cNvSpPr/>
          <p:nvPr/>
        </p:nvSpPr>
        <p:spPr>
          <a:xfrm>
            <a:off x="15457932" y="5863590"/>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asset_fig2ov.png"/>
          <p:cNvPicPr>
            <a:picLocks noChangeAspect="1"/>
          </p:cNvPicPr>
          <p:nvPr/>
        </p:nvPicPr>
        <p:blipFill>
          <a:blip r:embed="rId6"/>
          <a:stretch>
            <a:fillRect/>
          </a:stretch>
        </p:blipFill>
        <p:spPr>
          <a:xfrm>
            <a:off x="16440775" y="5941060"/>
            <a:ext cx="12074926" cy="8044713"/>
          </a:xfrm>
          <a:prstGeom prst="rect">
            <a:avLst/>
          </a:prstGeom>
        </p:spPr>
      </p:pic>
      <p:sp>
        <p:nvSpPr>
          <p:cNvPr id="49" name="TextBox 48"/>
          <p:cNvSpPr txBox="1"/>
          <p:nvPr/>
        </p:nvSpPr>
        <p:spPr>
          <a:xfrm>
            <a:off x="15457932" y="14077213"/>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Calibration estimates μ</a:t>
            </a:r>
            <a:r>
              <a:rPr sz="1980" b="0" i="0" baseline="-25000">
                <a:solidFill>
                  <a:srgbClr val="1F1F1F"/>
                </a:solidFill>
                <a:latin typeface="Times New Roman"/>
              </a:rPr>
              <a:t>q</a:t>
            </a:r>
            <a:r>
              <a:rPr sz="2200" b="0" i="0">
                <a:solidFill>
                  <a:srgbClr val="1F1F1F"/>
                </a:solidFill>
                <a:latin typeface="Times New Roman"/>
              </a:rPr>
              <a:t>, μ</a:t>
            </a:r>
            <a:r>
              <a:rPr sz="1980" b="0" i="0" baseline="-25000">
                <a:solidFill>
                  <a:srgbClr val="1F1F1F"/>
                </a:solidFill>
                <a:latin typeface="Times New Roman"/>
              </a:rPr>
              <a:t>x</a:t>
            </a:r>
            <a:r>
              <a:rPr sz="2200" b="0" i="0">
                <a:solidFill>
                  <a:srgbClr val="1F1F1F"/>
                </a:solidFill>
                <a:latin typeface="Times New Roman"/>
              </a:rPr>
              <a:t> and g = μ</a:t>
            </a:r>
            <a:r>
              <a:rPr sz="1980" b="0" i="0" baseline="-25000">
                <a:solidFill>
                  <a:srgbClr val="1F1F1F"/>
                </a:solidFill>
                <a:latin typeface="Times New Roman"/>
              </a:rPr>
              <a:t>q</a:t>
            </a:r>
            <a:r>
              <a:rPr sz="2200" b="0" i="0">
                <a:solidFill>
                  <a:srgbClr val="1F1F1F"/>
                </a:solidFill>
                <a:latin typeface="Times New Roman"/>
              </a:rPr>
              <a:t> − μ</a:t>
            </a:r>
            <a:r>
              <a:rPr sz="1980" b="0" i="0" baseline="-25000">
                <a:solidFill>
                  <a:srgbClr val="1F1F1F"/>
                </a:solidFill>
                <a:latin typeface="Times New Roman"/>
              </a:rPr>
              <a:t>x</a:t>
            </a:r>
            <a:r>
              <a:rPr sz="2200" b="0" i="0">
                <a:solidFill>
                  <a:srgbClr val="1F1F1F"/>
                </a:solidFill>
                <a:latin typeface="Times New Roman"/>
              </a:rPr>
              <a:t>; the offline build shifts and renormalizes database vectors before BQ index construction; at α = 1 online serving uses q′ = q and searches the corrected index — zero query-time transform, zero extra index memory.</a:t>
            </a:r>
          </a:p>
        </p:txBody>
      </p:sp>
      <p:sp>
        <p:nvSpPr>
          <p:cNvPr id="50" name="TextBox 49"/>
          <p:cNvSpPr txBox="1"/>
          <p:nvPr/>
        </p:nvSpPr>
        <p:spPr>
          <a:xfrm>
            <a:off x="15457932" y="15440989"/>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4.  Results</a:t>
            </a:r>
          </a:p>
        </p:txBody>
      </p:sp>
      <p:sp>
        <p:nvSpPr>
          <p:cNvPr id="51" name="Rectangle 50"/>
          <p:cNvSpPr/>
          <p:nvPr/>
        </p:nvSpPr>
        <p:spPr>
          <a:xfrm>
            <a:off x="15457932" y="16046779"/>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5457932" y="16124249"/>
            <a:ext cx="14040612" cy="1234846"/>
          </a:xfrm>
          <a:prstGeom prst="rect">
            <a:avLst/>
          </a:prstGeom>
          <a:noFill/>
        </p:spPr>
        <p:txBody>
          <a:bodyPr wrap="square" lIns="0" rIns="0" tIns="0" bIns="0">
            <a:spAutoFit/>
          </a:bodyPr>
          <a:lstStyle/>
          <a:p>
            <a:pPr algn="l">
              <a:lnSpc>
                <a:spcPct val="122000"/>
              </a:lnSpc>
              <a:spcAft>
                <a:spcPts val="500"/>
              </a:spcAft>
            </a:pPr>
            <a:r>
              <a:rPr sz="2100" b="0" i="0">
                <a:solidFill>
                  <a:srgbClr val="6F6F6F"/>
                </a:solidFill>
                <a:latin typeface="Times New Roman"/>
              </a:rPr>
              <a:t>Five benchmarks (MSCOCO, Flickr30K, Clotho, AudioCaps, LAION-400M — up to 407 M vectors), three frozen encoders (CLIP-B/32, CLIP-L/14, ImageBind) and four BQ index types; FAISS IVFRaBitQFastScan at 72–136 B/vec, n</a:t>
            </a:r>
            <a:r>
              <a:rPr sz="1890" b="0" i="0" baseline="-25000">
                <a:solidFill>
                  <a:srgbClr val="6F6F6F"/>
                </a:solidFill>
                <a:latin typeface="Times New Roman"/>
              </a:rPr>
              <a:t>list</a:t>
            </a:r>
            <a:r>
              <a:rPr sz="2100" b="0" i="0">
                <a:solidFill>
                  <a:srgbClr val="6F6F6F"/>
                </a:solidFill>
                <a:latin typeface="Times New Roman"/>
              </a:rPr>
              <a:t> = ⌈√n⌉, n</a:t>
            </a:r>
            <a:r>
              <a:rPr sz="1890" b="0" i="0" baseline="-25000">
                <a:solidFill>
                  <a:srgbClr val="6F6F6F"/>
                </a:solidFill>
                <a:latin typeface="Times New Roman"/>
              </a:rPr>
              <a:t>probe</a:t>
            </a:r>
            <a:r>
              <a:rPr sz="2100" b="0" i="0">
                <a:solidFill>
                  <a:srgbClr val="6F6F6F"/>
                </a:solidFill>
                <a:latin typeface="Times New Roman"/>
              </a:rPr>
              <a:t> ≈ n</a:t>
            </a:r>
            <a:r>
              <a:rPr sz="1890" b="0" i="0" baseline="-25000">
                <a:solidFill>
                  <a:srgbClr val="6F6F6F"/>
                </a:solidFill>
                <a:latin typeface="Times New Roman"/>
              </a:rPr>
              <a:t>list</a:t>
            </a:r>
            <a:r>
              <a:rPr sz="2100" b="0" i="0">
                <a:solidFill>
                  <a:srgbClr val="6F6F6F"/>
                </a:solidFill>
                <a:latin typeface="Times New Roman"/>
              </a:rPr>
              <a:t>/4; R@100 against exact ground truth, single-thread CPU.</a:t>
            </a:r>
          </a:p>
        </p:txBody>
      </p:sp>
      <p:sp>
        <p:nvSpPr>
          <p:cNvPr id="53" name="TextBox 52"/>
          <p:cNvSpPr txBox="1"/>
          <p:nvPr/>
        </p:nvSpPr>
        <p:spPr>
          <a:xfrm>
            <a:off x="15457932" y="17468823"/>
            <a:ext cx="14040612" cy="446227"/>
          </a:xfrm>
          <a:prstGeom prst="rect">
            <a:avLst/>
          </a:prstGeom>
          <a:noFill/>
        </p:spPr>
        <p:txBody>
          <a:bodyPr wrap="square" lIns="0" rIns="0" tIns="0" bIns="0">
            <a:spAutoFit/>
          </a:bodyPr>
          <a:lstStyle/>
          <a:p>
            <a:pPr algn="l">
              <a:lnSpc>
                <a:spcPct val="122000"/>
              </a:lnSpc>
              <a:spcAft>
                <a:spcPts val="0"/>
              </a:spcAft>
            </a:pPr>
            <a:r>
              <a:rPr sz="2400" b="1" i="0">
                <a:solidFill>
                  <a:srgbClr val="1F1F1F"/>
                </a:solidFill>
                <a:latin typeface="Times New Roman"/>
              </a:rPr>
              <a:t>Every configuration, ordered by ‖g‖  </a:t>
            </a:r>
            <a:r>
              <a:rPr sz="2000" b="0" i="0">
                <a:solidFill>
                  <a:srgbClr val="6F6F6F"/>
                </a:solidFill>
                <a:latin typeface="Times New Roman"/>
              </a:rPr>
              <a:t>(Vanilla → PMC)</a:t>
            </a:r>
          </a:p>
        </p:txBody>
      </p:sp>
      <p:sp>
        <p:nvSpPr>
          <p:cNvPr id="54" name="TextBox 53"/>
          <p:cNvSpPr txBox="1"/>
          <p:nvPr/>
        </p:nvSpPr>
        <p:spPr>
          <a:xfrm>
            <a:off x="20080224" y="18024778"/>
            <a:ext cx="4297680" cy="365760"/>
          </a:xfrm>
          <a:prstGeom prst="rect">
            <a:avLst/>
          </a:prstGeom>
          <a:noFill/>
        </p:spPr>
        <p:txBody>
          <a:bodyPr wrap="none" anchor="ctr" lIns="0" rIns="0" tIns="0" bIns="0">
            <a:spAutoFit/>
          </a:bodyPr>
          <a:lstStyle/>
          <a:p>
            <a:pPr algn="ctr"/>
            <a:r>
              <a:rPr sz="2100" b="1" i="0">
                <a:solidFill>
                  <a:srgbClr val="1F1F1F"/>
                </a:solidFill>
                <a:latin typeface="Times New Roman"/>
              </a:rPr>
              <a:t>q→db</a:t>
            </a:r>
          </a:p>
        </p:txBody>
      </p:sp>
      <p:sp>
        <p:nvSpPr>
          <p:cNvPr id="55" name="Rectangle 54"/>
          <p:cNvSpPr/>
          <p:nvPr/>
        </p:nvSpPr>
        <p:spPr>
          <a:xfrm>
            <a:off x="20263104" y="18408826"/>
            <a:ext cx="3931920" cy="1524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5200864" y="18024778"/>
            <a:ext cx="4297680" cy="365760"/>
          </a:xfrm>
          <a:prstGeom prst="rect">
            <a:avLst/>
          </a:prstGeom>
          <a:noFill/>
        </p:spPr>
        <p:txBody>
          <a:bodyPr wrap="none" anchor="ctr" lIns="0" rIns="0" tIns="0" bIns="0">
            <a:spAutoFit/>
          </a:bodyPr>
          <a:lstStyle/>
          <a:p>
            <a:pPr algn="ctr"/>
            <a:r>
              <a:rPr sz="2100" b="1" i="0">
                <a:solidFill>
                  <a:srgbClr val="1F1F1F"/>
                </a:solidFill>
                <a:latin typeface="Times New Roman"/>
              </a:rPr>
              <a:t>db→q</a:t>
            </a:r>
          </a:p>
        </p:txBody>
      </p:sp>
      <p:sp>
        <p:nvSpPr>
          <p:cNvPr id="57" name="Rectangle 56"/>
          <p:cNvSpPr/>
          <p:nvPr/>
        </p:nvSpPr>
        <p:spPr>
          <a:xfrm>
            <a:off x="25383744" y="18408826"/>
            <a:ext cx="3931920" cy="1524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5457932" y="18445402"/>
            <a:ext cx="685800" cy="365760"/>
          </a:xfrm>
          <a:prstGeom prst="rect">
            <a:avLst/>
          </a:prstGeom>
          <a:noFill/>
        </p:spPr>
        <p:txBody>
          <a:bodyPr wrap="none" anchor="ctr" lIns="0" rIns="0" tIns="0" bIns="0">
            <a:spAutoFit/>
          </a:bodyPr>
          <a:lstStyle/>
          <a:p>
            <a:pPr algn="l"/>
            <a:r>
              <a:rPr sz="2000" b="1" i="0">
                <a:solidFill>
                  <a:srgbClr val="6F6F6F"/>
                </a:solidFill>
                <a:latin typeface="Times New Roman"/>
              </a:rPr>
              <a:t>‖g‖</a:t>
            </a:r>
          </a:p>
        </p:txBody>
      </p:sp>
      <p:sp>
        <p:nvSpPr>
          <p:cNvPr id="59" name="TextBox 58"/>
          <p:cNvSpPr txBox="1"/>
          <p:nvPr/>
        </p:nvSpPr>
        <p:spPr>
          <a:xfrm>
            <a:off x="16143732" y="18445402"/>
            <a:ext cx="3936492" cy="365760"/>
          </a:xfrm>
          <a:prstGeom prst="rect">
            <a:avLst/>
          </a:prstGeom>
          <a:noFill/>
        </p:spPr>
        <p:txBody>
          <a:bodyPr wrap="none" anchor="ctr" lIns="0" rIns="0" tIns="0" bIns="0">
            <a:spAutoFit/>
          </a:bodyPr>
          <a:lstStyle/>
          <a:p>
            <a:pPr algn="l"/>
            <a:r>
              <a:rPr sz="2000" b="1" i="0">
                <a:solidFill>
                  <a:srgbClr val="6F6F6F"/>
                </a:solidFill>
                <a:latin typeface="Times New Roman"/>
              </a:rPr>
              <a:t>Dataset · Enc.</a:t>
            </a:r>
          </a:p>
        </p:txBody>
      </p:sp>
      <p:sp>
        <p:nvSpPr>
          <p:cNvPr id="60" name="TextBox 59"/>
          <p:cNvSpPr txBox="1"/>
          <p:nvPr/>
        </p:nvSpPr>
        <p:spPr>
          <a:xfrm>
            <a:off x="20080224" y="18445402"/>
            <a:ext cx="2148840" cy="365760"/>
          </a:xfrm>
          <a:prstGeom prst="rect">
            <a:avLst/>
          </a:prstGeom>
          <a:noFill/>
        </p:spPr>
        <p:txBody>
          <a:bodyPr wrap="none" anchor="ctr" lIns="0" rIns="0" tIns="0" bIns="0">
            <a:spAutoFit/>
          </a:bodyPr>
          <a:lstStyle/>
          <a:p>
            <a:pPr algn="ctr"/>
            <a:r>
              <a:rPr sz="2000" b="1" i="0">
                <a:solidFill>
                  <a:srgbClr val="6F6F6F"/>
                </a:solidFill>
                <a:latin typeface="Times New Roman"/>
              </a:rPr>
              <a:t>R@10</a:t>
            </a:r>
          </a:p>
        </p:txBody>
      </p:sp>
      <p:sp>
        <p:nvSpPr>
          <p:cNvPr id="61" name="TextBox 60"/>
          <p:cNvSpPr txBox="1"/>
          <p:nvPr/>
        </p:nvSpPr>
        <p:spPr>
          <a:xfrm>
            <a:off x="22229064" y="18445402"/>
            <a:ext cx="2148840" cy="365760"/>
          </a:xfrm>
          <a:prstGeom prst="rect">
            <a:avLst/>
          </a:prstGeom>
          <a:noFill/>
        </p:spPr>
        <p:txBody>
          <a:bodyPr wrap="none" anchor="ctr" lIns="0" rIns="0" tIns="0" bIns="0">
            <a:spAutoFit/>
          </a:bodyPr>
          <a:lstStyle/>
          <a:p>
            <a:pPr algn="ctr"/>
            <a:r>
              <a:rPr sz="2000" b="1" i="0">
                <a:solidFill>
                  <a:srgbClr val="6F6F6F"/>
                </a:solidFill>
                <a:latin typeface="Times New Roman"/>
              </a:rPr>
              <a:t>R@100</a:t>
            </a:r>
          </a:p>
        </p:txBody>
      </p:sp>
      <p:sp>
        <p:nvSpPr>
          <p:cNvPr id="62" name="TextBox 61"/>
          <p:cNvSpPr txBox="1"/>
          <p:nvPr/>
        </p:nvSpPr>
        <p:spPr>
          <a:xfrm>
            <a:off x="25200864" y="18445402"/>
            <a:ext cx="2148840" cy="365760"/>
          </a:xfrm>
          <a:prstGeom prst="rect">
            <a:avLst/>
          </a:prstGeom>
          <a:noFill/>
        </p:spPr>
        <p:txBody>
          <a:bodyPr wrap="none" anchor="ctr" lIns="0" rIns="0" tIns="0" bIns="0">
            <a:spAutoFit/>
          </a:bodyPr>
          <a:lstStyle/>
          <a:p>
            <a:pPr algn="ctr"/>
            <a:r>
              <a:rPr sz="2000" b="1" i="0">
                <a:solidFill>
                  <a:srgbClr val="6F6F6F"/>
                </a:solidFill>
                <a:latin typeface="Times New Roman"/>
              </a:rPr>
              <a:t>R@10</a:t>
            </a:r>
          </a:p>
        </p:txBody>
      </p:sp>
      <p:sp>
        <p:nvSpPr>
          <p:cNvPr id="63" name="TextBox 62"/>
          <p:cNvSpPr txBox="1"/>
          <p:nvPr/>
        </p:nvSpPr>
        <p:spPr>
          <a:xfrm>
            <a:off x="27349704" y="18445402"/>
            <a:ext cx="2148840" cy="365760"/>
          </a:xfrm>
          <a:prstGeom prst="rect">
            <a:avLst/>
          </a:prstGeom>
          <a:noFill/>
        </p:spPr>
        <p:txBody>
          <a:bodyPr wrap="none" anchor="ctr" lIns="0" rIns="0" tIns="0" bIns="0">
            <a:spAutoFit/>
          </a:bodyPr>
          <a:lstStyle/>
          <a:p>
            <a:pPr algn="ctr"/>
            <a:r>
              <a:rPr sz="2000" b="1" i="0">
                <a:solidFill>
                  <a:srgbClr val="6F6F6F"/>
                </a:solidFill>
                <a:latin typeface="Times New Roman"/>
              </a:rPr>
              <a:t>R@100</a:t>
            </a:r>
          </a:p>
        </p:txBody>
      </p:sp>
      <p:sp>
        <p:nvSpPr>
          <p:cNvPr id="64" name="Rectangle 63"/>
          <p:cNvSpPr/>
          <p:nvPr/>
        </p:nvSpPr>
        <p:spPr>
          <a:xfrm>
            <a:off x="15457932" y="18847738"/>
            <a:ext cx="14040612" cy="1905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5457932" y="188850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.82</a:t>
            </a:r>
          </a:p>
        </p:txBody>
      </p:sp>
      <p:sp>
        <p:nvSpPr>
          <p:cNvPr id="66" name="TextBox 65"/>
          <p:cNvSpPr txBox="1"/>
          <p:nvPr/>
        </p:nvSpPr>
        <p:spPr>
          <a:xfrm>
            <a:off x="16143732" y="188850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MSCOCO CL-L</a:t>
            </a:r>
          </a:p>
        </p:txBody>
      </p:sp>
      <p:sp>
        <p:nvSpPr>
          <p:cNvPr id="67" name="TextBox 66"/>
          <p:cNvSpPr txBox="1"/>
          <p:nvPr/>
        </p:nvSpPr>
        <p:spPr>
          <a:xfrm>
            <a:off x="20080224" y="18885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.36→</a:t>
            </a:r>
            <a:r>
              <a:rPr sz="2000" b="1" i="0">
                <a:solidFill>
                  <a:srgbClr val="1F1F1F"/>
                </a:solidFill>
                <a:latin typeface="Times New Roman"/>
              </a:rPr>
              <a:t>.48</a:t>
            </a:r>
            <a:r>
              <a:rPr sz="1700" b="1" i="0">
                <a:solidFill>
                  <a:srgbClr val="8B0029"/>
                </a:solidFill>
                <a:latin typeface="Times New Roman"/>
              </a:rPr>
              <a:t> +33%</a:t>
            </a:r>
          </a:p>
        </p:txBody>
      </p:sp>
      <p:sp>
        <p:nvSpPr>
          <p:cNvPr id="68" name="TextBox 67"/>
          <p:cNvSpPr txBox="1"/>
          <p:nvPr/>
        </p:nvSpPr>
        <p:spPr>
          <a:xfrm>
            <a:off x="22229064" y="18885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.55→</a:t>
            </a:r>
            <a:r>
              <a:rPr sz="2000" b="1" i="0">
                <a:solidFill>
                  <a:srgbClr val="1F1F1F"/>
                </a:solidFill>
                <a:latin typeface="Times New Roman"/>
              </a:rPr>
              <a:t>.65</a:t>
            </a:r>
            <a:r>
              <a:rPr sz="1700" b="1" i="0">
                <a:solidFill>
                  <a:srgbClr val="8B0029"/>
                </a:solidFill>
                <a:latin typeface="Times New Roman"/>
              </a:rPr>
              <a:t> +18%</a:t>
            </a:r>
          </a:p>
        </p:txBody>
      </p:sp>
      <p:sp>
        <p:nvSpPr>
          <p:cNvPr id="69" name="TextBox 68"/>
          <p:cNvSpPr txBox="1"/>
          <p:nvPr/>
        </p:nvSpPr>
        <p:spPr>
          <a:xfrm>
            <a:off x="25200864" y="18885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.26→</a:t>
            </a:r>
            <a:r>
              <a:rPr sz="2000" b="1" i="0">
                <a:solidFill>
                  <a:srgbClr val="1F1F1F"/>
                </a:solidFill>
                <a:latin typeface="Times New Roman"/>
              </a:rPr>
              <a:t>.44</a:t>
            </a:r>
            <a:r>
              <a:rPr sz="1700" b="1" i="0">
                <a:solidFill>
                  <a:srgbClr val="8B0029"/>
                </a:solidFill>
                <a:latin typeface="Times New Roman"/>
              </a:rPr>
              <a:t> +69%</a:t>
            </a:r>
          </a:p>
        </p:txBody>
      </p:sp>
      <p:sp>
        <p:nvSpPr>
          <p:cNvPr id="70" name="TextBox 69"/>
          <p:cNvSpPr txBox="1"/>
          <p:nvPr/>
        </p:nvSpPr>
        <p:spPr>
          <a:xfrm>
            <a:off x="27349704" y="18885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.47→</a:t>
            </a:r>
            <a:r>
              <a:rPr sz="2000" b="1" i="0">
                <a:solidFill>
                  <a:srgbClr val="1F1F1F"/>
                </a:solidFill>
                <a:latin typeface="Times New Roman"/>
              </a:rPr>
              <a:t>.63</a:t>
            </a:r>
            <a:r>
              <a:rPr sz="1700" b="1" i="0">
                <a:solidFill>
                  <a:srgbClr val="8B0029"/>
                </a:solidFill>
                <a:latin typeface="Times New Roman"/>
              </a:rPr>
              <a:t> +34%</a:t>
            </a:r>
          </a:p>
        </p:txBody>
      </p:sp>
      <p:sp>
        <p:nvSpPr>
          <p:cNvPr id="71" name="Rectangle 70"/>
          <p:cNvSpPr/>
          <p:nvPr/>
        </p:nvSpPr>
        <p:spPr>
          <a:xfrm>
            <a:off x="15457932" y="193422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5457932" y="193422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.82</a:t>
            </a:r>
          </a:p>
        </p:txBody>
      </p:sp>
      <p:sp>
        <p:nvSpPr>
          <p:cNvPr id="73" name="TextBox 72"/>
          <p:cNvSpPr txBox="1"/>
          <p:nvPr/>
        </p:nvSpPr>
        <p:spPr>
          <a:xfrm>
            <a:off x="16143732" y="193422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MSCOCO CLIP</a:t>
            </a:r>
          </a:p>
        </p:txBody>
      </p:sp>
      <p:sp>
        <p:nvSpPr>
          <p:cNvPr id="74" name="TextBox 73"/>
          <p:cNvSpPr txBox="1"/>
          <p:nvPr/>
        </p:nvSpPr>
        <p:spPr>
          <a:xfrm>
            <a:off x="20080224" y="19342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.40→</a:t>
            </a:r>
            <a:r>
              <a:rPr sz="2000" b="1" i="0">
                <a:solidFill>
                  <a:srgbClr val="1F1F1F"/>
                </a:solidFill>
                <a:latin typeface="Times New Roman"/>
              </a:rPr>
              <a:t>.46</a:t>
            </a:r>
            <a:r>
              <a:rPr sz="1700" b="1" i="0">
                <a:solidFill>
                  <a:srgbClr val="8B0029"/>
                </a:solidFill>
                <a:latin typeface="Times New Roman"/>
              </a:rPr>
              <a:t> +15%</a:t>
            </a:r>
          </a:p>
        </p:txBody>
      </p:sp>
      <p:sp>
        <p:nvSpPr>
          <p:cNvPr id="75" name="TextBox 74"/>
          <p:cNvSpPr txBox="1"/>
          <p:nvPr/>
        </p:nvSpPr>
        <p:spPr>
          <a:xfrm>
            <a:off x="22229064" y="19342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.58→</a:t>
            </a:r>
            <a:r>
              <a:rPr sz="2000" b="1" i="0">
                <a:solidFill>
                  <a:srgbClr val="1F1F1F"/>
                </a:solidFill>
                <a:latin typeface="Times New Roman"/>
              </a:rPr>
              <a:t>.63</a:t>
            </a:r>
            <a:r>
              <a:rPr sz="1700" b="1" i="0">
                <a:solidFill>
                  <a:srgbClr val="8B0029"/>
                </a:solidFill>
                <a:latin typeface="Times New Roman"/>
              </a:rPr>
              <a:t> +9%</a:t>
            </a:r>
          </a:p>
        </p:txBody>
      </p:sp>
      <p:sp>
        <p:nvSpPr>
          <p:cNvPr id="76" name="TextBox 75"/>
          <p:cNvSpPr txBox="1"/>
          <p:nvPr/>
        </p:nvSpPr>
        <p:spPr>
          <a:xfrm>
            <a:off x="25200864" y="19342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.29→</a:t>
            </a:r>
            <a:r>
              <a:rPr sz="2000" b="1" i="0">
                <a:solidFill>
                  <a:srgbClr val="1F1F1F"/>
                </a:solidFill>
                <a:latin typeface="Times New Roman"/>
              </a:rPr>
              <a:t>.39</a:t>
            </a:r>
            <a:r>
              <a:rPr sz="1700" b="1" i="0">
                <a:solidFill>
                  <a:srgbClr val="8B0029"/>
                </a:solidFill>
                <a:latin typeface="Times New Roman"/>
              </a:rPr>
              <a:t> +34%</a:t>
            </a:r>
          </a:p>
        </p:txBody>
      </p:sp>
      <p:sp>
        <p:nvSpPr>
          <p:cNvPr id="77" name="TextBox 76"/>
          <p:cNvSpPr txBox="1"/>
          <p:nvPr/>
        </p:nvSpPr>
        <p:spPr>
          <a:xfrm>
            <a:off x="27349704" y="19342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.50→</a:t>
            </a:r>
            <a:r>
              <a:rPr sz="2000" b="1" i="0">
                <a:solidFill>
                  <a:srgbClr val="1F1F1F"/>
                </a:solidFill>
                <a:latin typeface="Times New Roman"/>
              </a:rPr>
              <a:t>.60</a:t>
            </a:r>
            <a:r>
              <a:rPr sz="1700" b="1" i="0">
                <a:solidFill>
                  <a:srgbClr val="8B0029"/>
                </a:solidFill>
                <a:latin typeface="Times New Roman"/>
              </a:rPr>
              <a:t> +20%</a:t>
            </a:r>
          </a:p>
        </p:txBody>
      </p:sp>
      <p:sp>
        <p:nvSpPr>
          <p:cNvPr id="78" name="Rectangle 77"/>
          <p:cNvSpPr/>
          <p:nvPr/>
        </p:nvSpPr>
        <p:spPr>
          <a:xfrm>
            <a:off x="15457932" y="197994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5457932" y="197994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.77</a:t>
            </a:r>
          </a:p>
        </p:txBody>
      </p:sp>
      <p:sp>
        <p:nvSpPr>
          <p:cNvPr id="80" name="TextBox 79"/>
          <p:cNvSpPr txBox="1"/>
          <p:nvPr/>
        </p:nvSpPr>
        <p:spPr>
          <a:xfrm>
            <a:off x="16143732" y="197994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Flickr30K CL-L</a:t>
            </a:r>
          </a:p>
        </p:txBody>
      </p:sp>
      <p:sp>
        <p:nvSpPr>
          <p:cNvPr id="81" name="TextBox 80"/>
          <p:cNvSpPr txBox="1"/>
          <p:nvPr/>
        </p:nvSpPr>
        <p:spPr>
          <a:xfrm>
            <a:off x="20080224" y="197994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.31→</a:t>
            </a:r>
            <a:r>
              <a:rPr sz="2000" b="1" i="0">
                <a:solidFill>
                  <a:srgbClr val="1F1F1F"/>
                </a:solidFill>
                <a:latin typeface="Times New Roman"/>
              </a:rPr>
              <a:t>.38</a:t>
            </a:r>
            <a:r>
              <a:rPr sz="1700" b="1" i="0">
                <a:solidFill>
                  <a:srgbClr val="8B0029"/>
                </a:solidFill>
                <a:latin typeface="Times New Roman"/>
              </a:rPr>
              <a:t> +23%</a:t>
            </a:r>
          </a:p>
        </p:txBody>
      </p:sp>
      <p:sp>
        <p:nvSpPr>
          <p:cNvPr id="82" name="TextBox 81"/>
          <p:cNvSpPr txBox="1"/>
          <p:nvPr/>
        </p:nvSpPr>
        <p:spPr>
          <a:xfrm>
            <a:off x="22229064" y="197994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.41→</a:t>
            </a:r>
            <a:r>
              <a:rPr sz="2000" b="1" i="0">
                <a:solidFill>
                  <a:srgbClr val="1F1F1F"/>
                </a:solidFill>
                <a:latin typeface="Times New Roman"/>
              </a:rPr>
              <a:t>.48</a:t>
            </a:r>
            <a:r>
              <a:rPr sz="1700" b="1" i="0">
                <a:solidFill>
                  <a:srgbClr val="8B0029"/>
                </a:solidFill>
                <a:latin typeface="Times New Roman"/>
              </a:rPr>
              <a:t> +17%</a:t>
            </a:r>
          </a:p>
        </p:txBody>
      </p:sp>
      <p:sp>
        <p:nvSpPr>
          <p:cNvPr id="83" name="TextBox 82"/>
          <p:cNvSpPr txBox="1"/>
          <p:nvPr/>
        </p:nvSpPr>
        <p:spPr>
          <a:xfrm>
            <a:off x="25200864" y="197994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.22→</a:t>
            </a:r>
            <a:r>
              <a:rPr sz="2000" b="1" i="0">
                <a:solidFill>
                  <a:srgbClr val="1F1F1F"/>
                </a:solidFill>
                <a:latin typeface="Times New Roman"/>
              </a:rPr>
              <a:t>.38</a:t>
            </a:r>
            <a:r>
              <a:rPr sz="1700" b="1" i="0">
                <a:solidFill>
                  <a:srgbClr val="8B0029"/>
                </a:solidFill>
                <a:latin typeface="Times New Roman"/>
              </a:rPr>
              <a:t> +73%</a:t>
            </a:r>
          </a:p>
        </p:txBody>
      </p:sp>
      <p:sp>
        <p:nvSpPr>
          <p:cNvPr id="84" name="TextBox 83"/>
          <p:cNvSpPr txBox="1"/>
          <p:nvPr/>
        </p:nvSpPr>
        <p:spPr>
          <a:xfrm>
            <a:off x="27349704" y="197994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.33→</a:t>
            </a:r>
            <a:r>
              <a:rPr sz="2000" b="1" i="0">
                <a:solidFill>
                  <a:srgbClr val="1F1F1F"/>
                </a:solidFill>
                <a:latin typeface="Times New Roman"/>
              </a:rPr>
              <a:t>.48</a:t>
            </a:r>
            <a:r>
              <a:rPr sz="1700" b="1" i="0">
                <a:solidFill>
                  <a:srgbClr val="8B0029"/>
                </a:solidFill>
                <a:latin typeface="Times New Roman"/>
              </a:rPr>
              <a:t> +45%</a:t>
            </a:r>
          </a:p>
        </p:txBody>
      </p:sp>
      <p:sp>
        <p:nvSpPr>
          <p:cNvPr id="85" name="Rectangle 84"/>
          <p:cNvSpPr/>
          <p:nvPr/>
        </p:nvSpPr>
        <p:spPr>
          <a:xfrm>
            <a:off x="15457932" y="202566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5457932" y="202566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.72</a:t>
            </a:r>
          </a:p>
        </p:txBody>
      </p:sp>
      <p:sp>
        <p:nvSpPr>
          <p:cNvPr id="87" name="TextBox 86"/>
          <p:cNvSpPr txBox="1"/>
          <p:nvPr/>
        </p:nvSpPr>
        <p:spPr>
          <a:xfrm>
            <a:off x="16143732" y="202566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LAION-400M CLIP</a:t>
            </a:r>
          </a:p>
        </p:txBody>
      </p:sp>
      <p:sp>
        <p:nvSpPr>
          <p:cNvPr id="88" name="TextBox 87"/>
          <p:cNvSpPr txBox="1"/>
          <p:nvPr/>
        </p:nvSpPr>
        <p:spPr>
          <a:xfrm>
            <a:off x="20080224" y="202566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.075→</a:t>
            </a:r>
            <a:r>
              <a:rPr sz="2000" b="1" i="0">
                <a:solidFill>
                  <a:srgbClr val="1F1F1F"/>
                </a:solidFill>
                <a:latin typeface="Times New Roman"/>
              </a:rPr>
              <a:t>.086</a:t>
            </a:r>
            <a:r>
              <a:rPr sz="1700" b="1" i="0">
                <a:solidFill>
                  <a:srgbClr val="8B0029"/>
                </a:solidFill>
                <a:latin typeface="Times New Roman"/>
              </a:rPr>
              <a:t> +15%</a:t>
            </a:r>
          </a:p>
        </p:txBody>
      </p:sp>
      <p:sp>
        <p:nvSpPr>
          <p:cNvPr id="89" name="TextBox 88"/>
          <p:cNvSpPr txBox="1"/>
          <p:nvPr/>
        </p:nvSpPr>
        <p:spPr>
          <a:xfrm>
            <a:off x="22229064" y="202566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.108→</a:t>
            </a:r>
            <a:r>
              <a:rPr sz="2000" b="1" i="0">
                <a:solidFill>
                  <a:srgbClr val="1F1F1F"/>
                </a:solidFill>
                <a:latin typeface="Times New Roman"/>
              </a:rPr>
              <a:t>.143</a:t>
            </a:r>
            <a:r>
              <a:rPr sz="1700" b="1" i="0">
                <a:solidFill>
                  <a:srgbClr val="8B0029"/>
                </a:solidFill>
                <a:latin typeface="Times New Roman"/>
              </a:rPr>
              <a:t> +32%</a:t>
            </a:r>
          </a:p>
        </p:txBody>
      </p:sp>
      <p:sp>
        <p:nvSpPr>
          <p:cNvPr id="90" name="TextBox 89"/>
          <p:cNvSpPr txBox="1"/>
          <p:nvPr/>
        </p:nvSpPr>
        <p:spPr>
          <a:xfrm>
            <a:off x="25200864" y="202566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.035→</a:t>
            </a:r>
            <a:r>
              <a:rPr sz="2000" b="1" i="0">
                <a:solidFill>
                  <a:srgbClr val="1F1F1F"/>
                </a:solidFill>
                <a:latin typeface="Times New Roman"/>
              </a:rPr>
              <a:t>.048</a:t>
            </a:r>
            <a:r>
              <a:rPr sz="1700" b="1" i="0">
                <a:solidFill>
                  <a:srgbClr val="8B0029"/>
                </a:solidFill>
                <a:latin typeface="Times New Roman"/>
              </a:rPr>
              <a:t> +37%</a:t>
            </a:r>
          </a:p>
        </p:txBody>
      </p:sp>
      <p:sp>
        <p:nvSpPr>
          <p:cNvPr id="91" name="TextBox 90"/>
          <p:cNvSpPr txBox="1"/>
          <p:nvPr/>
        </p:nvSpPr>
        <p:spPr>
          <a:xfrm>
            <a:off x="27349704" y="202566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.069→</a:t>
            </a:r>
            <a:r>
              <a:rPr sz="2000" b="1" i="0">
                <a:solidFill>
                  <a:srgbClr val="1F1F1F"/>
                </a:solidFill>
                <a:latin typeface="Times New Roman"/>
              </a:rPr>
              <a:t>.073</a:t>
            </a:r>
            <a:r>
              <a:rPr sz="1700" b="1" i="0">
                <a:solidFill>
                  <a:srgbClr val="8B0029"/>
                </a:solidFill>
                <a:latin typeface="Times New Roman"/>
              </a:rPr>
              <a:t> +6%</a:t>
            </a:r>
          </a:p>
        </p:txBody>
      </p:sp>
      <p:sp>
        <p:nvSpPr>
          <p:cNvPr id="92" name="Rectangle 91"/>
          <p:cNvSpPr/>
          <p:nvPr/>
        </p:nvSpPr>
        <p:spPr>
          <a:xfrm>
            <a:off x="15457932" y="207138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5457932" y="207138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.70</a:t>
            </a:r>
          </a:p>
        </p:txBody>
      </p:sp>
      <p:sp>
        <p:nvSpPr>
          <p:cNvPr id="94" name="TextBox 93"/>
          <p:cNvSpPr txBox="1"/>
          <p:nvPr/>
        </p:nvSpPr>
        <p:spPr>
          <a:xfrm>
            <a:off x="16143732" y="207138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MSCOCO IB</a:t>
            </a:r>
          </a:p>
        </p:txBody>
      </p:sp>
      <p:sp>
        <p:nvSpPr>
          <p:cNvPr id="95" name="TextBox 94"/>
          <p:cNvSpPr txBox="1"/>
          <p:nvPr/>
        </p:nvSpPr>
        <p:spPr>
          <a:xfrm>
            <a:off x="20080224" y="207138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.55→</a:t>
            </a:r>
            <a:r>
              <a:rPr sz="2000" b="1" i="0">
                <a:solidFill>
                  <a:srgbClr val="1F1F1F"/>
                </a:solidFill>
                <a:latin typeface="Times New Roman"/>
              </a:rPr>
              <a:t>.63</a:t>
            </a:r>
            <a:r>
              <a:rPr sz="1700" b="1" i="0">
                <a:solidFill>
                  <a:srgbClr val="8B0029"/>
                </a:solidFill>
                <a:latin typeface="Times New Roman"/>
              </a:rPr>
              <a:t> +15%</a:t>
            </a:r>
          </a:p>
        </p:txBody>
      </p:sp>
      <p:sp>
        <p:nvSpPr>
          <p:cNvPr id="96" name="TextBox 95"/>
          <p:cNvSpPr txBox="1"/>
          <p:nvPr/>
        </p:nvSpPr>
        <p:spPr>
          <a:xfrm>
            <a:off x="22229064" y="207138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.67→</a:t>
            </a:r>
            <a:r>
              <a:rPr sz="2000" b="1" i="0">
                <a:solidFill>
                  <a:srgbClr val="1F1F1F"/>
                </a:solidFill>
                <a:latin typeface="Times New Roman"/>
              </a:rPr>
              <a:t>.75</a:t>
            </a:r>
            <a:r>
              <a:rPr sz="1700" b="1" i="0">
                <a:solidFill>
                  <a:srgbClr val="8B0029"/>
                </a:solidFill>
                <a:latin typeface="Times New Roman"/>
              </a:rPr>
              <a:t> +12%</a:t>
            </a:r>
          </a:p>
        </p:txBody>
      </p:sp>
      <p:sp>
        <p:nvSpPr>
          <p:cNvPr id="97" name="TextBox 96"/>
          <p:cNvSpPr txBox="1"/>
          <p:nvPr/>
        </p:nvSpPr>
        <p:spPr>
          <a:xfrm>
            <a:off x="25200864" y="207138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.57→</a:t>
            </a:r>
            <a:r>
              <a:rPr sz="2000" b="1" i="0">
                <a:solidFill>
                  <a:srgbClr val="1F1F1F"/>
                </a:solidFill>
                <a:latin typeface="Times New Roman"/>
              </a:rPr>
              <a:t>.64</a:t>
            </a:r>
            <a:r>
              <a:rPr sz="1700" b="1" i="0">
                <a:solidFill>
                  <a:srgbClr val="8B0029"/>
                </a:solidFill>
                <a:latin typeface="Times New Roman"/>
              </a:rPr>
              <a:t> +12%</a:t>
            </a:r>
          </a:p>
        </p:txBody>
      </p:sp>
      <p:sp>
        <p:nvSpPr>
          <p:cNvPr id="98" name="TextBox 97"/>
          <p:cNvSpPr txBox="1"/>
          <p:nvPr/>
        </p:nvSpPr>
        <p:spPr>
          <a:xfrm>
            <a:off x="27349704" y="207138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.71→</a:t>
            </a:r>
            <a:r>
              <a:rPr sz="2000" b="1" i="0">
                <a:solidFill>
                  <a:srgbClr val="1F1F1F"/>
                </a:solidFill>
                <a:latin typeface="Times New Roman"/>
              </a:rPr>
              <a:t>.75</a:t>
            </a:r>
            <a:r>
              <a:rPr sz="1700" b="1" i="0">
                <a:solidFill>
                  <a:srgbClr val="8B0029"/>
                </a:solidFill>
                <a:latin typeface="Times New Roman"/>
              </a:rPr>
              <a:t> +6%</a:t>
            </a:r>
          </a:p>
        </p:txBody>
      </p:sp>
      <p:sp>
        <p:nvSpPr>
          <p:cNvPr id="99" name="Rectangle 98"/>
          <p:cNvSpPr/>
          <p:nvPr/>
        </p:nvSpPr>
        <p:spPr>
          <a:xfrm>
            <a:off x="15457932" y="211710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15457932" y="211710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.61</a:t>
            </a:r>
          </a:p>
        </p:txBody>
      </p:sp>
      <p:sp>
        <p:nvSpPr>
          <p:cNvPr id="101" name="TextBox 100"/>
          <p:cNvSpPr txBox="1"/>
          <p:nvPr/>
        </p:nvSpPr>
        <p:spPr>
          <a:xfrm>
            <a:off x="16143732" y="211710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Clotho IB</a:t>
            </a:r>
          </a:p>
        </p:txBody>
      </p:sp>
      <p:sp>
        <p:nvSpPr>
          <p:cNvPr id="102" name="TextBox 101"/>
          <p:cNvSpPr txBox="1"/>
          <p:nvPr/>
        </p:nvSpPr>
        <p:spPr>
          <a:xfrm>
            <a:off x="20080224" y="21171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.59→</a:t>
            </a:r>
            <a:r>
              <a:rPr sz="2000" b="1" i="0">
                <a:solidFill>
                  <a:srgbClr val="1F1F1F"/>
                </a:solidFill>
                <a:latin typeface="Times New Roman"/>
              </a:rPr>
              <a:t>.60</a:t>
            </a:r>
            <a:r>
              <a:rPr sz="1700" b="1" i="0">
                <a:solidFill>
                  <a:srgbClr val="8B0029"/>
                </a:solidFill>
                <a:latin typeface="Times New Roman"/>
              </a:rPr>
              <a:t> +2%</a:t>
            </a:r>
          </a:p>
        </p:txBody>
      </p:sp>
      <p:sp>
        <p:nvSpPr>
          <p:cNvPr id="103" name="TextBox 102"/>
          <p:cNvSpPr txBox="1"/>
          <p:nvPr/>
        </p:nvSpPr>
        <p:spPr>
          <a:xfrm>
            <a:off x="22229064" y="21171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.72→</a:t>
            </a:r>
            <a:r>
              <a:rPr sz="2000" b="1" i="0">
                <a:solidFill>
                  <a:srgbClr val="1F1F1F"/>
                </a:solidFill>
                <a:latin typeface="Times New Roman"/>
              </a:rPr>
              <a:t>.73</a:t>
            </a:r>
            <a:r>
              <a:rPr sz="1700" b="1" i="0">
                <a:solidFill>
                  <a:srgbClr val="8B0029"/>
                </a:solidFill>
                <a:latin typeface="Times New Roman"/>
              </a:rPr>
              <a:t> +1%</a:t>
            </a:r>
          </a:p>
        </p:txBody>
      </p:sp>
      <p:sp>
        <p:nvSpPr>
          <p:cNvPr id="104" name="TextBox 103"/>
          <p:cNvSpPr txBox="1"/>
          <p:nvPr/>
        </p:nvSpPr>
        <p:spPr>
          <a:xfrm>
            <a:off x="25200864" y="21171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.48→</a:t>
            </a:r>
            <a:r>
              <a:rPr sz="2000" b="1" i="0">
                <a:solidFill>
                  <a:srgbClr val="1F1F1F"/>
                </a:solidFill>
                <a:latin typeface="Times New Roman"/>
              </a:rPr>
              <a:t>.54</a:t>
            </a:r>
            <a:r>
              <a:rPr sz="1700" b="1" i="0">
                <a:solidFill>
                  <a:srgbClr val="8B0029"/>
                </a:solidFill>
                <a:latin typeface="Times New Roman"/>
              </a:rPr>
              <a:t> +13%</a:t>
            </a:r>
          </a:p>
        </p:txBody>
      </p:sp>
      <p:sp>
        <p:nvSpPr>
          <p:cNvPr id="105" name="TextBox 104"/>
          <p:cNvSpPr txBox="1"/>
          <p:nvPr/>
        </p:nvSpPr>
        <p:spPr>
          <a:xfrm>
            <a:off x="27349704" y="211710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.62→</a:t>
            </a:r>
            <a:r>
              <a:rPr sz="2000" b="1" i="0">
                <a:solidFill>
                  <a:srgbClr val="1F1F1F"/>
                </a:solidFill>
                <a:latin typeface="Times New Roman"/>
              </a:rPr>
              <a:t>.69</a:t>
            </a:r>
            <a:r>
              <a:rPr sz="1700" b="1" i="0">
                <a:solidFill>
                  <a:srgbClr val="8B0029"/>
                </a:solidFill>
                <a:latin typeface="Times New Roman"/>
              </a:rPr>
              <a:t> +11%</a:t>
            </a:r>
          </a:p>
        </p:txBody>
      </p:sp>
      <p:sp>
        <p:nvSpPr>
          <p:cNvPr id="106" name="Rectangle 105"/>
          <p:cNvSpPr/>
          <p:nvPr/>
        </p:nvSpPr>
        <p:spPr>
          <a:xfrm>
            <a:off x="15457932" y="216282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5457932" y="216282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.61</a:t>
            </a:r>
          </a:p>
        </p:txBody>
      </p:sp>
      <p:sp>
        <p:nvSpPr>
          <p:cNvPr id="108" name="TextBox 107"/>
          <p:cNvSpPr txBox="1"/>
          <p:nvPr/>
        </p:nvSpPr>
        <p:spPr>
          <a:xfrm>
            <a:off x="16143732" y="21628276"/>
            <a:ext cx="3936492" cy="457200"/>
          </a:xfrm>
          <a:prstGeom prst="rect">
            <a:avLst/>
          </a:prstGeom>
          <a:noFill/>
        </p:spPr>
        <p:txBody>
          <a:bodyPr wrap="none" anchor="ctr" lIns="0" rIns="0" tIns="0" bIns="0">
            <a:spAutoFit/>
          </a:bodyPr>
          <a:lstStyle/>
          <a:p>
            <a:pPr algn="l"/>
            <a:r>
              <a:rPr sz="2100" b="0" i="0">
                <a:solidFill>
                  <a:srgbClr val="1F1F1F"/>
                </a:solidFill>
                <a:latin typeface="Times New Roman"/>
              </a:rPr>
              <a:t>AudioCaps IB</a:t>
            </a:r>
          </a:p>
        </p:txBody>
      </p:sp>
      <p:sp>
        <p:nvSpPr>
          <p:cNvPr id="109" name="TextBox 108"/>
          <p:cNvSpPr txBox="1"/>
          <p:nvPr/>
        </p:nvSpPr>
        <p:spPr>
          <a:xfrm>
            <a:off x="20080224" y="21628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.39→</a:t>
            </a:r>
            <a:r>
              <a:rPr sz="2000" b="1" i="0">
                <a:solidFill>
                  <a:srgbClr val="1F1F1F"/>
                </a:solidFill>
                <a:latin typeface="Times New Roman"/>
              </a:rPr>
              <a:t>.44</a:t>
            </a:r>
            <a:r>
              <a:rPr sz="1700" b="1" i="0">
                <a:solidFill>
                  <a:srgbClr val="8B0029"/>
                </a:solidFill>
                <a:latin typeface="Times New Roman"/>
              </a:rPr>
              <a:t> +13%</a:t>
            </a:r>
          </a:p>
        </p:txBody>
      </p:sp>
      <p:sp>
        <p:nvSpPr>
          <p:cNvPr id="110" name="TextBox 109"/>
          <p:cNvSpPr txBox="1"/>
          <p:nvPr/>
        </p:nvSpPr>
        <p:spPr>
          <a:xfrm>
            <a:off x="22229064" y="21628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.75→</a:t>
            </a:r>
            <a:r>
              <a:rPr sz="2000" b="1" i="0">
                <a:solidFill>
                  <a:srgbClr val="1F1F1F"/>
                </a:solidFill>
                <a:latin typeface="Times New Roman"/>
              </a:rPr>
              <a:t>.78</a:t>
            </a:r>
            <a:r>
              <a:rPr sz="1700" b="1" i="0">
                <a:solidFill>
                  <a:srgbClr val="8B0029"/>
                </a:solidFill>
                <a:latin typeface="Times New Roman"/>
              </a:rPr>
              <a:t> +4%</a:t>
            </a:r>
          </a:p>
        </p:txBody>
      </p:sp>
      <p:sp>
        <p:nvSpPr>
          <p:cNvPr id="111" name="TextBox 110"/>
          <p:cNvSpPr txBox="1"/>
          <p:nvPr/>
        </p:nvSpPr>
        <p:spPr>
          <a:xfrm>
            <a:off x="25200864" y="21628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.44→</a:t>
            </a:r>
            <a:r>
              <a:rPr sz="2000" b="1" i="0">
                <a:solidFill>
                  <a:srgbClr val="1F1F1F"/>
                </a:solidFill>
                <a:latin typeface="Times New Roman"/>
              </a:rPr>
              <a:t>.48</a:t>
            </a:r>
            <a:r>
              <a:rPr sz="1700" b="1" i="0">
                <a:solidFill>
                  <a:srgbClr val="8B0029"/>
                </a:solidFill>
                <a:latin typeface="Times New Roman"/>
              </a:rPr>
              <a:t> +9%</a:t>
            </a:r>
          </a:p>
        </p:txBody>
      </p:sp>
      <p:sp>
        <p:nvSpPr>
          <p:cNvPr id="112" name="TextBox 111"/>
          <p:cNvSpPr txBox="1"/>
          <p:nvPr/>
        </p:nvSpPr>
        <p:spPr>
          <a:xfrm>
            <a:off x="27349704" y="21628276"/>
            <a:ext cx="2148840" cy="457200"/>
          </a:xfrm>
          <a:prstGeom prst="rect">
            <a:avLst/>
          </a:prstGeom>
          <a:noFill/>
        </p:spPr>
        <p:txBody>
          <a:bodyPr wrap="none" anchor="ctr" lIns="0" rIns="0" tIns="0" bIns="0">
            <a:spAutoFit/>
          </a:bodyPr>
          <a:lstStyle/>
          <a:p>
            <a:pPr algn="ctr"/>
            <a:r>
              <a:rPr sz="1700" b="0" i="0">
                <a:solidFill>
                  <a:srgbClr val="6F6F6F"/>
                </a:solidFill>
                <a:latin typeface="Times New Roman"/>
              </a:rPr>
              <a:t>.83→</a:t>
            </a:r>
            <a:r>
              <a:rPr sz="2000" b="1" i="0">
                <a:solidFill>
                  <a:srgbClr val="1F1F1F"/>
                </a:solidFill>
                <a:latin typeface="Times New Roman"/>
              </a:rPr>
              <a:t>.83</a:t>
            </a:r>
            <a:r>
              <a:rPr sz="1700" b="1" i="0">
                <a:solidFill>
                  <a:srgbClr val="8B0029"/>
                </a:solidFill>
                <a:latin typeface="Times New Roman"/>
              </a:rPr>
              <a:t> +0%</a:t>
            </a:r>
          </a:p>
        </p:txBody>
      </p:sp>
      <p:sp>
        <p:nvSpPr>
          <p:cNvPr id="113" name="Rectangle 112"/>
          <p:cNvSpPr/>
          <p:nvPr/>
        </p:nvSpPr>
        <p:spPr>
          <a:xfrm>
            <a:off x="15457932" y="220854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15457932" y="22231780"/>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Gains scale with ‖g‖: the largest-gap rows improve most, exactly as Eq. (2) predicts. At 407 M vectors (LAION-400M, 29.3 GB of codes, 28× compressed) PMC lifts R@100 from .108 to </a:t>
            </a:r>
            <a:r>
              <a:rPr sz="2200" b="1" i="0">
                <a:solidFill>
                  <a:srgbClr val="1F1F1F"/>
                </a:solidFill>
                <a:latin typeface="Times New Roman"/>
              </a:rPr>
              <a:t>.143 </a:t>
            </a:r>
            <a:r>
              <a:rPr sz="2200" b="1" i="0">
                <a:solidFill>
                  <a:srgbClr val="8B0029"/>
                </a:solidFill>
                <a:latin typeface="Times New Roman"/>
              </a:rPr>
              <a:t>(+32%)</a:t>
            </a:r>
            <a:r>
              <a:rPr sz="2200" b="0" i="0">
                <a:solidFill>
                  <a:srgbClr val="1F1F1F"/>
                </a:solidFill>
                <a:latin typeface="Times New Roman"/>
              </a:rPr>
              <a:t>; with exact reranking the lead carries over, .198 → </a:t>
            </a:r>
            <a:r>
              <a:rPr sz="2200" b="1" i="0">
                <a:solidFill>
                  <a:srgbClr val="1F1F1F"/>
                </a:solidFill>
                <a:latin typeface="Times New Roman"/>
              </a:rPr>
              <a:t>.277 </a:t>
            </a:r>
            <a:r>
              <a:rPr sz="2200" b="1" i="0">
                <a:solidFill>
                  <a:srgbClr val="8B0029"/>
                </a:solidFill>
                <a:latin typeface="Times New Roman"/>
              </a:rPr>
              <a:t>(+40%)</a:t>
            </a:r>
            <a:r>
              <a:rPr sz="2200" b="0" i="0">
                <a:solidFill>
                  <a:srgbClr val="1F1F1F"/>
                </a:solidFill>
                <a:latin typeface="Times New Roman"/>
              </a:rPr>
              <a:t>. Exact rescoring cannot rescue Vanilla — it only re-scores what the corrupted codes already retrieved.</a:t>
            </a:r>
          </a:p>
        </p:txBody>
      </p:sp>
      <p:pic>
        <p:nvPicPr>
          <p:cNvPr id="115" name="Picture 114" descr="asset_fig3.png"/>
          <p:cNvPicPr>
            <a:picLocks noChangeAspect="1"/>
          </p:cNvPicPr>
          <p:nvPr/>
        </p:nvPicPr>
        <p:blipFill>
          <a:blip r:embed="rId7"/>
          <a:stretch>
            <a:fillRect/>
          </a:stretch>
        </p:blipFill>
        <p:spPr>
          <a:xfrm>
            <a:off x="15457932" y="23668708"/>
            <a:ext cx="14040612" cy="3622757"/>
          </a:xfrm>
          <a:prstGeom prst="rect">
            <a:avLst/>
          </a:prstGeom>
        </p:spPr>
      </p:pic>
      <p:sp>
        <p:nvSpPr>
          <p:cNvPr id="116" name="TextBox 115"/>
          <p:cNvSpPr txBox="1"/>
          <p:nvPr/>
        </p:nvSpPr>
        <p:spPr>
          <a:xfrm>
            <a:off x="15457932" y="27364617"/>
            <a:ext cx="14040612" cy="1051560"/>
          </a:xfrm>
          <a:prstGeom prst="rect">
            <a:avLst/>
          </a:prstGeom>
          <a:noFill/>
        </p:spPr>
        <p:txBody>
          <a:bodyPr wrap="square" lIns="0" rIns="0" tIns="0" bIns="0">
            <a:spAutoFit/>
          </a:bodyPr>
          <a:lstStyle/>
          <a:p>
            <a:pPr algn="l">
              <a:lnSpc>
                <a:spcPct val="115000"/>
              </a:lnSpc>
              <a:spcAft>
                <a:spcPts val="0"/>
              </a:spcAft>
            </a:pPr>
            <a:r>
              <a:rPr sz="2000" b="0" i="1">
                <a:solidFill>
                  <a:srgbClr val="6F6F6F"/>
                </a:solidFill>
                <a:latin typeface="Times New Roman"/>
              </a:rPr>
              <a:t>(a) R@100 vs shift strength α (α = 0: MeanShift, α = 1: full DB-side PMC): α = 1 is best or near-best, justifying the default. (b) Selective PMC: on concentrated-gap MSCOCO, top-P = 5% already reaches peak R@100; diffuse gaps require broader correction. (c) R@100–QPS Pareto: PMC dominates Vanilla across throughput levels.</a:t>
            </a:r>
          </a:p>
        </p:txBody>
      </p:sp>
      <p:sp>
        <p:nvSpPr>
          <p:cNvPr id="117" name="TextBox 116"/>
          <p:cNvSpPr txBox="1"/>
          <p:nvPr/>
        </p:nvSpPr>
        <p:spPr>
          <a:xfrm>
            <a:off x="15457932" y="28489329"/>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5.  Analysis</a:t>
            </a:r>
          </a:p>
        </p:txBody>
      </p:sp>
      <p:sp>
        <p:nvSpPr>
          <p:cNvPr id="118" name="Rectangle 117"/>
          <p:cNvSpPr/>
          <p:nvPr/>
        </p:nvSpPr>
        <p:spPr>
          <a:xfrm>
            <a:off x="15457932" y="29095119"/>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5457932" y="29172589"/>
            <a:ext cx="14040612" cy="427634"/>
          </a:xfrm>
          <a:prstGeom prst="rect">
            <a:avLst/>
          </a:prstGeom>
          <a:noFill/>
        </p:spPr>
        <p:txBody>
          <a:bodyPr wrap="square" lIns="0" rIns="0" tIns="0" bIns="0">
            <a:spAutoFit/>
          </a:bodyPr>
          <a:lstStyle/>
          <a:p>
            <a:pPr algn="l">
              <a:lnSpc>
                <a:spcPct val="122000"/>
              </a:lnSpc>
              <a:spcAft>
                <a:spcPts val="0"/>
              </a:spcAft>
            </a:pPr>
            <a:r>
              <a:rPr sz="2300" b="1" i="0">
                <a:solidFill>
                  <a:srgbClr val="1F1F1F"/>
                </a:solidFill>
                <a:latin typeface="Times New Roman"/>
              </a:rPr>
              <a:t>Every binary index has the same wound  </a:t>
            </a:r>
            <a:r>
              <a:rPr sz="2000" b="0" i="0">
                <a:solidFill>
                  <a:srgbClr val="6F6F6F"/>
                </a:solidFill>
                <a:latin typeface="Times New Roman"/>
              </a:rPr>
              <a:t>(R@100, Vanilla → PMC)</a:t>
            </a:r>
          </a:p>
        </p:txBody>
      </p:sp>
      <p:sp>
        <p:nvSpPr>
          <p:cNvPr id="120" name="TextBox 119"/>
          <p:cNvSpPr txBox="1"/>
          <p:nvPr/>
        </p:nvSpPr>
        <p:spPr>
          <a:xfrm>
            <a:off x="15457932" y="29709951"/>
            <a:ext cx="2926080" cy="438912"/>
          </a:xfrm>
          <a:prstGeom prst="rect">
            <a:avLst/>
          </a:prstGeom>
          <a:noFill/>
        </p:spPr>
        <p:txBody>
          <a:bodyPr wrap="none" anchor="ctr" lIns="0" rIns="0" tIns="0" bIns="0">
            <a:spAutoFit/>
          </a:bodyPr>
          <a:lstStyle/>
          <a:p>
            <a:pPr algn="l"/>
            <a:r>
              <a:rPr sz="2100" b="1" i="0">
                <a:solidFill>
                  <a:srgbClr val="6F6F6F"/>
                </a:solidFill>
                <a:latin typeface="Times New Roman"/>
              </a:rPr>
              <a:t>Method</a:t>
            </a:r>
          </a:p>
        </p:txBody>
      </p:sp>
      <p:sp>
        <p:nvSpPr>
          <p:cNvPr id="121" name="TextBox 120"/>
          <p:cNvSpPr txBox="1"/>
          <p:nvPr/>
        </p:nvSpPr>
        <p:spPr>
          <a:xfrm>
            <a:off x="18384012" y="29709951"/>
            <a:ext cx="5557266" cy="438912"/>
          </a:xfrm>
          <a:prstGeom prst="rect">
            <a:avLst/>
          </a:prstGeom>
          <a:noFill/>
        </p:spPr>
        <p:txBody>
          <a:bodyPr wrap="none" anchor="ctr" lIns="0" rIns="0" tIns="0" bIns="0">
            <a:spAutoFit/>
          </a:bodyPr>
          <a:lstStyle/>
          <a:p>
            <a:pPr algn="r"/>
            <a:r>
              <a:rPr sz="2100" b="1" i="0">
                <a:solidFill>
                  <a:srgbClr val="6F6F6F"/>
                </a:solidFill>
                <a:latin typeface="Times New Roman"/>
              </a:rPr>
              <a:t>MSCOCO t→i</a:t>
            </a:r>
          </a:p>
        </p:txBody>
      </p:sp>
      <p:sp>
        <p:nvSpPr>
          <p:cNvPr id="122" name="TextBox 121"/>
          <p:cNvSpPr txBox="1"/>
          <p:nvPr/>
        </p:nvSpPr>
        <p:spPr>
          <a:xfrm>
            <a:off x="23941278" y="29709951"/>
            <a:ext cx="5557266" cy="438912"/>
          </a:xfrm>
          <a:prstGeom prst="rect">
            <a:avLst/>
          </a:prstGeom>
          <a:noFill/>
        </p:spPr>
        <p:txBody>
          <a:bodyPr wrap="none" anchor="ctr" lIns="0" rIns="0" tIns="0" bIns="0">
            <a:spAutoFit/>
          </a:bodyPr>
          <a:lstStyle/>
          <a:p>
            <a:pPr algn="r"/>
            <a:r>
              <a:rPr sz="2100" b="1" i="0">
                <a:solidFill>
                  <a:srgbClr val="6F6F6F"/>
                </a:solidFill>
                <a:latin typeface="Times New Roman"/>
              </a:rPr>
              <a:t>AudioCaps a→t</a:t>
            </a:r>
          </a:p>
        </p:txBody>
      </p:sp>
      <p:sp>
        <p:nvSpPr>
          <p:cNvPr id="123" name="Rectangle 122"/>
          <p:cNvSpPr/>
          <p:nvPr/>
        </p:nvSpPr>
        <p:spPr>
          <a:xfrm>
            <a:off x="15457932" y="30185439"/>
            <a:ext cx="14040612" cy="1905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5457932" y="302227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BinaryFlat</a:t>
            </a:r>
          </a:p>
        </p:txBody>
      </p:sp>
      <p:sp>
        <p:nvSpPr>
          <p:cNvPr id="125" name="TextBox 124"/>
          <p:cNvSpPr txBox="1"/>
          <p:nvPr/>
        </p:nvSpPr>
        <p:spPr>
          <a:xfrm>
            <a:off x="18384012" y="302227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.51 → </a:t>
            </a:r>
            <a:r>
              <a:rPr sz="2300" b="1" i="0">
                <a:solidFill>
                  <a:srgbClr val="1F1F1F"/>
                </a:solidFill>
                <a:latin typeface="Times New Roman"/>
              </a:rPr>
              <a:t>.57</a:t>
            </a:r>
          </a:p>
        </p:txBody>
      </p:sp>
      <p:sp>
        <p:nvSpPr>
          <p:cNvPr id="126" name="TextBox 125"/>
          <p:cNvSpPr txBox="1"/>
          <p:nvPr/>
        </p:nvSpPr>
        <p:spPr>
          <a:xfrm>
            <a:off x="23941278" y="302227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.51 → </a:t>
            </a:r>
            <a:r>
              <a:rPr sz="2300" b="1" i="0">
                <a:solidFill>
                  <a:srgbClr val="1F1F1F"/>
                </a:solidFill>
                <a:latin typeface="Times New Roman"/>
              </a:rPr>
              <a:t>.64</a:t>
            </a:r>
          </a:p>
        </p:txBody>
      </p:sp>
      <p:sp>
        <p:nvSpPr>
          <p:cNvPr id="127" name="Rectangle 126"/>
          <p:cNvSpPr/>
          <p:nvPr/>
        </p:nvSpPr>
        <p:spPr>
          <a:xfrm>
            <a:off x="15457932" y="306799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5457932" y="306799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BinaryIVF</a:t>
            </a:r>
          </a:p>
        </p:txBody>
      </p:sp>
      <p:sp>
        <p:nvSpPr>
          <p:cNvPr id="129" name="TextBox 128"/>
          <p:cNvSpPr txBox="1"/>
          <p:nvPr/>
        </p:nvSpPr>
        <p:spPr>
          <a:xfrm>
            <a:off x="18384012" y="306799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.51 → </a:t>
            </a:r>
            <a:r>
              <a:rPr sz="2300" b="1" i="0">
                <a:solidFill>
                  <a:srgbClr val="1F1F1F"/>
                </a:solidFill>
                <a:latin typeface="Times New Roman"/>
              </a:rPr>
              <a:t>.57</a:t>
            </a:r>
          </a:p>
        </p:txBody>
      </p:sp>
      <p:sp>
        <p:nvSpPr>
          <p:cNvPr id="130" name="TextBox 129"/>
          <p:cNvSpPr txBox="1"/>
          <p:nvPr/>
        </p:nvSpPr>
        <p:spPr>
          <a:xfrm>
            <a:off x="23941278" y="306799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.50 → </a:t>
            </a:r>
            <a:r>
              <a:rPr sz="2300" b="1" i="0">
                <a:solidFill>
                  <a:srgbClr val="1F1F1F"/>
                </a:solidFill>
                <a:latin typeface="Times New Roman"/>
              </a:rPr>
              <a:t>.63</a:t>
            </a:r>
          </a:p>
        </p:txBody>
      </p:sp>
      <p:sp>
        <p:nvSpPr>
          <p:cNvPr id="131" name="Rectangle 130"/>
          <p:cNvSpPr/>
          <p:nvPr/>
        </p:nvSpPr>
        <p:spPr>
          <a:xfrm>
            <a:off x="15457932" y="311371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5457932" y="311371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RotatedBinary</a:t>
            </a:r>
          </a:p>
        </p:txBody>
      </p:sp>
      <p:sp>
        <p:nvSpPr>
          <p:cNvPr id="133" name="TextBox 132"/>
          <p:cNvSpPr txBox="1"/>
          <p:nvPr/>
        </p:nvSpPr>
        <p:spPr>
          <a:xfrm>
            <a:off x="18384012" y="311371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.29 → </a:t>
            </a:r>
            <a:r>
              <a:rPr sz="2300" b="1" i="0">
                <a:solidFill>
                  <a:srgbClr val="1F1F1F"/>
                </a:solidFill>
                <a:latin typeface="Times New Roman"/>
              </a:rPr>
              <a:t>.58</a:t>
            </a:r>
          </a:p>
        </p:txBody>
      </p:sp>
      <p:sp>
        <p:nvSpPr>
          <p:cNvPr id="134" name="TextBox 133"/>
          <p:cNvSpPr txBox="1"/>
          <p:nvPr/>
        </p:nvSpPr>
        <p:spPr>
          <a:xfrm>
            <a:off x="23941278" y="311371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.63 → </a:t>
            </a:r>
            <a:r>
              <a:rPr sz="2300" b="1" i="0">
                <a:solidFill>
                  <a:srgbClr val="1F1F1F"/>
                </a:solidFill>
                <a:latin typeface="Times New Roman"/>
              </a:rPr>
              <a:t>.69</a:t>
            </a:r>
          </a:p>
        </p:txBody>
      </p:sp>
      <p:sp>
        <p:nvSpPr>
          <p:cNvPr id="135" name="Rectangle 134"/>
          <p:cNvSpPr/>
          <p:nvPr/>
        </p:nvSpPr>
        <p:spPr>
          <a:xfrm>
            <a:off x="15457932" y="315943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5457932" y="315943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RaBitQ</a:t>
            </a:r>
          </a:p>
        </p:txBody>
      </p:sp>
      <p:sp>
        <p:nvSpPr>
          <p:cNvPr id="137" name="TextBox 136"/>
          <p:cNvSpPr txBox="1"/>
          <p:nvPr/>
        </p:nvSpPr>
        <p:spPr>
          <a:xfrm>
            <a:off x="18384012" y="315943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.58 → </a:t>
            </a:r>
            <a:r>
              <a:rPr sz="2300" b="1" i="0">
                <a:solidFill>
                  <a:srgbClr val="1F1F1F"/>
                </a:solidFill>
                <a:latin typeface="Times New Roman"/>
              </a:rPr>
              <a:t>.64</a:t>
            </a:r>
          </a:p>
        </p:txBody>
      </p:sp>
      <p:sp>
        <p:nvSpPr>
          <p:cNvPr id="138" name="TextBox 137"/>
          <p:cNvSpPr txBox="1"/>
          <p:nvPr/>
        </p:nvSpPr>
        <p:spPr>
          <a:xfrm>
            <a:off x="23941278" y="315943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.67 → </a:t>
            </a:r>
            <a:r>
              <a:rPr sz="2300" b="1" i="0">
                <a:solidFill>
                  <a:srgbClr val="1F1F1F"/>
                </a:solidFill>
                <a:latin typeface="Times New Roman"/>
              </a:rPr>
              <a:t>.75</a:t>
            </a:r>
          </a:p>
        </p:txBody>
      </p:sp>
      <p:sp>
        <p:nvSpPr>
          <p:cNvPr id="139" name="Rectangle 138"/>
          <p:cNvSpPr/>
          <p:nvPr/>
        </p:nvSpPr>
        <p:spPr>
          <a:xfrm>
            <a:off x="15457932" y="320515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15457932" y="32179593"/>
            <a:ext cx="14040612" cy="1699666"/>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Rotation (BBQ-style) spreads the concentrated gap energy across every bit, so RotatedBinary collapses hardest without correction — and gains most from it. PMC improves or matches R@100 in all 16 method × direction configurations: the wound is in the centroid, so the same one-line fix serves every sign(x − c) method. Multi-bit quantizers (IVFPQ, OPQ) absorb part of the displacement yet still gain +1–56%.</a:t>
            </a:r>
          </a:p>
        </p:txBody>
      </p:sp>
      <p:sp>
        <p:nvSpPr>
          <p:cNvPr id="141" name="TextBox 140"/>
          <p:cNvSpPr txBox="1"/>
          <p:nvPr/>
        </p:nvSpPr>
        <p:spPr>
          <a:xfrm>
            <a:off x="15457932" y="33988987"/>
            <a:ext cx="14040612" cy="446227"/>
          </a:xfrm>
          <a:prstGeom prst="rect">
            <a:avLst/>
          </a:prstGeom>
          <a:noFill/>
        </p:spPr>
        <p:txBody>
          <a:bodyPr wrap="square" lIns="0" rIns="0" tIns="0" bIns="0">
            <a:spAutoFit/>
          </a:bodyPr>
          <a:lstStyle/>
          <a:p>
            <a:pPr algn="l">
              <a:lnSpc>
                <a:spcPct val="122000"/>
              </a:lnSpc>
              <a:spcAft>
                <a:spcPts val="0"/>
              </a:spcAft>
            </a:pPr>
            <a:r>
              <a:rPr sz="2400" b="1" i="0">
                <a:solidFill>
                  <a:srgbClr val="1F1F1F"/>
                </a:solidFill>
                <a:latin typeface="Times New Roman"/>
              </a:rPr>
              <a:t>Where to correct  </a:t>
            </a:r>
            <a:r>
              <a:rPr sz="2000" b="0" i="0">
                <a:solidFill>
                  <a:srgbClr val="6F6F6F"/>
                </a:solidFill>
                <a:latin typeface="Times New Roman"/>
              </a:rPr>
              <a:t>(MSCOCO · CLIP-B/32 · R@100 t→i)</a:t>
            </a:r>
          </a:p>
        </p:txBody>
      </p:sp>
      <p:sp>
        <p:nvSpPr>
          <p:cNvPr id="142" name="Rectangle 141"/>
          <p:cNvSpPr/>
          <p:nvPr/>
        </p:nvSpPr>
        <p:spPr>
          <a:xfrm>
            <a:off x="15457932" y="3456323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15457932" y="34563230"/>
            <a:ext cx="8546657" cy="457200"/>
          </a:xfrm>
          <a:prstGeom prst="rect">
            <a:avLst/>
          </a:prstGeom>
          <a:solidFill>
            <a:srgbClr val="C6C6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15622524" y="34563230"/>
            <a:ext cx="12211812" cy="457200"/>
          </a:xfrm>
          <a:prstGeom prst="rect">
            <a:avLst/>
          </a:prstGeom>
          <a:noFill/>
        </p:spPr>
        <p:txBody>
          <a:bodyPr wrap="none" anchor="ctr" lIns="0" rIns="0" tIns="0" bIns="0">
            <a:spAutoFit/>
          </a:bodyPr>
          <a:lstStyle/>
          <a:p>
            <a:pPr algn="l"/>
            <a:r>
              <a:rPr sz="2400" b="0" i="0">
                <a:solidFill>
                  <a:srgbClr val="1F1F1F"/>
                </a:solidFill>
                <a:latin typeface="Times New Roman"/>
              </a:rPr>
              <a:t>Vanilla</a:t>
            </a:r>
          </a:p>
        </p:txBody>
      </p:sp>
      <p:sp>
        <p:nvSpPr>
          <p:cNvPr id="145" name="TextBox 144"/>
          <p:cNvSpPr txBox="1"/>
          <p:nvPr/>
        </p:nvSpPr>
        <p:spPr>
          <a:xfrm>
            <a:off x="28072080" y="34563230"/>
            <a:ext cx="1426464" cy="457200"/>
          </a:xfrm>
          <a:prstGeom prst="rect">
            <a:avLst/>
          </a:prstGeom>
          <a:noFill/>
        </p:spPr>
        <p:txBody>
          <a:bodyPr wrap="none" anchor="ctr" lIns="0" rIns="0" tIns="0" bIns="0">
            <a:spAutoFit/>
          </a:bodyPr>
          <a:lstStyle/>
          <a:p>
            <a:pPr algn="l"/>
            <a:r>
              <a:rPr sz="2400" b="0" i="0">
                <a:solidFill>
                  <a:srgbClr val="1F1F1F"/>
                </a:solidFill>
                <a:latin typeface="Times New Roman"/>
              </a:rPr>
              <a:t>.578</a:t>
            </a:r>
          </a:p>
        </p:txBody>
      </p:sp>
      <p:sp>
        <p:nvSpPr>
          <p:cNvPr id="146" name="Rectangle 145"/>
          <p:cNvSpPr/>
          <p:nvPr/>
        </p:nvSpPr>
        <p:spPr>
          <a:xfrm>
            <a:off x="15457932" y="3511187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15457932" y="35111870"/>
            <a:ext cx="6076139" cy="457200"/>
          </a:xfrm>
          <a:prstGeom prst="rect">
            <a:avLst/>
          </a:prstGeom>
          <a:solidFill>
            <a:srgbClr val="C6C6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15622524" y="35111870"/>
            <a:ext cx="12211812" cy="457200"/>
          </a:xfrm>
          <a:prstGeom prst="rect">
            <a:avLst/>
          </a:prstGeom>
          <a:noFill/>
        </p:spPr>
        <p:txBody>
          <a:bodyPr wrap="none" anchor="ctr" lIns="0" rIns="0" tIns="0" bIns="0">
            <a:spAutoFit/>
          </a:bodyPr>
          <a:lstStyle/>
          <a:p>
            <a:pPr algn="l"/>
            <a:r>
              <a:rPr sz="2400" b="0" i="0">
                <a:solidFill>
                  <a:srgbClr val="1F1F1F"/>
                </a:solidFill>
                <a:latin typeface="Times New Roman"/>
              </a:rPr>
              <a:t>Query-only</a:t>
            </a:r>
          </a:p>
        </p:txBody>
      </p:sp>
      <p:sp>
        <p:nvSpPr>
          <p:cNvPr id="149" name="TextBox 148"/>
          <p:cNvSpPr txBox="1"/>
          <p:nvPr/>
        </p:nvSpPr>
        <p:spPr>
          <a:xfrm>
            <a:off x="28072080" y="35111870"/>
            <a:ext cx="1426464" cy="457200"/>
          </a:xfrm>
          <a:prstGeom prst="rect">
            <a:avLst/>
          </a:prstGeom>
          <a:noFill/>
        </p:spPr>
        <p:txBody>
          <a:bodyPr wrap="none" anchor="ctr" lIns="0" rIns="0" tIns="0" bIns="0">
            <a:spAutoFit/>
          </a:bodyPr>
          <a:lstStyle/>
          <a:p>
            <a:pPr algn="l"/>
            <a:r>
              <a:rPr sz="2400" b="0" i="0">
                <a:solidFill>
                  <a:srgbClr val="1F1F1F"/>
                </a:solidFill>
                <a:latin typeface="Times New Roman"/>
              </a:rPr>
              <a:t>.541</a:t>
            </a:r>
          </a:p>
        </p:txBody>
      </p:sp>
      <p:sp>
        <p:nvSpPr>
          <p:cNvPr id="150" name="Rectangle 149"/>
          <p:cNvSpPr/>
          <p:nvPr/>
        </p:nvSpPr>
        <p:spPr>
          <a:xfrm>
            <a:off x="15457932" y="3566051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15457932" y="35660510"/>
            <a:ext cx="9948843" cy="457200"/>
          </a:xfrm>
          <a:prstGeom prst="rect">
            <a:avLst/>
          </a:prstGeom>
          <a:solidFill>
            <a:srgbClr val="C6C6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5622524" y="35660510"/>
            <a:ext cx="12211812" cy="457200"/>
          </a:xfrm>
          <a:prstGeom prst="rect">
            <a:avLst/>
          </a:prstGeom>
          <a:noFill/>
        </p:spPr>
        <p:txBody>
          <a:bodyPr wrap="none" anchor="ctr" lIns="0" rIns="0" tIns="0" bIns="0">
            <a:spAutoFit/>
          </a:bodyPr>
          <a:lstStyle/>
          <a:p>
            <a:pPr algn="l"/>
            <a:r>
              <a:rPr sz="2400" b="0" i="0">
                <a:solidFill>
                  <a:srgbClr val="1F1F1F"/>
                </a:solidFill>
                <a:latin typeface="Times New Roman"/>
              </a:rPr>
              <a:t>Both sides</a:t>
            </a:r>
          </a:p>
        </p:txBody>
      </p:sp>
      <p:sp>
        <p:nvSpPr>
          <p:cNvPr id="153" name="TextBox 152"/>
          <p:cNvSpPr txBox="1"/>
          <p:nvPr/>
        </p:nvSpPr>
        <p:spPr>
          <a:xfrm>
            <a:off x="28072080" y="35660510"/>
            <a:ext cx="1426464" cy="457200"/>
          </a:xfrm>
          <a:prstGeom prst="rect">
            <a:avLst/>
          </a:prstGeom>
          <a:noFill/>
        </p:spPr>
        <p:txBody>
          <a:bodyPr wrap="none" anchor="ctr" lIns="0" rIns="0" tIns="0" bIns="0">
            <a:spAutoFit/>
          </a:bodyPr>
          <a:lstStyle/>
          <a:p>
            <a:pPr algn="l"/>
            <a:r>
              <a:rPr sz="2400" b="0" i="0">
                <a:solidFill>
                  <a:srgbClr val="1F1F1F"/>
                </a:solidFill>
                <a:latin typeface="Times New Roman"/>
              </a:rPr>
              <a:t>.599</a:t>
            </a:r>
          </a:p>
        </p:txBody>
      </p:sp>
      <p:sp>
        <p:nvSpPr>
          <p:cNvPr id="154" name="Rectangle 153"/>
          <p:cNvSpPr/>
          <p:nvPr/>
        </p:nvSpPr>
        <p:spPr>
          <a:xfrm>
            <a:off x="15457932" y="3620915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15457932" y="36209150"/>
            <a:ext cx="12486132" cy="457200"/>
          </a:xfrm>
          <a:prstGeom prst="rect">
            <a:avLst/>
          </a:prstGeom>
          <a:solidFill>
            <a:srgbClr val="8F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5-Point Star 155"/>
          <p:cNvSpPr/>
          <p:nvPr/>
        </p:nvSpPr>
        <p:spPr>
          <a:xfrm>
            <a:off x="15604236" y="36282302"/>
            <a:ext cx="310896" cy="310896"/>
          </a:xfrm>
          <a:prstGeom prst="star5">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16024860" y="36209150"/>
            <a:ext cx="11809476" cy="457200"/>
          </a:xfrm>
          <a:prstGeom prst="rect">
            <a:avLst/>
          </a:prstGeom>
          <a:noFill/>
        </p:spPr>
        <p:txBody>
          <a:bodyPr wrap="none" anchor="ctr" lIns="0" rIns="0" tIns="0" bIns="0">
            <a:spAutoFit/>
          </a:bodyPr>
          <a:lstStyle/>
          <a:p>
            <a:pPr algn="l"/>
            <a:r>
              <a:rPr sz="2400" b="1" i="0">
                <a:solidFill>
                  <a:srgbClr val="1F1F1F"/>
                </a:solidFill>
                <a:latin typeface="Times New Roman"/>
              </a:rPr>
              <a:t>DB-only  (PMC)</a:t>
            </a:r>
          </a:p>
        </p:txBody>
      </p:sp>
      <p:sp>
        <p:nvSpPr>
          <p:cNvPr id="158" name="TextBox 157"/>
          <p:cNvSpPr txBox="1"/>
          <p:nvPr/>
        </p:nvSpPr>
        <p:spPr>
          <a:xfrm>
            <a:off x="28072080" y="36209150"/>
            <a:ext cx="1426464" cy="457200"/>
          </a:xfrm>
          <a:prstGeom prst="rect">
            <a:avLst/>
          </a:prstGeom>
          <a:noFill/>
        </p:spPr>
        <p:txBody>
          <a:bodyPr wrap="none" anchor="ctr" lIns="0" rIns="0" tIns="0" bIns="0">
            <a:spAutoFit/>
          </a:bodyPr>
          <a:lstStyle/>
          <a:p>
            <a:pPr algn="l"/>
            <a:r>
              <a:rPr sz="2400" b="1" i="0">
                <a:solidFill>
                  <a:srgbClr val="1F1F1F"/>
                </a:solidFill>
                <a:latin typeface="Times New Roman"/>
              </a:rPr>
              <a:t>.637</a:t>
            </a:r>
          </a:p>
        </p:txBody>
      </p:sp>
      <p:sp>
        <p:nvSpPr>
          <p:cNvPr id="159" name="TextBox 158"/>
          <p:cNvSpPr txBox="1"/>
          <p:nvPr/>
        </p:nvSpPr>
        <p:spPr>
          <a:xfrm>
            <a:off x="15457932" y="36812654"/>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Shifting both sides re-displaces the routing pivot, and random, shuffled or sign-flipped directions of the same norm all fall below Vanilla — the direction of g is what matters. </a:t>
            </a:r>
            <a:r>
              <a:rPr sz="2200" b="1" i="0">
                <a:solidFill>
                  <a:srgbClr val="8B0029"/>
                </a:solidFill>
                <a:latin typeface="Times New Roman"/>
              </a:rPr>
              <a:t>Correct the centroid where it controls both routing and code formation.</a:t>
            </a:r>
          </a:p>
        </p:txBody>
      </p:sp>
      <p:sp>
        <p:nvSpPr>
          <p:cNvPr id="160" name="Rectangle 159"/>
          <p:cNvSpPr/>
          <p:nvPr/>
        </p:nvSpPr>
        <p:spPr>
          <a:xfrm>
            <a:off x="15457932" y="38286158"/>
            <a:ext cx="14040612" cy="2313228"/>
          </a:xfrm>
          <a:prstGeom prst="rect">
            <a:avLst/>
          </a:prstGeom>
          <a:solidFill>
            <a:srgbClr val="E6E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15695676" y="38523902"/>
            <a:ext cx="13565124" cy="1837740"/>
          </a:xfrm>
          <a:prstGeom prst="rect">
            <a:avLst/>
          </a:prstGeom>
          <a:noFill/>
        </p:spPr>
        <p:txBody>
          <a:bodyPr wrap="square" lIns="0" rIns="0" tIns="0" bIns="0">
            <a:spAutoFit/>
          </a:bodyPr>
          <a:lstStyle/>
          <a:p>
            <a:pPr algn="l">
              <a:lnSpc>
                <a:spcPct val="128000"/>
              </a:lnSpc>
              <a:spcAft>
                <a:spcPts val="400"/>
              </a:spcAft>
            </a:pPr>
            <a:r>
              <a:rPr sz="2300" b="1" i="0">
                <a:solidFill>
                  <a:srgbClr val="0D4DA3"/>
                </a:solidFill>
                <a:latin typeface="Times New Roman"/>
              </a:rPr>
              <a:t>Correct the index, not the query:  </a:t>
            </a:r>
            <a:r>
              <a:rPr sz="2300" b="1" i="0">
                <a:solidFill>
                  <a:srgbClr val="1F1F1F"/>
                </a:solidFill>
                <a:latin typeface="Times New Roman"/>
              </a:rPr>
              <a:t>a one-time, database-side centroid correction repairs IVF routing and binary quantization together — zero query-time transform, zero extra index memory, QPS unchanged at every n</a:t>
            </a:r>
            <a:r>
              <a:rPr sz="2070" b="1" i="0" baseline="-25000">
                <a:solidFill>
                  <a:srgbClr val="1F1F1F"/>
                </a:solidFill>
                <a:latin typeface="Times New Roman"/>
              </a:rPr>
              <a:t>probe</a:t>
            </a:r>
            <a:r>
              <a:rPr sz="2300" b="1" i="0">
                <a:solidFill>
                  <a:srgbClr val="1F1F1F"/>
                </a:solidFill>
                <a:latin typeface="Times New Roman"/>
              </a:rPr>
              <a:t>.</a:t>
            </a:r>
          </a:p>
          <a:p>
            <a:pPr algn="l">
              <a:lnSpc>
                <a:spcPct val="128000"/>
              </a:lnSpc>
              <a:spcAft>
                <a:spcPts val="400"/>
              </a:spcAft>
            </a:pPr>
            <a:r>
              <a:rPr sz="2000" b="0" i="0">
                <a:solidFill>
                  <a:srgbClr val="6F6F6F"/>
                </a:solidFill>
                <a:latin typeface="Times New Roman"/>
              </a:rPr>
              <a:t>Future work: drift-adaptive α, graph-based ANN, billion-scale deployment.</a:t>
            </a:r>
          </a:p>
        </p:txBody>
      </p:sp>
      <p:sp>
        <p:nvSpPr>
          <p:cNvPr id="162" name="Rectangle 161"/>
          <p:cNvSpPr/>
          <p:nvPr/>
        </p:nvSpPr>
        <p:spPr>
          <a:xfrm>
            <a:off x="0" y="40928545"/>
            <a:ext cx="30275784" cy="1874519"/>
          </a:xfrm>
          <a:prstGeom prst="rect">
            <a:avLst/>
          </a:prstGeom>
          <a:solidFill>
            <a:srgbClr val="F6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ectangle 162"/>
          <p:cNvSpPr/>
          <p:nvPr/>
        </p:nvSpPr>
        <p:spPr>
          <a:xfrm>
            <a:off x="0" y="40928545"/>
            <a:ext cx="30275784" cy="381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4" name="Picture 163" descr="asset_cikm.png"/>
          <p:cNvPicPr>
            <a:picLocks noChangeAspect="1"/>
          </p:cNvPicPr>
          <p:nvPr/>
        </p:nvPicPr>
        <p:blipFill>
          <a:blip r:embed="rId8"/>
          <a:stretch>
            <a:fillRect/>
          </a:stretch>
        </p:blipFill>
        <p:spPr>
          <a:xfrm>
            <a:off x="777240" y="41257729"/>
            <a:ext cx="1539792" cy="1188720"/>
          </a:xfrm>
          <a:prstGeom prst="rect">
            <a:avLst/>
          </a:prstGeom>
        </p:spPr>
      </p:pic>
      <p:sp>
        <p:nvSpPr>
          <p:cNvPr id="165" name="TextBox 164"/>
          <p:cNvSpPr txBox="1"/>
          <p:nvPr/>
        </p:nvSpPr>
        <p:spPr>
          <a:xfrm>
            <a:off x="2911392" y="41385745"/>
            <a:ext cx="26587152" cy="415848"/>
          </a:xfrm>
          <a:prstGeom prst="rect">
            <a:avLst/>
          </a:prstGeom>
          <a:noFill/>
        </p:spPr>
        <p:txBody>
          <a:bodyPr wrap="square" lIns="0" rIns="0" tIns="0" bIns="0">
            <a:spAutoFit/>
          </a:bodyPr>
          <a:lstStyle/>
          <a:p>
            <a:pPr algn="l">
              <a:lnSpc>
                <a:spcPct val="122000"/>
              </a:lnSpc>
              <a:spcAft>
                <a:spcPts val="200"/>
              </a:spcAft>
            </a:pPr>
            <a:r>
              <a:rPr sz="2100" b="1" i="0">
                <a:solidFill>
                  <a:srgbClr val="1F1F1F"/>
                </a:solidFill>
                <a:latin typeface="Times New Roman"/>
              </a:rPr>
              <a:t>The 35th ACM International Conference on Information and Knowledge Management  ·  November 07–11, 2026  ·  Rome, Italy</a:t>
            </a:r>
          </a:p>
        </p:txBody>
      </p:sp>
      <p:sp>
        <p:nvSpPr>
          <p:cNvPr id="166" name="TextBox 165"/>
          <p:cNvSpPr txBox="1"/>
          <p:nvPr/>
        </p:nvSpPr>
        <p:spPr>
          <a:xfrm>
            <a:off x="2911392" y="41801593"/>
            <a:ext cx="26587152" cy="334670"/>
          </a:xfrm>
          <a:prstGeom prst="rect">
            <a:avLst/>
          </a:prstGeom>
          <a:noFill/>
        </p:spPr>
        <p:txBody>
          <a:bodyPr wrap="square" lIns="0" rIns="0" tIns="0" bIns="0">
            <a:spAutoFit/>
          </a:bodyPr>
          <a:lstStyle/>
          <a:p>
            <a:pPr algn="l">
              <a:lnSpc>
                <a:spcPct val="122000"/>
              </a:lnSpc>
              <a:spcAft>
                <a:spcPts val="0"/>
              </a:spcAft>
            </a:pPr>
            <a:r>
              <a:rPr sz="1800" b="0" i="0">
                <a:solidFill>
                  <a:srgbClr val="6F6F6F"/>
                </a:solidFill>
                <a:latin typeface="Times New Roman"/>
              </a:rPr>
              <a:t>CC-BY 4.0   ·   Code and reproduction package:  github.com/sehoon787/PMC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