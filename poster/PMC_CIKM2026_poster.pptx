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784" cy="4280306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0275784" cy="42803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sset_ielab.png"/>
          <p:cNvPicPr>
            <a:picLocks noChangeAspect="1"/>
          </p:cNvPicPr>
          <p:nvPr/>
        </p:nvPicPr>
        <p:blipFill>
          <a:blip r:embed="rId2"/>
          <a:stretch>
            <a:fillRect/>
          </a:stretch>
        </p:blipFill>
        <p:spPr>
          <a:xfrm>
            <a:off x="26877050" y="594360"/>
            <a:ext cx="2621494" cy="1051560"/>
          </a:xfrm>
          <a:prstGeom prst="rect">
            <a:avLst/>
          </a:prstGeom>
        </p:spPr>
      </p:pic>
      <p:pic>
        <p:nvPicPr>
          <p:cNvPr id="4" name="Picture 3" descr="asset_ku.jpg"/>
          <p:cNvPicPr>
            <a:picLocks noChangeAspect="1"/>
          </p:cNvPicPr>
          <p:nvPr/>
        </p:nvPicPr>
        <p:blipFill>
          <a:blip r:embed="rId3"/>
          <a:stretch>
            <a:fillRect/>
          </a:stretch>
        </p:blipFill>
        <p:spPr>
          <a:xfrm>
            <a:off x="23050566" y="594360"/>
            <a:ext cx="3369284" cy="1051560"/>
          </a:xfrm>
          <a:prstGeom prst="rect">
            <a:avLst/>
          </a:prstGeom>
        </p:spPr>
      </p:pic>
      <p:pic>
        <p:nvPicPr>
          <p:cNvPr id="5" name="Picture 4" descr="asset_qr.png"/>
          <p:cNvPicPr>
            <a:picLocks noChangeAspect="1"/>
          </p:cNvPicPr>
          <p:nvPr/>
        </p:nvPicPr>
        <p:blipFill>
          <a:blip r:embed="rId4"/>
          <a:stretch>
            <a:fillRect/>
          </a:stretch>
        </p:blipFill>
        <p:spPr>
          <a:xfrm>
            <a:off x="27624025" y="2011680"/>
            <a:ext cx="1874519" cy="1874519"/>
          </a:xfrm>
          <a:prstGeom prst="rect">
            <a:avLst/>
          </a:prstGeom>
        </p:spPr>
      </p:pic>
      <p:sp>
        <p:nvSpPr>
          <p:cNvPr id="6" name="TextBox 5"/>
          <p:cNvSpPr txBox="1"/>
          <p:nvPr/>
        </p:nvSpPr>
        <p:spPr>
          <a:xfrm>
            <a:off x="23554944" y="3977639"/>
            <a:ext cx="5943600" cy="411480"/>
          </a:xfrm>
          <a:prstGeom prst="rect">
            <a:avLst/>
          </a:prstGeom>
          <a:noFill/>
        </p:spPr>
        <p:txBody>
          <a:bodyPr wrap="none" anchor="ctr" lIns="0" rIns="0" tIns="0" bIns="0">
            <a:spAutoFit/>
          </a:bodyPr>
          <a:lstStyle/>
          <a:p>
            <a:pPr algn="r"/>
            <a:r>
              <a:rPr sz="1700" b="0" i="0">
                <a:solidFill>
                  <a:srgbClr val="6F6F6F"/>
                </a:solidFill>
                <a:latin typeface="Times New Roman"/>
              </a:rPr>
              <a:t>Paper + code:  github.com/sehoon787/PMC</a:t>
            </a:r>
          </a:p>
        </p:txBody>
      </p:sp>
      <p:sp>
        <p:nvSpPr>
          <p:cNvPr id="7" name="TextBox 6"/>
          <p:cNvSpPr txBox="1"/>
          <p:nvPr/>
        </p:nvSpPr>
        <p:spPr>
          <a:xfrm>
            <a:off x="777240" y="658368"/>
            <a:ext cx="20491704" cy="1844040"/>
          </a:xfrm>
          <a:prstGeom prst="rect">
            <a:avLst/>
          </a:prstGeom>
          <a:noFill/>
        </p:spPr>
        <p:txBody>
          <a:bodyPr wrap="square" lIns="0" rIns="0" tIns="0" bIns="0">
            <a:spAutoFit/>
          </a:bodyPr>
          <a:lstStyle/>
          <a:p>
            <a:pPr algn="l">
              <a:lnSpc>
                <a:spcPct val="110000"/>
              </a:lnSpc>
              <a:spcAft>
                <a:spcPts val="0"/>
              </a:spcAft>
            </a:pPr>
            <a:r>
              <a:rPr sz="5500" b="1" i="0">
                <a:solidFill>
                  <a:srgbClr val="8B0029"/>
                </a:solidFill>
                <a:latin typeface="Times New Roman"/>
              </a:rPr>
              <a:t>PMC: Build-Time Per-Modality Centroid Correction</a:t>
            </a:r>
          </a:p>
          <a:p>
            <a:pPr algn="l">
              <a:lnSpc>
                <a:spcPct val="110000"/>
              </a:lnSpc>
              <a:spcAft>
                <a:spcPts val="0"/>
              </a:spcAft>
            </a:pPr>
            <a:r>
              <a:rPr sz="5500" b="1" i="0">
                <a:solidFill>
                  <a:srgbClr val="8B0029"/>
                </a:solidFill>
                <a:latin typeface="Times New Roman"/>
              </a:rPr>
              <a:t>for Cross-Modal Binary-Quantized Retrieval</a:t>
            </a:r>
          </a:p>
        </p:txBody>
      </p:sp>
      <p:sp>
        <p:nvSpPr>
          <p:cNvPr id="8" name="TextBox 7"/>
          <p:cNvSpPr txBox="1"/>
          <p:nvPr/>
        </p:nvSpPr>
        <p:spPr>
          <a:xfrm>
            <a:off x="777240" y="2740152"/>
            <a:ext cx="20491704" cy="557784"/>
          </a:xfrm>
          <a:prstGeom prst="rect">
            <a:avLst/>
          </a:prstGeom>
          <a:noFill/>
        </p:spPr>
        <p:txBody>
          <a:bodyPr wrap="square" lIns="0" rIns="0" tIns="0" bIns="0">
            <a:spAutoFit/>
          </a:bodyPr>
          <a:lstStyle/>
          <a:p>
            <a:pPr algn="l">
              <a:lnSpc>
                <a:spcPct val="122000"/>
              </a:lnSpc>
              <a:spcAft>
                <a:spcPts val="0"/>
              </a:spcAft>
            </a:pPr>
            <a:r>
              <a:rPr sz="3000" b="0" i="0">
                <a:solidFill>
                  <a:srgbClr val="1F1F1F"/>
                </a:solidFill>
                <a:latin typeface="Times New Roman"/>
              </a:rPr>
              <a:t>Se Hoon Kim,   Jun Hyung Lee,   Soonyoung Jung*</a:t>
            </a:r>
          </a:p>
        </p:txBody>
      </p:sp>
      <p:sp>
        <p:nvSpPr>
          <p:cNvPr id="9" name="TextBox 8"/>
          <p:cNvSpPr txBox="1"/>
          <p:nvPr/>
        </p:nvSpPr>
        <p:spPr>
          <a:xfrm>
            <a:off x="777240" y="3371088"/>
            <a:ext cx="20491704" cy="409041"/>
          </a:xfrm>
          <a:prstGeom prst="rect">
            <a:avLst/>
          </a:prstGeom>
          <a:noFill/>
        </p:spPr>
        <p:txBody>
          <a:bodyPr wrap="square" lIns="0" rIns="0" tIns="0" bIns="0">
            <a:spAutoFit/>
          </a:bodyPr>
          <a:lstStyle/>
          <a:p>
            <a:pPr algn="l">
              <a:lnSpc>
                <a:spcPct val="122000"/>
              </a:lnSpc>
              <a:spcAft>
                <a:spcPts val="0"/>
              </a:spcAft>
            </a:pPr>
            <a:r>
              <a:rPr sz="2200" b="0" i="0">
                <a:solidFill>
                  <a:srgbClr val="6F6F6F"/>
                </a:solidFill>
                <a:latin typeface="Times New Roman"/>
              </a:rPr>
              <a:t>Department of Computer Science and Engineering, Korea University  ·  Intelligence Engineering Lab</a:t>
            </a:r>
          </a:p>
        </p:txBody>
      </p:sp>
      <p:sp>
        <p:nvSpPr>
          <p:cNvPr id="10" name="TextBox 9"/>
          <p:cNvSpPr txBox="1"/>
          <p:nvPr/>
        </p:nvSpPr>
        <p:spPr>
          <a:xfrm>
            <a:off x="777240" y="3834993"/>
            <a:ext cx="20491704" cy="371855"/>
          </a:xfrm>
          <a:prstGeom prst="rect">
            <a:avLst/>
          </a:prstGeom>
          <a:noFill/>
        </p:spPr>
        <p:txBody>
          <a:bodyPr wrap="square" lIns="0" rIns="0" tIns="0" bIns="0">
            <a:spAutoFit/>
          </a:bodyPr>
          <a:lstStyle/>
          <a:p>
            <a:pPr algn="l">
              <a:lnSpc>
                <a:spcPct val="122000"/>
              </a:lnSpc>
              <a:spcAft>
                <a:spcPts val="0"/>
              </a:spcAft>
            </a:pPr>
            <a:r>
              <a:rPr sz="2000" b="0" i="1">
                <a:solidFill>
                  <a:srgbClr val="6F6F6F"/>
                </a:solidFill>
                <a:latin typeface="Times New Roman"/>
              </a:rPr>
              <a:t>{sehoon787, junicus, jsy}@korea.ac.kr</a:t>
            </a:r>
          </a:p>
        </p:txBody>
      </p:sp>
      <p:sp>
        <p:nvSpPr>
          <p:cNvPr id="11" name="Rectangle 10"/>
          <p:cNvSpPr/>
          <p:nvPr/>
        </p:nvSpPr>
        <p:spPr>
          <a:xfrm>
            <a:off x="777240" y="4800600"/>
            <a:ext cx="2872130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37892" y="5184648"/>
            <a:ext cx="12700" cy="35469577"/>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5184648"/>
            <a:ext cx="14040612" cy="5320182"/>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58968"/>
            <a:ext cx="13491972" cy="4771542"/>
          </a:xfrm>
          <a:prstGeom prst="rect">
            <a:avLst/>
          </a:prstGeom>
          <a:noFill/>
        </p:spPr>
        <p:txBody>
          <a:bodyPr wrap="square" lIns="0" rIns="0" tIns="0" bIns="0">
            <a:spAutoFit/>
          </a:bodyPr>
          <a:lstStyle/>
          <a:p>
            <a:pPr algn="l">
              <a:lnSpc>
                <a:spcPct val="128000"/>
              </a:lnSpc>
              <a:spcAft>
                <a:spcPts val="400"/>
              </a:spcAft>
            </a:pPr>
            <a:r>
              <a:rPr sz="2200" b="1" i="0">
                <a:solidFill>
                  <a:srgbClr val="8B0029"/>
                </a:solidFill>
                <a:latin typeface="Times New Roman"/>
              </a:rPr>
              <a:t>Abstract.  </a:t>
            </a:r>
            <a:r>
              <a:rPr sz="2200" b="0" i="0">
                <a:solidFill>
                  <a:srgbClr val="1F1F1F"/>
                </a:solidFill>
                <a:latin typeface="Times New Roman"/>
              </a:rPr>
              <a:t>Approximate nearest neighbor search is a core operator in large-scale retrieval, where vector quantization is widely used to reduce memory cost. Binary quantization methods encode each dimension as a single bit, but they assume queries and database vectors share a common centroid. This assumption fails in cross-modal retrieval, where each modality clusters around a different centroid, producing a modality gap that corrupts the centroid's dual role as inverted-file routing pivot and sign-bit decision boundary. We propose Per-Modality Centroid Correction (PMC), which shifts database vectors toward the query centroid at build time, rewriting routing and code boundaries at the source rather than merely adjusting queries at serving time. A selective variant confirms that concentrated gap energy in a few dimensions drives most recall loss. PMC adds no index memory or serving overhead; at α=1, the correction is fully absorbed into the index with zero query-time cost. Experiments on five cross-modal benchmarks, three encoders, and four binary-quantized index types show gains over uncorrected and query-shifted baselines that scale with modality-gap magnitude, up to a 400M-vector deployment.</a:t>
            </a:r>
          </a:p>
        </p:txBody>
      </p:sp>
      <p:sp>
        <p:nvSpPr>
          <p:cNvPr id="15" name="TextBox 14"/>
          <p:cNvSpPr txBox="1"/>
          <p:nvPr/>
        </p:nvSpPr>
        <p:spPr>
          <a:xfrm>
            <a:off x="777240" y="1077915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1.  The problem: the modality gap</a:t>
            </a:r>
          </a:p>
        </p:txBody>
      </p:sp>
      <p:sp>
        <p:nvSpPr>
          <p:cNvPr id="16" name="Rectangle 15"/>
          <p:cNvSpPr/>
          <p:nvPr/>
        </p:nvSpPr>
        <p:spPr>
          <a:xfrm>
            <a:off x="777240" y="1138494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1146241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frozen multimodal encoder φ maps both modalities into d-dimensional space: the database holds modality-b embeddings, queries come from modality a. Their means differ — the </a:t>
            </a:r>
            <a:r>
              <a:rPr sz="2200" b="1" i="0">
                <a:solidFill>
                  <a:srgbClr val="8B0029"/>
                </a:solidFill>
                <a:latin typeface="Times New Roman"/>
              </a:rPr>
              <a:t>modality gap</a:t>
            </a:r>
            <a:r>
              <a:rPr sz="2200" b="0" i="0">
                <a:solidFill>
                  <a:srgbClr val="1F1F1F"/>
                </a:solidFill>
                <a:latin typeface="Times New Roman"/>
              </a:rPr>
              <a:t>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is stable and large, ‖g‖ = .61–.82 on our benchmarks.</a:t>
            </a:r>
          </a:p>
        </p:txBody>
      </p:sp>
      <p:pic>
        <p:nvPicPr>
          <p:cNvPr id="18" name="Picture 17" descr="asset_fig1.png"/>
          <p:cNvPicPr>
            <a:picLocks noChangeAspect="1"/>
          </p:cNvPicPr>
          <p:nvPr/>
        </p:nvPicPr>
        <p:blipFill>
          <a:blip r:embed="rId5"/>
          <a:stretch>
            <a:fillRect/>
          </a:stretch>
        </p:blipFill>
        <p:spPr>
          <a:xfrm>
            <a:off x="1268661" y="12881050"/>
            <a:ext cx="13057769" cy="6490799"/>
          </a:xfrm>
          <a:prstGeom prst="rect">
            <a:avLst/>
          </a:prstGeom>
        </p:spPr>
      </p:pic>
      <p:sp>
        <p:nvSpPr>
          <p:cNvPr id="19" name="TextBox 18"/>
          <p:cNvSpPr txBox="1"/>
          <p:nvPr/>
        </p:nvSpPr>
        <p:spPr>
          <a:xfrm>
            <a:off x="777240" y="19445001"/>
            <a:ext cx="14040612" cy="35052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t-SNE of ImageBind embeddings: each modality forms its own cluster; after PMC the paired points overlap.</a:t>
            </a:r>
          </a:p>
        </p:txBody>
      </p:sp>
      <p:sp>
        <p:nvSpPr>
          <p:cNvPr id="20" name="TextBox 19"/>
          <p:cNvSpPr txBox="1"/>
          <p:nvPr/>
        </p:nvSpPr>
        <p:spPr>
          <a:xfrm>
            <a:off x="777240" y="199784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BQ encodes each dimension as  sign(x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relative to a centroid c (RaBitQ, Lucene BBQ). With one bit the decision boundary passes exactly through c with zero error margin — and the same centroid routes queries to IVF lists, so one offset corrupts codes and routing at once. Let δ</a:t>
            </a:r>
            <a:r>
              <a:rPr sz="1584" b="0" i="0" baseline="-25000">
                <a:solidFill>
                  <a:srgbClr val="1F1F1F"/>
                </a:solidFill>
                <a:latin typeface="Times New Roman"/>
              </a:rPr>
              <a:t>i</a:t>
            </a:r>
            <a:r>
              <a:rPr sz="2200" b="0" i="0">
                <a:solidFill>
                  <a:srgbClr val="1F1F1F"/>
                </a:solidFill>
                <a:latin typeface="Times New Roman"/>
              </a:rPr>
              <a:t> = x</a:t>
            </a:r>
            <a:r>
              <a:rPr sz="1584" b="0" i="0" baseline="-25000">
                <a:solidFill>
                  <a:srgbClr val="1F1F1F"/>
                </a:solidFill>
                <a:latin typeface="Times New Roman"/>
              </a:rPr>
              <a:t>i</a:t>
            </a:r>
            <a:r>
              <a:rPr sz="2200" b="0" i="0">
                <a:solidFill>
                  <a:srgbClr val="1F1F1F"/>
                </a:solidFill>
                <a:latin typeface="Times New Roman"/>
              </a:rPr>
              <a:t> − c</a:t>
            </a:r>
            <a:r>
              <a:rPr sz="1584" b="0" i="0" baseline="-25000">
                <a:solidFill>
                  <a:srgbClr val="1F1F1F"/>
                </a:solidFill>
                <a:latin typeface="Times New Roman"/>
              </a:rPr>
              <a:t>i</a:t>
            </a:r>
            <a:r>
              <a:rPr sz="2200" b="0" i="0">
                <a:solidFill>
                  <a:srgbClr val="1F1F1F"/>
                </a:solidFill>
                <a:latin typeface="Times New Roman"/>
              </a:rPr>
              <a:t> be the residual; shifting the centroid by αg flips dimension i's sign iff</a:t>
            </a:r>
          </a:p>
        </p:txBody>
      </p:sp>
      <p:sp>
        <p:nvSpPr>
          <p:cNvPr id="21" name="TextBox 20"/>
          <p:cNvSpPr txBox="1"/>
          <p:nvPr/>
        </p:nvSpPr>
        <p:spPr>
          <a:xfrm>
            <a:off x="777240" y="2141532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δ</a:t>
            </a:r>
            <a:r>
              <a:rPr sz="1943" b="1" i="0" baseline="-25000">
                <a:solidFill>
                  <a:srgbClr val="1F1F1F"/>
                </a:solidFill>
                <a:latin typeface="Times New Roman"/>
              </a:rPr>
              <a:t>i</a:t>
            </a:r>
            <a:r>
              <a:rPr sz="2700" b="1" i="0">
                <a:solidFill>
                  <a:srgbClr val="1F1F1F"/>
                </a:solidFill>
                <a:latin typeface="Times New Roman"/>
              </a:rPr>
              <a: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0 ,      i.e.,      0  &lt;  δ</a:t>
            </a:r>
            <a:r>
              <a:rPr sz="1943" b="1" i="0" baseline="-25000">
                <a:solidFill>
                  <a:srgbClr val="1F1F1F"/>
                </a:solidFill>
                <a:latin typeface="Times New Roman"/>
              </a:rPr>
              <a:t>i</a:t>
            </a:r>
            <a:r>
              <a:rPr sz="2700" b="1" i="0">
                <a:solidFill>
                  <a:srgbClr val="1F1F1F"/>
                </a:solidFill>
                <a:latin typeface="Times New Roman"/>
              </a:rPr>
              <a:t> / (α g</a:t>
            </a:r>
            <a:r>
              <a:rPr sz="1943" b="1" i="0" baseline="-25000">
                <a:solidFill>
                  <a:srgbClr val="1F1F1F"/>
                </a:solidFill>
                <a:latin typeface="Times New Roman"/>
              </a:rPr>
              <a:t>i</a:t>
            </a:r>
            <a:r>
              <a:rPr sz="2700" b="1" i="0">
                <a:solidFill>
                  <a:srgbClr val="1F1F1F"/>
                </a:solidFill>
                <a:latin typeface="Times New Roman"/>
              </a:rPr>
              <a:t>)  &lt;  1</a:t>
            </a:r>
          </a:p>
        </p:txBody>
      </p:sp>
      <p:sp>
        <p:nvSpPr>
          <p:cNvPr id="22" name="TextBox 21"/>
          <p:cNvSpPr txBox="1"/>
          <p:nvPr/>
        </p:nvSpPr>
        <p:spPr>
          <a:xfrm>
            <a:off x="777240" y="22081926"/>
            <a:ext cx="14040612" cy="472541"/>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Under smooth symmetric residual densities, a first-order expansion gives the expected number of flipped bits,</a:t>
            </a:r>
          </a:p>
        </p:txBody>
      </p:sp>
      <p:sp>
        <p:nvSpPr>
          <p:cNvPr id="23" name="TextBox 22"/>
          <p:cNvSpPr txBox="1"/>
          <p:nvPr/>
        </p:nvSpPr>
        <p:spPr>
          <a:xfrm>
            <a:off x="777240" y="22700771"/>
            <a:ext cx="14040612" cy="557784"/>
          </a:xfrm>
          <a:prstGeom prst="rect">
            <a:avLst/>
          </a:prstGeom>
          <a:noFill/>
        </p:spPr>
        <p:txBody>
          <a:bodyPr wrap="square" lIns="0" rIns="0" tIns="0" bIns="0">
            <a:spAutoFit/>
          </a:bodyPr>
          <a:lstStyle/>
          <a:p>
            <a:pPr algn="ctr">
              <a:lnSpc>
                <a:spcPct val="122000"/>
              </a:lnSpc>
              <a:spcAft>
                <a:spcPts val="0"/>
              </a:spcAft>
            </a:pPr>
            <a:r>
              <a:rPr sz="3000" b="1" i="0">
                <a:solidFill>
                  <a:srgbClr val="1F1F1F"/>
                </a:solidFill>
                <a:latin typeface="Times New Roman"/>
              </a:rPr>
              <a:t>E[F]  ≈  α Σ</a:t>
            </a:r>
            <a:r>
              <a:rPr sz="2160" b="1" i="0" baseline="-25000">
                <a:solidFill>
                  <a:srgbClr val="1F1F1F"/>
                </a:solidFill>
                <a:latin typeface="Times New Roman"/>
              </a:rPr>
              <a:t>i</a:t>
            </a:r>
            <a:r>
              <a:rPr sz="3000" b="1" i="0">
                <a:solidFill>
                  <a:srgbClr val="1F1F1F"/>
                </a:solidFill>
                <a:latin typeface="Times New Roman"/>
              </a:rPr>
              <a:t> p</a:t>
            </a:r>
            <a:r>
              <a:rPr sz="2160" b="1" i="0" baseline="-25000">
                <a:solidFill>
                  <a:srgbClr val="1F1F1F"/>
                </a:solidFill>
                <a:latin typeface="Times New Roman"/>
              </a:rPr>
              <a:t>i</a:t>
            </a:r>
            <a:r>
              <a:rPr sz="3000" b="1" i="0">
                <a:solidFill>
                  <a:srgbClr val="1F1F1F"/>
                </a:solidFill>
                <a:latin typeface="Times New Roman"/>
              </a:rPr>
              <a:t>(0) |g</a:t>
            </a:r>
            <a:r>
              <a:rPr sz="2160" b="1" i="0" baseline="-25000">
                <a:solidFill>
                  <a:srgbClr val="1F1F1F"/>
                </a:solidFill>
                <a:latin typeface="Times New Roman"/>
              </a:rPr>
              <a:t>i</a:t>
            </a:r>
            <a:r>
              <a:rPr sz="3000" b="1" i="0">
                <a:solidFill>
                  <a:srgbClr val="1F1F1F"/>
                </a:solidFill>
                <a:latin typeface="Times New Roman"/>
              </a:rPr>
              <a:t>|</a:t>
            </a:r>
          </a:p>
        </p:txBody>
      </p:sp>
      <p:sp>
        <p:nvSpPr>
          <p:cNvPr id="24" name="TextBox 23"/>
          <p:cNvSpPr txBox="1"/>
          <p:nvPr/>
        </p:nvSpPr>
        <p:spPr>
          <a:xfrm>
            <a:off x="777240" y="23423147"/>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a density-weighted ℓ₁ norm of the gap: flip risk grows with |g</a:t>
            </a:r>
            <a:r>
              <a:rPr sz="1584" b="0" i="0" baseline="-25000">
                <a:solidFill>
                  <a:srgbClr val="1F1F1F"/>
                </a:solidFill>
                <a:latin typeface="Times New Roman"/>
              </a:rPr>
              <a:t>i</a:t>
            </a:r>
            <a:r>
              <a:rPr sz="2200" b="0" i="0">
                <a:solidFill>
                  <a:srgbClr val="1F1F1F"/>
                </a:solidFill>
                <a:latin typeface="Times New Roman"/>
              </a:rPr>
              <a:t>|. On CLIP-L the top 10% of dimensions carry ≈90% of ‖g‖², so the corruption is structured rather than random, biasing Hamming distances systematically.</a:t>
            </a:r>
          </a:p>
        </p:txBody>
      </p:sp>
      <p:sp>
        <p:nvSpPr>
          <p:cNvPr id="25" name="Rectangle 24"/>
          <p:cNvSpPr/>
          <p:nvPr/>
        </p:nvSpPr>
        <p:spPr>
          <a:xfrm>
            <a:off x="777240" y="24432746"/>
            <a:ext cx="14040612" cy="1384604"/>
          </a:xfrm>
          <a:prstGeom prst="rect">
            <a:avLst/>
          </a:prstGeom>
          <a:solidFill>
            <a:srgbClr val="F6F5F3"/>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 y="24670490"/>
            <a:ext cx="13565124" cy="909116"/>
          </a:xfrm>
          <a:prstGeom prst="rect">
            <a:avLst/>
          </a:prstGeom>
          <a:noFill/>
        </p:spPr>
        <p:txBody>
          <a:bodyPr wrap="square" lIns="0" rIns="0" tIns="0" bIns="0">
            <a:spAutoFit/>
          </a:bodyPr>
          <a:lstStyle/>
          <a:p>
            <a:pPr algn="l">
              <a:lnSpc>
                <a:spcPct val="128000"/>
              </a:lnSpc>
              <a:spcAft>
                <a:spcPts val="400"/>
              </a:spcAft>
            </a:pPr>
            <a:r>
              <a:rPr sz="2200" b="1" i="0">
                <a:solidFill>
                  <a:srgbClr val="1F1F1F"/>
                </a:solidFill>
                <a:latin typeface="Times New Roman"/>
              </a:rPr>
              <a:t>Oracle test — MSCOCO, CLIP-L, RaBitQ.   </a:t>
            </a:r>
            <a:r>
              <a:rPr sz="2200" b="0" i="0">
                <a:solidFill>
                  <a:srgbClr val="1F1F1F"/>
                </a:solidFill>
                <a:latin typeface="Times New Roman"/>
              </a:rPr>
              <a:t>Same-modality queries (‖g‖ = 0) reach R@100 = 0.71; cross-modal queries (‖g‖ = .82) fall to </a:t>
            </a:r>
            <a:r>
              <a:rPr sz="2200" b="1" i="0">
                <a:solidFill>
                  <a:srgbClr val="8B0029"/>
                </a:solidFill>
                <a:latin typeface="Times New Roman"/>
              </a:rPr>
              <a:t>0.54</a:t>
            </a:r>
            <a:r>
              <a:rPr sz="2200" b="0" i="0">
                <a:solidFill>
                  <a:srgbClr val="1F1F1F"/>
                </a:solidFill>
                <a:latin typeface="Times New Roman"/>
              </a:rPr>
              <a:t>. The loss is the gap, not the quantizer.</a:t>
            </a:r>
          </a:p>
        </p:txBody>
      </p:sp>
      <p:sp>
        <p:nvSpPr>
          <p:cNvPr id="27" name="TextBox 26"/>
          <p:cNvSpPr txBox="1"/>
          <p:nvPr/>
        </p:nvSpPr>
        <p:spPr>
          <a:xfrm>
            <a:off x="777240" y="25890502"/>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2.  Method: PMC correction</a:t>
            </a:r>
          </a:p>
        </p:txBody>
      </p:sp>
      <p:sp>
        <p:nvSpPr>
          <p:cNvPr id="28" name="Rectangle 27"/>
          <p:cNvSpPr/>
          <p:nvPr/>
        </p:nvSpPr>
        <p:spPr>
          <a:xfrm>
            <a:off x="777240" y="26496292"/>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7240" y="26573762"/>
            <a:ext cx="14040612" cy="881583"/>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PMC applies a one-time centroid alignment before index construction. From a small paired sample we compute g and shift database vectors toward the query centroid:</a:t>
            </a:r>
          </a:p>
        </p:txBody>
      </p:sp>
      <p:sp>
        <p:nvSpPr>
          <p:cNvPr id="30" name="TextBox 29"/>
          <p:cNvSpPr txBox="1"/>
          <p:nvPr/>
        </p:nvSpPr>
        <p:spPr>
          <a:xfrm>
            <a:off x="777240" y="27601649"/>
            <a:ext cx="14040612" cy="502005"/>
          </a:xfrm>
          <a:prstGeom prst="rect">
            <a:avLst/>
          </a:prstGeom>
          <a:noFill/>
        </p:spPr>
        <p:txBody>
          <a:bodyPr wrap="square" lIns="0" rIns="0" tIns="0" bIns="0">
            <a:spAutoFit/>
          </a:bodyPr>
          <a:lstStyle/>
          <a:p>
            <a:pPr algn="ctr">
              <a:lnSpc>
                <a:spcPct val="122000"/>
              </a:lnSpc>
              <a:spcAft>
                <a:spcPts val="0"/>
              </a:spcAft>
            </a:pPr>
            <a:r>
              <a:rPr sz="2700" b="1" i="0">
                <a:solidFill>
                  <a:srgbClr val="1F1F1F"/>
                </a:solidFill>
                <a:latin typeface="Times New Roman"/>
              </a:rPr>
              <a:t>x′ = (x + α g) / ‖x + α g‖ ,      q′ = (q − (1−α) g) / ‖q − (1−α) g‖</a:t>
            </a:r>
          </a:p>
        </p:txBody>
      </p:sp>
      <p:sp>
        <p:nvSpPr>
          <p:cNvPr id="31" name="TextBox 30"/>
          <p:cNvSpPr txBox="1"/>
          <p:nvPr/>
        </p:nvSpPr>
        <p:spPr>
          <a:xfrm>
            <a:off x="777240" y="2810365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α ∈ [0,1];  α = 1  →  q′ = q</a:t>
            </a:r>
          </a:p>
        </p:txBody>
      </p:sp>
      <p:sp>
        <p:nvSpPr>
          <p:cNvPr id="32" name="TextBox 31"/>
          <p:cNvSpPr txBox="1"/>
          <p:nvPr/>
        </p:nvSpPr>
        <p:spPr>
          <a:xfrm>
            <a:off x="777240" y="2864010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α interpolates between full query-side correction (α = 0, mean shift) and full database-side alignment (α = 1). The BQ index is built on {x′}; at α = 1 the query-time transform is identity, so serving incurs no extra cost. Per-vector renormalization preserves the unit-norm structure, and the α-sweep confirms α = 1 is best or near-best in every setting.</a:t>
            </a:r>
          </a:p>
        </p:txBody>
      </p:sp>
      <p:sp>
        <p:nvSpPr>
          <p:cNvPr id="33" name="Rectangle 32"/>
          <p:cNvSpPr/>
          <p:nvPr/>
        </p:nvSpPr>
        <p:spPr>
          <a:xfrm>
            <a:off x="777240" y="30077029"/>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3016846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Algorithm 1  PMC Index Construction</a:t>
            </a:r>
          </a:p>
        </p:txBody>
      </p:sp>
      <p:sp>
        <p:nvSpPr>
          <p:cNvPr id="35" name="Rectangle 34"/>
          <p:cNvSpPr/>
          <p:nvPr/>
        </p:nvSpPr>
        <p:spPr>
          <a:xfrm>
            <a:off x="777240" y="30669255"/>
            <a:ext cx="14040612" cy="1270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30760695"/>
            <a:ext cx="14040612" cy="4087368"/>
          </a:xfrm>
          <a:prstGeom prst="rect">
            <a:avLst/>
          </a:prstGeom>
          <a:noFill/>
        </p:spPr>
        <p:txBody>
          <a:bodyPr wrap="square" lIns="0" rIns="0" tIns="0" bIns="0">
            <a:spAutoFit/>
          </a:bodyPr>
          <a:lstStyle/>
          <a:p>
            <a:pPr algn="l">
              <a:lnSpc>
                <a:spcPct val="130000"/>
              </a:lnSpc>
              <a:spcAft>
                <a:spcPts val="300"/>
              </a:spcAft>
            </a:pPr>
            <a:r>
              <a:rPr sz="2100" b="1" i="0">
                <a:solidFill>
                  <a:srgbClr val="1F1F1F"/>
                </a:solidFill>
                <a:latin typeface="Times New Roman"/>
              </a:rPr>
              <a:t>Require:</a:t>
            </a:r>
            <a:r>
              <a:rPr sz="2100" b="0" i="0">
                <a:solidFill>
                  <a:srgbClr val="1F1F1F"/>
                </a:solidFill>
                <a:latin typeface="Times New Roman"/>
              </a:rPr>
              <a:t>  database X (modality b), query sample Q (modality a), interpolation α</a:t>
            </a:r>
          </a:p>
          <a:p>
            <a:pPr algn="l">
              <a:lnSpc>
                <a:spcPct val="130000"/>
              </a:lnSpc>
              <a:spcAft>
                <a:spcPts val="300"/>
              </a:spcAft>
            </a:pPr>
            <a:r>
              <a:rPr sz="2100" b="1" i="0">
                <a:solidFill>
                  <a:srgbClr val="1F1F1F"/>
                </a:solidFill>
                <a:latin typeface="Times New Roman"/>
              </a:rPr>
              <a:t>Ensure:</a:t>
            </a:r>
            <a:r>
              <a:rPr sz="2100" b="0" i="0">
                <a:solidFill>
                  <a:srgbClr val="1F1F1F"/>
                </a:solidFill>
                <a:latin typeface="Times New Roman"/>
              </a:rPr>
              <a:t>  IVF-based quantized index I and gap g</a:t>
            </a:r>
          </a:p>
          <a:p>
            <a:pPr algn="l">
              <a:lnSpc>
                <a:spcPct val="130000"/>
              </a:lnSpc>
              <a:spcAft>
                <a:spcPts val="300"/>
              </a:spcAft>
            </a:pPr>
            <a:r>
              <a:rPr sz="2100" b="0" i="0">
                <a:solidFill>
                  <a:srgbClr val="1F1F1F"/>
                </a:solidFill>
                <a:latin typeface="Times New Roman"/>
              </a:rPr>
              <a:t>1:  μ</a:t>
            </a:r>
            <a:r>
              <a:rPr sz="1512" b="0" i="0" baseline="-25000">
                <a:solidFill>
                  <a:srgbClr val="1F1F1F"/>
                </a:solidFill>
                <a:latin typeface="Times New Roman"/>
              </a:rPr>
              <a:t>q</a:t>
            </a:r>
            <a:r>
              <a:rPr sz="2100" b="0" i="0">
                <a:solidFill>
                  <a:srgbClr val="1F1F1F"/>
                </a:solidFill>
                <a:latin typeface="Times New Roman"/>
              </a:rPr>
              <a:t> ← mean(Q);   μ</a:t>
            </a:r>
            <a:r>
              <a:rPr sz="1512" b="0" i="0" baseline="-25000">
                <a:solidFill>
                  <a:srgbClr val="1F1F1F"/>
                </a:solidFill>
                <a:latin typeface="Times New Roman"/>
              </a:rPr>
              <a:t>x</a:t>
            </a:r>
            <a:r>
              <a:rPr sz="2100" b="0" i="0">
                <a:solidFill>
                  <a:srgbClr val="1F1F1F"/>
                </a:solidFill>
                <a:latin typeface="Times New Roman"/>
              </a:rPr>
              <a:t> ← mean(X)</a:t>
            </a:r>
          </a:p>
          <a:p>
            <a:pPr algn="l">
              <a:lnSpc>
                <a:spcPct val="130000"/>
              </a:lnSpc>
              <a:spcAft>
                <a:spcPts val="300"/>
              </a:spcAft>
            </a:pPr>
            <a:r>
              <a:rPr sz="2100" b="0" i="0">
                <a:solidFill>
                  <a:srgbClr val="1F1F1F"/>
                </a:solidFill>
                <a:latin typeface="Times New Roman"/>
              </a:rPr>
              <a:t>2:  g ← μ</a:t>
            </a:r>
            <a:r>
              <a:rPr sz="1512" b="0" i="0" baseline="-25000">
                <a:solidFill>
                  <a:srgbClr val="1F1F1F"/>
                </a:solidFill>
                <a:latin typeface="Times New Roman"/>
              </a:rPr>
              <a:t>q</a:t>
            </a:r>
            <a:r>
              <a:rPr sz="2100" b="0" i="0">
                <a:solidFill>
                  <a:srgbClr val="1F1F1F"/>
                </a:solidFill>
                <a:latin typeface="Times New Roman"/>
              </a:rPr>
              <a:t> − μ</a:t>
            </a:r>
            <a:r>
              <a:rPr sz="1512" b="0" i="0" baseline="-25000">
                <a:solidFill>
                  <a:srgbClr val="1F1F1F"/>
                </a:solidFill>
                <a:latin typeface="Times New Roman"/>
              </a:rPr>
              <a:t>x</a:t>
            </a:r>
          </a:p>
          <a:p>
            <a:pPr algn="l">
              <a:lnSpc>
                <a:spcPct val="130000"/>
              </a:lnSpc>
              <a:spcAft>
                <a:spcPts val="300"/>
              </a:spcAft>
            </a:pPr>
            <a:r>
              <a:rPr sz="2100" b="0" i="0">
                <a:solidFill>
                  <a:srgbClr val="1F1F1F"/>
                </a:solidFill>
                <a:latin typeface="Times New Roman"/>
              </a:rPr>
              <a:t>3:  for each x ∈ X do</a:t>
            </a:r>
          </a:p>
          <a:p>
            <a:pPr algn="l">
              <a:lnSpc>
                <a:spcPct val="130000"/>
              </a:lnSpc>
              <a:spcAft>
                <a:spcPts val="300"/>
              </a:spcAft>
            </a:pPr>
            <a:r>
              <a:rPr sz="2100" b="0" i="0">
                <a:solidFill>
                  <a:srgbClr val="1F1F1F"/>
                </a:solidFill>
                <a:latin typeface="Times New Roman"/>
              </a:rPr>
              <a:t>4:      x′ ← normalize(x + α g)</a:t>
            </a:r>
          </a:p>
          <a:p>
            <a:pPr algn="l">
              <a:lnSpc>
                <a:spcPct val="130000"/>
              </a:lnSpc>
              <a:spcAft>
                <a:spcPts val="300"/>
              </a:spcAft>
            </a:pPr>
            <a:r>
              <a:rPr sz="2100" b="0" i="0">
                <a:solidFill>
                  <a:srgbClr val="1F1F1F"/>
                </a:solidFill>
                <a:latin typeface="Times New Roman"/>
              </a:rPr>
              <a:t>5:  end for</a:t>
            </a:r>
          </a:p>
          <a:p>
            <a:pPr algn="l">
              <a:lnSpc>
                <a:spcPct val="130000"/>
              </a:lnSpc>
              <a:spcAft>
                <a:spcPts val="300"/>
              </a:spcAft>
            </a:pPr>
            <a:r>
              <a:rPr sz="2100" b="0" i="0">
                <a:solidFill>
                  <a:srgbClr val="1F1F1F"/>
                </a:solidFill>
                <a:latin typeface="Times New Roman"/>
              </a:rPr>
              <a:t>6:  I ← BuildIndex({x′})        — RaBitQ · BBQ · BinaryFlat</a:t>
            </a:r>
          </a:p>
          <a:p>
            <a:pPr algn="l">
              <a:lnSpc>
                <a:spcPct val="130000"/>
              </a:lnSpc>
              <a:spcAft>
                <a:spcPts val="300"/>
              </a:spcAft>
            </a:pPr>
            <a:r>
              <a:rPr sz="2100" b="0" i="0">
                <a:solidFill>
                  <a:srgbClr val="1F1F1F"/>
                </a:solidFill>
                <a:latin typeface="Times New Roman"/>
              </a:rPr>
              <a:t>7:  return I, g</a:t>
            </a:r>
          </a:p>
        </p:txBody>
      </p:sp>
      <p:sp>
        <p:nvSpPr>
          <p:cNvPr id="37" name="Rectangle 36"/>
          <p:cNvSpPr/>
          <p:nvPr/>
        </p:nvSpPr>
        <p:spPr>
          <a:xfrm>
            <a:off x="777240" y="34921215"/>
            <a:ext cx="14040612" cy="2794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77240" y="35213823"/>
            <a:ext cx="14040612" cy="472541"/>
          </a:xfrm>
          <a:prstGeom prst="rect">
            <a:avLst/>
          </a:prstGeom>
          <a:noFill/>
        </p:spPr>
        <p:txBody>
          <a:bodyPr wrap="square" lIns="0" rIns="0" tIns="0" bIns="0">
            <a:spAutoFit/>
          </a:bodyPr>
          <a:lstStyle/>
          <a:p>
            <a:pPr algn="l">
              <a:lnSpc>
                <a:spcPct val="122000"/>
              </a:lnSpc>
              <a:spcAft>
                <a:spcPts val="500"/>
              </a:spcAft>
            </a:pPr>
            <a:r>
              <a:rPr sz="2200" b="1" i="0">
                <a:solidFill>
                  <a:srgbClr val="1F1F1F"/>
                </a:solidFill>
                <a:latin typeface="Times New Roman"/>
              </a:rPr>
              <a:t>Selective PMC as a mechanism test.  </a:t>
            </a:r>
            <a:r>
              <a:rPr sz="2200" b="0" i="0">
                <a:solidFill>
                  <a:srgbClr val="1F1F1F"/>
                </a:solidFill>
                <a:latin typeface="Times New Roman"/>
              </a:rPr>
              <a:t>Correction restricted to the top-P% of dimensions ranked by |g</a:t>
            </a:r>
            <a:r>
              <a:rPr sz="1584" b="0" i="0" baseline="-25000">
                <a:solidFill>
                  <a:srgbClr val="1F1F1F"/>
                </a:solidFill>
                <a:latin typeface="Times New Roman"/>
              </a:rPr>
              <a:t>i</a:t>
            </a:r>
            <a:r>
              <a:rPr sz="2200" b="0" i="0">
                <a:solidFill>
                  <a:srgbClr val="1F1F1F"/>
                </a:solidFill>
                <a:latin typeface="Times New Roman"/>
              </a:rPr>
              <a:t>|,</a:t>
            </a:r>
          </a:p>
        </p:txBody>
      </p:sp>
      <p:sp>
        <p:nvSpPr>
          <p:cNvPr id="39" name="TextBox 38"/>
          <p:cNvSpPr txBox="1"/>
          <p:nvPr/>
        </p:nvSpPr>
        <p:spPr>
          <a:xfrm>
            <a:off x="777240" y="35832668"/>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g</a:t>
            </a:r>
            <a:r>
              <a:rPr sz="1800" b="1" i="0" baseline="-25000">
                <a:solidFill>
                  <a:srgbClr val="1F1F1F"/>
                </a:solidFill>
                <a:latin typeface="Times New Roman"/>
              </a:rPr>
              <a:t>sel,i</a:t>
            </a:r>
            <a:r>
              <a:rPr sz="2500" b="1" i="0">
                <a:solidFill>
                  <a:srgbClr val="1F1F1F"/>
                </a:solidFill>
                <a:latin typeface="Times New Roman"/>
              </a:rPr>
              <a:t> = g</a:t>
            </a:r>
            <a:r>
              <a:rPr sz="1800" b="1" i="0" baseline="-25000">
                <a:solidFill>
                  <a:srgbClr val="1F1F1F"/>
                </a:solidFill>
                <a:latin typeface="Times New Roman"/>
              </a:rPr>
              <a:t>i</a:t>
            </a:r>
            <a:r>
              <a:rPr sz="2500" b="1" i="0">
                <a:solidFill>
                  <a:srgbClr val="1F1F1F"/>
                </a:solidFill>
                <a:latin typeface="Times New Roman"/>
              </a:rPr>
              <a:t>  if  |g</a:t>
            </a:r>
            <a:r>
              <a:rPr sz="1800" b="1" i="0" baseline="-25000">
                <a:solidFill>
                  <a:srgbClr val="1F1F1F"/>
                </a:solidFill>
                <a:latin typeface="Times New Roman"/>
              </a:rPr>
              <a:t>i</a:t>
            </a:r>
            <a:r>
              <a:rPr sz="2500" b="1" i="0">
                <a:solidFill>
                  <a:srgbClr val="1F1F1F"/>
                </a:solidFill>
                <a:latin typeface="Times New Roman"/>
              </a:rPr>
              <a:t>| ≥ |g|</a:t>
            </a:r>
            <a:r>
              <a:rPr sz="1800" b="1" i="0" baseline="-25000">
                <a:solidFill>
                  <a:srgbClr val="1F1F1F"/>
                </a:solidFill>
                <a:latin typeface="Times New Roman"/>
              </a:rPr>
              <a:t>(P)</a:t>
            </a:r>
            <a:r>
              <a:rPr sz="2500" b="1" i="0">
                <a:solidFill>
                  <a:srgbClr val="1F1F1F"/>
                </a:solidFill>
                <a:latin typeface="Times New Roman"/>
              </a:rPr>
              <a:t> ,  0  otherwise ;      x′</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 / ‖x + α g</a:t>
            </a:r>
            <a:r>
              <a:rPr sz="1800" b="1" i="0" baseline="-25000">
                <a:solidFill>
                  <a:srgbClr val="1F1F1F"/>
                </a:solidFill>
                <a:latin typeface="Times New Roman"/>
              </a:rPr>
              <a:t>sel</a:t>
            </a:r>
            <a:r>
              <a:rPr sz="2500" b="1" i="0">
                <a:solidFill>
                  <a:srgbClr val="1F1F1F"/>
                </a:solidFill>
                <a:latin typeface="Times New Roman"/>
              </a:rPr>
              <a:t>‖</a:t>
            </a:r>
          </a:p>
        </p:txBody>
      </p:sp>
      <p:sp>
        <p:nvSpPr>
          <p:cNvPr id="40" name="TextBox 39"/>
          <p:cNvSpPr txBox="1"/>
          <p:nvPr/>
        </p:nvSpPr>
        <p:spPr>
          <a:xfrm>
            <a:off x="777240" y="36608384"/>
            <a:ext cx="14040612" cy="464820"/>
          </a:xfrm>
          <a:prstGeom prst="rect">
            <a:avLst/>
          </a:prstGeom>
          <a:noFill/>
        </p:spPr>
        <p:txBody>
          <a:bodyPr wrap="square" lIns="0" rIns="0" tIns="0" bIns="0">
            <a:spAutoFit/>
          </a:bodyPr>
          <a:lstStyle/>
          <a:p>
            <a:pPr algn="ctr">
              <a:lnSpc>
                <a:spcPct val="122000"/>
              </a:lnSpc>
              <a:spcAft>
                <a:spcPts val="0"/>
              </a:spcAft>
            </a:pPr>
            <a:r>
              <a:rPr sz="2500" b="1" i="0">
                <a:solidFill>
                  <a:srgbClr val="1F1F1F"/>
                </a:solidFill>
                <a:latin typeface="Times New Roman"/>
              </a:rPr>
              <a:t>E(P)  =  Σ</a:t>
            </a:r>
            <a:r>
              <a:rPr sz="1800" b="1" i="0" baseline="-25000">
                <a:solidFill>
                  <a:srgbClr val="1F1F1F"/>
                </a:solidFill>
                <a:latin typeface="Times New Roman"/>
              </a:rPr>
              <a:t>i ∈ S(P)</a:t>
            </a:r>
            <a:r>
              <a:rPr sz="2500" b="1" i="0">
                <a:solidFill>
                  <a:srgbClr val="1F1F1F"/>
                </a:solidFill>
                <a:latin typeface="Times New Roman"/>
              </a:rPr>
              <a:t> g</a:t>
            </a:r>
            <a:r>
              <a:rPr sz="1800" b="1" i="0" baseline="-25000">
                <a:solidFill>
                  <a:srgbClr val="1F1F1F"/>
                </a:solidFill>
                <a:latin typeface="Times New Roman"/>
              </a:rPr>
              <a:t>i</a:t>
            </a:r>
            <a:r>
              <a:rPr sz="2500" b="1" i="0">
                <a:solidFill>
                  <a:srgbClr val="1F1F1F"/>
                </a:solidFill>
                <a:latin typeface="Times New Roman"/>
              </a:rPr>
              <a:t>²  /  ‖g‖² ,      S(P) = { i : |g</a:t>
            </a:r>
            <a:r>
              <a:rPr sz="1800" b="1" i="0" baseline="-25000">
                <a:solidFill>
                  <a:srgbClr val="1F1F1F"/>
                </a:solidFill>
                <a:latin typeface="Times New Roman"/>
              </a:rPr>
              <a:t>i</a:t>
            </a:r>
            <a:r>
              <a:rPr sz="2500" b="1" i="0">
                <a:solidFill>
                  <a:srgbClr val="1F1F1F"/>
                </a:solidFill>
                <a:latin typeface="Times New Roman"/>
              </a:rPr>
              <a:t>| ≥ |g|</a:t>
            </a:r>
            <a:r>
              <a:rPr sz="1800" b="1" i="0" baseline="-25000">
                <a:solidFill>
                  <a:srgbClr val="1F1F1F"/>
                </a:solidFill>
                <a:latin typeface="Times New Roman"/>
              </a:rPr>
              <a:t>(P)</a:t>
            </a:r>
            <a:r>
              <a:rPr sz="2500" b="1" i="0">
                <a:solidFill>
                  <a:srgbClr val="1F1F1F"/>
                </a:solidFill>
                <a:latin typeface="Times New Roman"/>
              </a:rPr>
              <a:t> }</a:t>
            </a:r>
          </a:p>
        </p:txBody>
      </p:sp>
      <p:sp>
        <p:nvSpPr>
          <p:cNvPr id="41" name="TextBox 40"/>
          <p:cNvSpPr txBox="1"/>
          <p:nvPr/>
        </p:nvSpPr>
        <p:spPr>
          <a:xfrm>
            <a:off x="777240" y="37073204"/>
            <a:ext cx="14040612" cy="371855"/>
          </a:xfrm>
          <a:prstGeom prst="rect">
            <a:avLst/>
          </a:prstGeom>
          <a:noFill/>
        </p:spPr>
        <p:txBody>
          <a:bodyPr wrap="square" lIns="0" rIns="0" tIns="0" bIns="0">
            <a:spAutoFit/>
          </a:bodyPr>
          <a:lstStyle/>
          <a:p>
            <a:pPr algn="ctr">
              <a:lnSpc>
                <a:spcPct val="122000"/>
              </a:lnSpc>
              <a:spcAft>
                <a:spcPts val="0"/>
              </a:spcAft>
            </a:pPr>
            <a:r>
              <a:rPr sz="2000" b="0" i="1">
                <a:solidFill>
                  <a:srgbClr val="6F6F6F"/>
                </a:solidFill>
                <a:latin typeface="Times New Roman"/>
              </a:rPr>
              <a:t>cumulative gap energy captured by the selected dimensions</a:t>
            </a:r>
          </a:p>
        </p:txBody>
      </p:sp>
      <p:sp>
        <p:nvSpPr>
          <p:cNvPr id="42" name="TextBox 41"/>
          <p:cNvSpPr txBox="1"/>
          <p:nvPr/>
        </p:nvSpPr>
        <p:spPr>
          <a:xfrm>
            <a:off x="777240" y="37609651"/>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isolates the mechanism. Since flip risk concentrates in high-|g</a:t>
            </a:r>
            <a:r>
              <a:rPr sz="1584" b="0" i="0" baseline="-25000">
                <a:solidFill>
                  <a:srgbClr val="1F1F1F"/>
                </a:solidFill>
                <a:latin typeface="Times New Roman"/>
              </a:rPr>
              <a:t>i</a:t>
            </a:r>
            <a:r>
              <a:rPr sz="2200" b="0" i="0">
                <a:solidFill>
                  <a:srgbClr val="1F1F1F"/>
                </a:solidFill>
                <a:latin typeface="Times New Roman"/>
              </a:rPr>
              <a:t>| dimensions, correcting only the highest-energy ones suffices: for CLIP the top 10% carry 86–92% of gap energy, so P = 5% already recovers peak recall; ImageBind's diffuse gap (≈72%) requires full-vector correction.</a:t>
            </a:r>
          </a:p>
        </p:txBody>
      </p:sp>
      <p:sp>
        <p:nvSpPr>
          <p:cNvPr id="43" name="TextBox 42"/>
          <p:cNvSpPr txBox="1"/>
          <p:nvPr/>
        </p:nvSpPr>
        <p:spPr>
          <a:xfrm>
            <a:off x="15457932" y="5257800"/>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3.  PMC workflow</a:t>
            </a:r>
          </a:p>
        </p:txBody>
      </p:sp>
      <p:sp>
        <p:nvSpPr>
          <p:cNvPr id="44" name="Rectangle 43"/>
          <p:cNvSpPr/>
          <p:nvPr/>
        </p:nvSpPr>
        <p:spPr>
          <a:xfrm>
            <a:off x="15457932" y="5863590"/>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asset_fig2ov.png"/>
          <p:cNvPicPr>
            <a:picLocks noChangeAspect="1"/>
          </p:cNvPicPr>
          <p:nvPr/>
        </p:nvPicPr>
        <p:blipFill>
          <a:blip r:embed="rId6"/>
          <a:stretch>
            <a:fillRect/>
          </a:stretch>
        </p:blipFill>
        <p:spPr>
          <a:xfrm>
            <a:off x="16440775" y="5941060"/>
            <a:ext cx="12074926" cy="8044713"/>
          </a:xfrm>
          <a:prstGeom prst="rect">
            <a:avLst/>
          </a:prstGeom>
        </p:spPr>
      </p:pic>
      <p:sp>
        <p:nvSpPr>
          <p:cNvPr id="46" name="TextBox 45"/>
          <p:cNvSpPr txBox="1"/>
          <p:nvPr/>
        </p:nvSpPr>
        <p:spPr>
          <a:xfrm>
            <a:off x="15457932" y="14077213"/>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Calibration estimates μ</a:t>
            </a:r>
            <a:r>
              <a:rPr sz="1584" b="0" i="0" baseline="-25000">
                <a:solidFill>
                  <a:srgbClr val="1F1F1F"/>
                </a:solidFill>
                <a:latin typeface="Times New Roman"/>
              </a:rPr>
              <a:t>q</a:t>
            </a:r>
            <a:r>
              <a:rPr sz="2200" b="0" i="0">
                <a:solidFill>
                  <a:srgbClr val="1F1F1F"/>
                </a:solidFill>
                <a:latin typeface="Times New Roman"/>
              </a:rPr>
              <a:t>, μ</a:t>
            </a:r>
            <a:r>
              <a:rPr sz="1584" b="0" i="0" baseline="-25000">
                <a:solidFill>
                  <a:srgbClr val="1F1F1F"/>
                </a:solidFill>
                <a:latin typeface="Times New Roman"/>
              </a:rPr>
              <a:t>x</a:t>
            </a:r>
            <a:r>
              <a:rPr sz="2200" b="0" i="0">
                <a:solidFill>
                  <a:srgbClr val="1F1F1F"/>
                </a:solidFill>
                <a:latin typeface="Times New Roman"/>
              </a:rPr>
              <a:t> and g = μ</a:t>
            </a:r>
            <a:r>
              <a:rPr sz="1584" b="0" i="0" baseline="-25000">
                <a:solidFill>
                  <a:srgbClr val="1F1F1F"/>
                </a:solidFill>
                <a:latin typeface="Times New Roman"/>
              </a:rPr>
              <a:t>q</a:t>
            </a:r>
            <a:r>
              <a:rPr sz="2200" b="0" i="0">
                <a:solidFill>
                  <a:srgbClr val="1F1F1F"/>
                </a:solidFill>
                <a:latin typeface="Times New Roman"/>
              </a:rPr>
              <a:t> − μ</a:t>
            </a:r>
            <a:r>
              <a:rPr sz="1584" b="0" i="0" baseline="-25000">
                <a:solidFill>
                  <a:srgbClr val="1F1F1F"/>
                </a:solidFill>
                <a:latin typeface="Times New Roman"/>
              </a:rPr>
              <a:t>x</a:t>
            </a:r>
            <a:r>
              <a:rPr sz="2200" b="0" i="0">
                <a:solidFill>
                  <a:srgbClr val="1F1F1F"/>
                </a:solidFill>
                <a:latin typeface="Times New Roman"/>
              </a:rPr>
              <a:t>; the offline build shifts and renormalizes database vectors before BQ index construction; at α = 1 online serving uses q′ = q and searches the corrected index — zero query-time transform, zero extra index memory.</a:t>
            </a:r>
          </a:p>
        </p:txBody>
      </p:sp>
      <p:sp>
        <p:nvSpPr>
          <p:cNvPr id="47" name="TextBox 46"/>
          <p:cNvSpPr txBox="1"/>
          <p:nvPr/>
        </p:nvSpPr>
        <p:spPr>
          <a:xfrm>
            <a:off x="15457932" y="1544098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4.  Results</a:t>
            </a:r>
          </a:p>
        </p:txBody>
      </p:sp>
      <p:sp>
        <p:nvSpPr>
          <p:cNvPr id="48" name="Rectangle 47"/>
          <p:cNvSpPr/>
          <p:nvPr/>
        </p:nvSpPr>
        <p:spPr>
          <a:xfrm>
            <a:off x="15457932" y="1604677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5457932" y="16124249"/>
            <a:ext cx="14040612" cy="1234846"/>
          </a:xfrm>
          <a:prstGeom prst="rect">
            <a:avLst/>
          </a:prstGeom>
          <a:noFill/>
        </p:spPr>
        <p:txBody>
          <a:bodyPr wrap="square" lIns="0" rIns="0" tIns="0" bIns="0">
            <a:spAutoFit/>
          </a:bodyPr>
          <a:lstStyle/>
          <a:p>
            <a:pPr algn="l">
              <a:lnSpc>
                <a:spcPct val="122000"/>
              </a:lnSpc>
              <a:spcAft>
                <a:spcPts val="500"/>
              </a:spcAft>
            </a:pPr>
            <a:r>
              <a:rPr sz="2100" b="0" i="0">
                <a:solidFill>
                  <a:srgbClr val="6F6F6F"/>
                </a:solidFill>
                <a:latin typeface="Times New Roman"/>
              </a:rPr>
              <a:t>Five benchmarks (MSCOCO, Flickr30K, Clotho, AudioCaps, LAION-400M — up to 407 M vectors), three frozen encoders (CLIP-B/32, CLIP-L/14, ImageBind) and four BQ index types; FAISS IVFRaBitQFastScan at 72–136 B/vec, n</a:t>
            </a:r>
            <a:r>
              <a:rPr sz="1512" b="0" i="0" baseline="-25000">
                <a:solidFill>
                  <a:srgbClr val="6F6F6F"/>
                </a:solidFill>
                <a:latin typeface="Times New Roman"/>
              </a:rPr>
              <a:t>list</a:t>
            </a:r>
            <a:r>
              <a:rPr sz="2100" b="0" i="0">
                <a:solidFill>
                  <a:srgbClr val="6F6F6F"/>
                </a:solidFill>
                <a:latin typeface="Times New Roman"/>
              </a:rPr>
              <a:t> = ⌈√n⌉, n</a:t>
            </a:r>
            <a:r>
              <a:rPr sz="1512" b="0" i="0" baseline="-25000">
                <a:solidFill>
                  <a:srgbClr val="6F6F6F"/>
                </a:solidFill>
                <a:latin typeface="Times New Roman"/>
              </a:rPr>
              <a:t>probe</a:t>
            </a:r>
            <a:r>
              <a:rPr sz="2100" b="0" i="0">
                <a:solidFill>
                  <a:srgbClr val="6F6F6F"/>
                </a:solidFill>
                <a:latin typeface="Times New Roman"/>
              </a:rPr>
              <a:t> ≈ n</a:t>
            </a:r>
            <a:r>
              <a:rPr sz="1512" b="0" i="0" baseline="-25000">
                <a:solidFill>
                  <a:srgbClr val="6F6F6F"/>
                </a:solidFill>
                <a:latin typeface="Times New Roman"/>
              </a:rPr>
              <a:t>list</a:t>
            </a:r>
            <a:r>
              <a:rPr sz="2100" b="0" i="0">
                <a:solidFill>
                  <a:srgbClr val="6F6F6F"/>
                </a:solidFill>
                <a:latin typeface="Times New Roman"/>
              </a:rPr>
              <a:t>/4; R@100 against exact ground truth, single-thread CPU.</a:t>
            </a:r>
          </a:p>
        </p:txBody>
      </p:sp>
      <p:sp>
        <p:nvSpPr>
          <p:cNvPr id="50" name="TextBox 49"/>
          <p:cNvSpPr txBox="1"/>
          <p:nvPr/>
        </p:nvSpPr>
        <p:spPr>
          <a:xfrm>
            <a:off x="15457932" y="17468823"/>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Every configuration, ordered by ‖g‖  </a:t>
            </a:r>
            <a:r>
              <a:rPr sz="2000" b="0" i="0">
                <a:solidFill>
                  <a:srgbClr val="6F6F6F"/>
                </a:solidFill>
                <a:latin typeface="Times New Roman"/>
              </a:rPr>
              <a:t>(Vanilla → PMC)</a:t>
            </a:r>
          </a:p>
        </p:txBody>
      </p:sp>
      <p:sp>
        <p:nvSpPr>
          <p:cNvPr id="51" name="TextBox 50"/>
          <p:cNvSpPr txBox="1"/>
          <p:nvPr/>
        </p:nvSpPr>
        <p:spPr>
          <a:xfrm>
            <a:off x="18521172" y="18024778"/>
            <a:ext cx="5488686" cy="365760"/>
          </a:xfrm>
          <a:prstGeom prst="rect">
            <a:avLst/>
          </a:prstGeom>
          <a:noFill/>
        </p:spPr>
        <p:txBody>
          <a:bodyPr wrap="none" anchor="ctr" lIns="0" rIns="0" tIns="0" bIns="0">
            <a:spAutoFit/>
          </a:bodyPr>
          <a:lstStyle/>
          <a:p>
            <a:pPr algn="ctr"/>
            <a:r>
              <a:rPr sz="2100" b="1" i="0">
                <a:solidFill>
                  <a:srgbClr val="1F1F1F"/>
                </a:solidFill>
                <a:latin typeface="Times New Roman"/>
              </a:rPr>
              <a:t>q→db</a:t>
            </a:r>
          </a:p>
        </p:txBody>
      </p:sp>
      <p:sp>
        <p:nvSpPr>
          <p:cNvPr id="52" name="Rectangle 51"/>
          <p:cNvSpPr/>
          <p:nvPr/>
        </p:nvSpPr>
        <p:spPr>
          <a:xfrm>
            <a:off x="18795492" y="18408826"/>
            <a:ext cx="4940046"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4009858" y="18024778"/>
            <a:ext cx="5488686" cy="365760"/>
          </a:xfrm>
          <a:prstGeom prst="rect">
            <a:avLst/>
          </a:prstGeom>
          <a:noFill/>
        </p:spPr>
        <p:txBody>
          <a:bodyPr wrap="none" anchor="ctr" lIns="0" rIns="0" tIns="0" bIns="0">
            <a:spAutoFit/>
          </a:bodyPr>
          <a:lstStyle/>
          <a:p>
            <a:pPr algn="ctr"/>
            <a:r>
              <a:rPr sz="2100" b="1" i="0">
                <a:solidFill>
                  <a:srgbClr val="1F1F1F"/>
                </a:solidFill>
                <a:latin typeface="Times New Roman"/>
              </a:rPr>
              <a:t>db→q</a:t>
            </a:r>
          </a:p>
        </p:txBody>
      </p:sp>
      <p:sp>
        <p:nvSpPr>
          <p:cNvPr id="54" name="Rectangle 53"/>
          <p:cNvSpPr/>
          <p:nvPr/>
        </p:nvSpPr>
        <p:spPr>
          <a:xfrm>
            <a:off x="24284178" y="18408826"/>
            <a:ext cx="4940046" cy="1524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5457932" y="18445402"/>
            <a:ext cx="685800" cy="365760"/>
          </a:xfrm>
          <a:prstGeom prst="rect">
            <a:avLst/>
          </a:prstGeom>
          <a:noFill/>
        </p:spPr>
        <p:txBody>
          <a:bodyPr wrap="none" anchor="ctr" lIns="0" rIns="0" tIns="0" bIns="0">
            <a:spAutoFit/>
          </a:bodyPr>
          <a:lstStyle/>
          <a:p>
            <a:pPr algn="l"/>
            <a:r>
              <a:rPr sz="2000" b="1" i="0">
                <a:solidFill>
                  <a:srgbClr val="6F6F6F"/>
                </a:solidFill>
                <a:latin typeface="Times New Roman"/>
              </a:rPr>
              <a:t>‖g‖</a:t>
            </a:r>
          </a:p>
        </p:txBody>
      </p:sp>
      <p:sp>
        <p:nvSpPr>
          <p:cNvPr id="56" name="TextBox 55"/>
          <p:cNvSpPr txBox="1"/>
          <p:nvPr/>
        </p:nvSpPr>
        <p:spPr>
          <a:xfrm>
            <a:off x="16143732" y="18445402"/>
            <a:ext cx="2377440" cy="365760"/>
          </a:xfrm>
          <a:prstGeom prst="rect">
            <a:avLst/>
          </a:prstGeom>
          <a:noFill/>
        </p:spPr>
        <p:txBody>
          <a:bodyPr wrap="none" anchor="ctr" lIns="0" rIns="0" tIns="0" bIns="0">
            <a:spAutoFit/>
          </a:bodyPr>
          <a:lstStyle/>
          <a:p>
            <a:pPr algn="l"/>
            <a:r>
              <a:rPr sz="2000" b="1" i="0">
                <a:solidFill>
                  <a:srgbClr val="6F6F6F"/>
                </a:solidFill>
                <a:latin typeface="Times New Roman"/>
              </a:rPr>
              <a:t>Dataset · Enc.</a:t>
            </a:r>
          </a:p>
        </p:txBody>
      </p:sp>
      <p:sp>
        <p:nvSpPr>
          <p:cNvPr id="57" name="TextBox 56"/>
          <p:cNvSpPr txBox="1"/>
          <p:nvPr/>
        </p:nvSpPr>
        <p:spPr>
          <a:xfrm>
            <a:off x="18521172" y="18445402"/>
            <a:ext cx="2423160" cy="365760"/>
          </a:xfrm>
          <a:prstGeom prst="rect">
            <a:avLst/>
          </a:prstGeom>
          <a:noFill/>
        </p:spPr>
        <p:txBody>
          <a:bodyPr wrap="none" anchor="ctr" lIns="0" rIns="0" tIns="0" bIns="0">
            <a:spAutoFit/>
          </a:bodyPr>
          <a:lstStyle/>
          <a:p>
            <a:pPr algn="r"/>
            <a:r>
              <a:rPr sz="2000" b="1" i="0">
                <a:solidFill>
                  <a:srgbClr val="6F6F6F"/>
                </a:solidFill>
                <a:latin typeface="Times New Roman"/>
              </a:rPr>
              <a:t>R@10</a:t>
            </a:r>
          </a:p>
        </p:txBody>
      </p:sp>
      <p:sp>
        <p:nvSpPr>
          <p:cNvPr id="58" name="TextBox 57"/>
          <p:cNvSpPr txBox="1"/>
          <p:nvPr/>
        </p:nvSpPr>
        <p:spPr>
          <a:xfrm>
            <a:off x="20944332" y="18445402"/>
            <a:ext cx="3065526" cy="365760"/>
          </a:xfrm>
          <a:prstGeom prst="rect">
            <a:avLst/>
          </a:prstGeom>
          <a:noFill/>
        </p:spPr>
        <p:txBody>
          <a:bodyPr wrap="none" anchor="ctr" lIns="0" rIns="0" tIns="0" bIns="0">
            <a:spAutoFit/>
          </a:bodyPr>
          <a:lstStyle/>
          <a:p>
            <a:pPr algn="r"/>
            <a:r>
              <a:rPr sz="2000" b="1" i="0">
                <a:solidFill>
                  <a:srgbClr val="6F6F6F"/>
                </a:solidFill>
                <a:latin typeface="Times New Roman"/>
              </a:rPr>
              <a:t>R@100</a:t>
            </a:r>
          </a:p>
        </p:txBody>
      </p:sp>
      <p:sp>
        <p:nvSpPr>
          <p:cNvPr id="59" name="TextBox 58"/>
          <p:cNvSpPr txBox="1"/>
          <p:nvPr/>
        </p:nvSpPr>
        <p:spPr>
          <a:xfrm>
            <a:off x="24009858" y="18445402"/>
            <a:ext cx="2423160" cy="365760"/>
          </a:xfrm>
          <a:prstGeom prst="rect">
            <a:avLst/>
          </a:prstGeom>
          <a:noFill/>
        </p:spPr>
        <p:txBody>
          <a:bodyPr wrap="none" anchor="ctr" lIns="0" rIns="0" tIns="0" bIns="0">
            <a:spAutoFit/>
          </a:bodyPr>
          <a:lstStyle/>
          <a:p>
            <a:pPr algn="r"/>
            <a:r>
              <a:rPr sz="2000" b="1" i="0">
                <a:solidFill>
                  <a:srgbClr val="6F6F6F"/>
                </a:solidFill>
                <a:latin typeface="Times New Roman"/>
              </a:rPr>
              <a:t>R@10</a:t>
            </a:r>
          </a:p>
        </p:txBody>
      </p:sp>
      <p:sp>
        <p:nvSpPr>
          <p:cNvPr id="60" name="TextBox 59"/>
          <p:cNvSpPr txBox="1"/>
          <p:nvPr/>
        </p:nvSpPr>
        <p:spPr>
          <a:xfrm>
            <a:off x="26433018" y="18445402"/>
            <a:ext cx="3065526" cy="365760"/>
          </a:xfrm>
          <a:prstGeom prst="rect">
            <a:avLst/>
          </a:prstGeom>
          <a:noFill/>
        </p:spPr>
        <p:txBody>
          <a:bodyPr wrap="none" anchor="ctr" lIns="0" rIns="0" tIns="0" bIns="0">
            <a:spAutoFit/>
          </a:bodyPr>
          <a:lstStyle/>
          <a:p>
            <a:pPr algn="r"/>
            <a:r>
              <a:rPr sz="2000" b="1" i="0">
                <a:solidFill>
                  <a:srgbClr val="6F6F6F"/>
                </a:solidFill>
                <a:latin typeface="Times New Roman"/>
              </a:rPr>
              <a:t>R@100</a:t>
            </a:r>
          </a:p>
        </p:txBody>
      </p:sp>
      <p:sp>
        <p:nvSpPr>
          <p:cNvPr id="61" name="Rectangle 60"/>
          <p:cNvSpPr/>
          <p:nvPr/>
        </p:nvSpPr>
        <p:spPr>
          <a:xfrm>
            <a:off x="15457932" y="18847738"/>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5457932" y="18885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63" name="TextBox 62"/>
          <p:cNvSpPr txBox="1"/>
          <p:nvPr/>
        </p:nvSpPr>
        <p:spPr>
          <a:xfrm>
            <a:off x="16143732" y="18885076"/>
            <a:ext cx="2377440" cy="457200"/>
          </a:xfrm>
          <a:prstGeom prst="rect">
            <a:avLst/>
          </a:prstGeom>
          <a:noFill/>
        </p:spPr>
        <p:txBody>
          <a:bodyPr wrap="none" anchor="ctr" lIns="0" rIns="0" tIns="0" bIns="0">
            <a:spAutoFit/>
          </a:bodyPr>
          <a:lstStyle/>
          <a:p>
            <a:pPr algn="l"/>
            <a:r>
              <a:rPr sz="2100" b="0" i="0">
                <a:solidFill>
                  <a:srgbClr val="1F1F1F"/>
                </a:solidFill>
                <a:latin typeface="Times New Roman"/>
              </a:rPr>
              <a:t>MSCOCO CL-L</a:t>
            </a:r>
          </a:p>
        </p:txBody>
      </p:sp>
      <p:sp>
        <p:nvSpPr>
          <p:cNvPr id="64" name="TextBox 63"/>
          <p:cNvSpPr txBox="1"/>
          <p:nvPr/>
        </p:nvSpPr>
        <p:spPr>
          <a:xfrm>
            <a:off x="18521172" y="188850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.36→</a:t>
            </a:r>
            <a:r>
              <a:rPr sz="2000" b="1" i="0">
                <a:solidFill>
                  <a:srgbClr val="0D4DA3"/>
                </a:solidFill>
                <a:latin typeface="Times New Roman"/>
              </a:rPr>
              <a:t>.48</a:t>
            </a:r>
            <a:r>
              <a:rPr sz="1700" b="1" i="0">
                <a:solidFill>
                  <a:srgbClr val="0D4DA3"/>
                </a:solidFill>
                <a:latin typeface="Times New Roman"/>
              </a:rPr>
              <a:t> +33%</a:t>
            </a:r>
          </a:p>
        </p:txBody>
      </p:sp>
      <p:sp>
        <p:nvSpPr>
          <p:cNvPr id="65" name="TextBox 64"/>
          <p:cNvSpPr txBox="1"/>
          <p:nvPr/>
        </p:nvSpPr>
        <p:spPr>
          <a:xfrm>
            <a:off x="20944332" y="188850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.55→</a:t>
            </a:r>
            <a:r>
              <a:rPr sz="2000" b="1" i="0">
                <a:solidFill>
                  <a:srgbClr val="0D4DA3"/>
                </a:solidFill>
                <a:latin typeface="Times New Roman"/>
              </a:rPr>
              <a:t>.65</a:t>
            </a:r>
            <a:r>
              <a:rPr sz="1700" b="1" i="0">
                <a:solidFill>
                  <a:srgbClr val="0D4DA3"/>
                </a:solidFill>
                <a:latin typeface="Times New Roman"/>
              </a:rPr>
              <a:t> +18%</a:t>
            </a:r>
          </a:p>
        </p:txBody>
      </p:sp>
      <p:sp>
        <p:nvSpPr>
          <p:cNvPr id="66" name="TextBox 65"/>
          <p:cNvSpPr txBox="1"/>
          <p:nvPr/>
        </p:nvSpPr>
        <p:spPr>
          <a:xfrm>
            <a:off x="24009858" y="188850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.26→</a:t>
            </a:r>
            <a:r>
              <a:rPr sz="2000" b="1" i="0">
                <a:solidFill>
                  <a:srgbClr val="0D4DA3"/>
                </a:solidFill>
                <a:latin typeface="Times New Roman"/>
              </a:rPr>
              <a:t>.44</a:t>
            </a:r>
            <a:r>
              <a:rPr sz="1700" b="1" i="0">
                <a:solidFill>
                  <a:srgbClr val="0D4DA3"/>
                </a:solidFill>
                <a:latin typeface="Times New Roman"/>
              </a:rPr>
              <a:t> +69%</a:t>
            </a:r>
          </a:p>
        </p:txBody>
      </p:sp>
      <p:sp>
        <p:nvSpPr>
          <p:cNvPr id="67" name="TextBox 66"/>
          <p:cNvSpPr txBox="1"/>
          <p:nvPr/>
        </p:nvSpPr>
        <p:spPr>
          <a:xfrm>
            <a:off x="26433018" y="188850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.47→</a:t>
            </a:r>
            <a:r>
              <a:rPr sz="2000" b="1" i="0">
                <a:solidFill>
                  <a:srgbClr val="0D4DA3"/>
                </a:solidFill>
                <a:latin typeface="Times New Roman"/>
              </a:rPr>
              <a:t>.63</a:t>
            </a:r>
            <a:r>
              <a:rPr sz="1700" b="1" i="0">
                <a:solidFill>
                  <a:srgbClr val="0D4DA3"/>
                </a:solidFill>
                <a:latin typeface="Times New Roman"/>
              </a:rPr>
              <a:t> +34%</a:t>
            </a:r>
          </a:p>
        </p:txBody>
      </p:sp>
      <p:sp>
        <p:nvSpPr>
          <p:cNvPr id="68" name="Rectangle 67"/>
          <p:cNvSpPr/>
          <p:nvPr/>
        </p:nvSpPr>
        <p:spPr>
          <a:xfrm>
            <a:off x="15457932" y="19342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457932" y="19342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.82</a:t>
            </a:r>
          </a:p>
        </p:txBody>
      </p:sp>
      <p:sp>
        <p:nvSpPr>
          <p:cNvPr id="70" name="TextBox 69"/>
          <p:cNvSpPr txBox="1"/>
          <p:nvPr/>
        </p:nvSpPr>
        <p:spPr>
          <a:xfrm>
            <a:off x="16143732" y="19342276"/>
            <a:ext cx="2377440" cy="457200"/>
          </a:xfrm>
          <a:prstGeom prst="rect">
            <a:avLst/>
          </a:prstGeom>
          <a:noFill/>
        </p:spPr>
        <p:txBody>
          <a:bodyPr wrap="none" anchor="ctr" lIns="0" rIns="0" tIns="0" bIns="0">
            <a:spAutoFit/>
          </a:bodyPr>
          <a:lstStyle/>
          <a:p>
            <a:pPr algn="l"/>
            <a:r>
              <a:rPr sz="2100" b="0" i="0">
                <a:solidFill>
                  <a:srgbClr val="1F1F1F"/>
                </a:solidFill>
                <a:latin typeface="Times New Roman"/>
              </a:rPr>
              <a:t>MSCOCO CLIP</a:t>
            </a:r>
          </a:p>
        </p:txBody>
      </p:sp>
      <p:sp>
        <p:nvSpPr>
          <p:cNvPr id="71" name="TextBox 70"/>
          <p:cNvSpPr txBox="1"/>
          <p:nvPr/>
        </p:nvSpPr>
        <p:spPr>
          <a:xfrm>
            <a:off x="18521172" y="193422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.40→</a:t>
            </a:r>
            <a:r>
              <a:rPr sz="2000" b="1" i="0">
                <a:solidFill>
                  <a:srgbClr val="0D4DA3"/>
                </a:solidFill>
                <a:latin typeface="Times New Roman"/>
              </a:rPr>
              <a:t>.46</a:t>
            </a:r>
            <a:r>
              <a:rPr sz="1700" b="1" i="0">
                <a:solidFill>
                  <a:srgbClr val="0D4DA3"/>
                </a:solidFill>
                <a:latin typeface="Times New Roman"/>
              </a:rPr>
              <a:t> +15%</a:t>
            </a:r>
          </a:p>
        </p:txBody>
      </p:sp>
      <p:sp>
        <p:nvSpPr>
          <p:cNvPr id="72" name="TextBox 71"/>
          <p:cNvSpPr txBox="1"/>
          <p:nvPr/>
        </p:nvSpPr>
        <p:spPr>
          <a:xfrm>
            <a:off x="20944332" y="193422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.58→</a:t>
            </a:r>
            <a:r>
              <a:rPr sz="2000" b="1" i="0">
                <a:solidFill>
                  <a:srgbClr val="0D4DA3"/>
                </a:solidFill>
                <a:latin typeface="Times New Roman"/>
              </a:rPr>
              <a:t>.63</a:t>
            </a:r>
            <a:r>
              <a:rPr sz="1700" b="1" i="0">
                <a:solidFill>
                  <a:srgbClr val="0D4DA3"/>
                </a:solidFill>
                <a:latin typeface="Times New Roman"/>
              </a:rPr>
              <a:t> +9%</a:t>
            </a:r>
          </a:p>
        </p:txBody>
      </p:sp>
      <p:sp>
        <p:nvSpPr>
          <p:cNvPr id="73" name="TextBox 72"/>
          <p:cNvSpPr txBox="1"/>
          <p:nvPr/>
        </p:nvSpPr>
        <p:spPr>
          <a:xfrm>
            <a:off x="24009858" y="193422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.29→</a:t>
            </a:r>
            <a:r>
              <a:rPr sz="2000" b="1" i="0">
                <a:solidFill>
                  <a:srgbClr val="0D4DA3"/>
                </a:solidFill>
                <a:latin typeface="Times New Roman"/>
              </a:rPr>
              <a:t>.39</a:t>
            </a:r>
            <a:r>
              <a:rPr sz="1700" b="1" i="0">
                <a:solidFill>
                  <a:srgbClr val="0D4DA3"/>
                </a:solidFill>
                <a:latin typeface="Times New Roman"/>
              </a:rPr>
              <a:t> +34%</a:t>
            </a:r>
          </a:p>
        </p:txBody>
      </p:sp>
      <p:sp>
        <p:nvSpPr>
          <p:cNvPr id="74" name="TextBox 73"/>
          <p:cNvSpPr txBox="1"/>
          <p:nvPr/>
        </p:nvSpPr>
        <p:spPr>
          <a:xfrm>
            <a:off x="26433018" y="193422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.50→</a:t>
            </a:r>
            <a:r>
              <a:rPr sz="2000" b="1" i="0">
                <a:solidFill>
                  <a:srgbClr val="0D4DA3"/>
                </a:solidFill>
                <a:latin typeface="Times New Roman"/>
              </a:rPr>
              <a:t>.60</a:t>
            </a:r>
            <a:r>
              <a:rPr sz="1700" b="1" i="0">
                <a:solidFill>
                  <a:srgbClr val="0D4DA3"/>
                </a:solidFill>
                <a:latin typeface="Times New Roman"/>
              </a:rPr>
              <a:t> +20%</a:t>
            </a:r>
          </a:p>
        </p:txBody>
      </p:sp>
      <p:sp>
        <p:nvSpPr>
          <p:cNvPr id="75" name="Rectangle 74"/>
          <p:cNvSpPr/>
          <p:nvPr/>
        </p:nvSpPr>
        <p:spPr>
          <a:xfrm>
            <a:off x="15457932" y="19799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5457932" y="197994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.77</a:t>
            </a:r>
          </a:p>
        </p:txBody>
      </p:sp>
      <p:sp>
        <p:nvSpPr>
          <p:cNvPr id="77" name="TextBox 76"/>
          <p:cNvSpPr txBox="1"/>
          <p:nvPr/>
        </p:nvSpPr>
        <p:spPr>
          <a:xfrm>
            <a:off x="16143732" y="19799476"/>
            <a:ext cx="2377440" cy="457200"/>
          </a:xfrm>
          <a:prstGeom prst="rect">
            <a:avLst/>
          </a:prstGeom>
          <a:noFill/>
        </p:spPr>
        <p:txBody>
          <a:bodyPr wrap="none" anchor="ctr" lIns="0" rIns="0" tIns="0" bIns="0">
            <a:spAutoFit/>
          </a:bodyPr>
          <a:lstStyle/>
          <a:p>
            <a:pPr algn="l"/>
            <a:r>
              <a:rPr sz="2100" b="0" i="0">
                <a:solidFill>
                  <a:srgbClr val="1F1F1F"/>
                </a:solidFill>
                <a:latin typeface="Times New Roman"/>
              </a:rPr>
              <a:t>Flickr30K CL-L</a:t>
            </a:r>
          </a:p>
        </p:txBody>
      </p:sp>
      <p:sp>
        <p:nvSpPr>
          <p:cNvPr id="78" name="TextBox 77"/>
          <p:cNvSpPr txBox="1"/>
          <p:nvPr/>
        </p:nvSpPr>
        <p:spPr>
          <a:xfrm>
            <a:off x="18521172" y="197994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.31→</a:t>
            </a:r>
            <a:r>
              <a:rPr sz="2000" b="1" i="0">
                <a:solidFill>
                  <a:srgbClr val="0D4DA3"/>
                </a:solidFill>
                <a:latin typeface="Times New Roman"/>
              </a:rPr>
              <a:t>.38</a:t>
            </a:r>
            <a:r>
              <a:rPr sz="1700" b="1" i="0">
                <a:solidFill>
                  <a:srgbClr val="0D4DA3"/>
                </a:solidFill>
                <a:latin typeface="Times New Roman"/>
              </a:rPr>
              <a:t> +23%</a:t>
            </a:r>
          </a:p>
        </p:txBody>
      </p:sp>
      <p:sp>
        <p:nvSpPr>
          <p:cNvPr id="79" name="TextBox 78"/>
          <p:cNvSpPr txBox="1"/>
          <p:nvPr/>
        </p:nvSpPr>
        <p:spPr>
          <a:xfrm>
            <a:off x="20944332" y="197994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.41→</a:t>
            </a:r>
            <a:r>
              <a:rPr sz="2000" b="1" i="0">
                <a:solidFill>
                  <a:srgbClr val="0D4DA3"/>
                </a:solidFill>
                <a:latin typeface="Times New Roman"/>
              </a:rPr>
              <a:t>.48</a:t>
            </a:r>
            <a:r>
              <a:rPr sz="1700" b="1" i="0">
                <a:solidFill>
                  <a:srgbClr val="0D4DA3"/>
                </a:solidFill>
                <a:latin typeface="Times New Roman"/>
              </a:rPr>
              <a:t> +17%</a:t>
            </a:r>
          </a:p>
        </p:txBody>
      </p:sp>
      <p:sp>
        <p:nvSpPr>
          <p:cNvPr id="80" name="TextBox 79"/>
          <p:cNvSpPr txBox="1"/>
          <p:nvPr/>
        </p:nvSpPr>
        <p:spPr>
          <a:xfrm>
            <a:off x="24009858" y="197994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.22→</a:t>
            </a:r>
            <a:r>
              <a:rPr sz="2000" b="1" i="0">
                <a:solidFill>
                  <a:srgbClr val="0D4DA3"/>
                </a:solidFill>
                <a:latin typeface="Times New Roman"/>
              </a:rPr>
              <a:t>.38</a:t>
            </a:r>
            <a:r>
              <a:rPr sz="1700" b="1" i="0">
                <a:solidFill>
                  <a:srgbClr val="0D4DA3"/>
                </a:solidFill>
                <a:latin typeface="Times New Roman"/>
              </a:rPr>
              <a:t> +73%</a:t>
            </a:r>
          </a:p>
        </p:txBody>
      </p:sp>
      <p:sp>
        <p:nvSpPr>
          <p:cNvPr id="81" name="TextBox 80"/>
          <p:cNvSpPr txBox="1"/>
          <p:nvPr/>
        </p:nvSpPr>
        <p:spPr>
          <a:xfrm>
            <a:off x="26433018" y="197994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.33→</a:t>
            </a:r>
            <a:r>
              <a:rPr sz="2000" b="1" i="0">
                <a:solidFill>
                  <a:srgbClr val="0D4DA3"/>
                </a:solidFill>
                <a:latin typeface="Times New Roman"/>
              </a:rPr>
              <a:t>.48</a:t>
            </a:r>
            <a:r>
              <a:rPr sz="1700" b="1" i="0">
                <a:solidFill>
                  <a:srgbClr val="0D4DA3"/>
                </a:solidFill>
                <a:latin typeface="Times New Roman"/>
              </a:rPr>
              <a:t> +45%</a:t>
            </a:r>
          </a:p>
        </p:txBody>
      </p:sp>
      <p:sp>
        <p:nvSpPr>
          <p:cNvPr id="82" name="Rectangle 81"/>
          <p:cNvSpPr/>
          <p:nvPr/>
        </p:nvSpPr>
        <p:spPr>
          <a:xfrm>
            <a:off x="15457932" y="202566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57932" y="202566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.72</a:t>
            </a:r>
          </a:p>
        </p:txBody>
      </p:sp>
      <p:sp>
        <p:nvSpPr>
          <p:cNvPr id="84" name="TextBox 83"/>
          <p:cNvSpPr txBox="1"/>
          <p:nvPr/>
        </p:nvSpPr>
        <p:spPr>
          <a:xfrm>
            <a:off x="16143732" y="20256676"/>
            <a:ext cx="2377440" cy="457200"/>
          </a:xfrm>
          <a:prstGeom prst="rect">
            <a:avLst/>
          </a:prstGeom>
          <a:noFill/>
        </p:spPr>
        <p:txBody>
          <a:bodyPr wrap="none" anchor="ctr" lIns="0" rIns="0" tIns="0" bIns="0">
            <a:spAutoFit/>
          </a:bodyPr>
          <a:lstStyle/>
          <a:p>
            <a:pPr algn="l"/>
            <a:r>
              <a:rPr sz="2100" b="0" i="0">
                <a:solidFill>
                  <a:srgbClr val="1F1F1F"/>
                </a:solidFill>
                <a:latin typeface="Times New Roman"/>
              </a:rPr>
              <a:t>LAION-400M CLIP</a:t>
            </a:r>
          </a:p>
        </p:txBody>
      </p:sp>
      <p:sp>
        <p:nvSpPr>
          <p:cNvPr id="85" name="TextBox 84"/>
          <p:cNvSpPr txBox="1"/>
          <p:nvPr/>
        </p:nvSpPr>
        <p:spPr>
          <a:xfrm>
            <a:off x="18521172" y="202566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.075→</a:t>
            </a:r>
            <a:r>
              <a:rPr sz="2000" b="1" i="0">
                <a:solidFill>
                  <a:srgbClr val="0D4DA3"/>
                </a:solidFill>
                <a:latin typeface="Times New Roman"/>
              </a:rPr>
              <a:t>.086</a:t>
            </a:r>
            <a:r>
              <a:rPr sz="1700" b="1" i="0">
                <a:solidFill>
                  <a:srgbClr val="0D4DA3"/>
                </a:solidFill>
                <a:latin typeface="Times New Roman"/>
              </a:rPr>
              <a:t> +15%</a:t>
            </a:r>
          </a:p>
        </p:txBody>
      </p:sp>
      <p:sp>
        <p:nvSpPr>
          <p:cNvPr id="86" name="TextBox 85"/>
          <p:cNvSpPr txBox="1"/>
          <p:nvPr/>
        </p:nvSpPr>
        <p:spPr>
          <a:xfrm>
            <a:off x="20944332" y="202566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.108→</a:t>
            </a:r>
            <a:r>
              <a:rPr sz="2000" b="1" i="0">
                <a:solidFill>
                  <a:srgbClr val="0D4DA3"/>
                </a:solidFill>
                <a:latin typeface="Times New Roman"/>
              </a:rPr>
              <a:t>.143</a:t>
            </a:r>
            <a:r>
              <a:rPr sz="1700" b="1" i="0">
                <a:solidFill>
                  <a:srgbClr val="0D4DA3"/>
                </a:solidFill>
                <a:latin typeface="Times New Roman"/>
              </a:rPr>
              <a:t> +32%</a:t>
            </a:r>
          </a:p>
        </p:txBody>
      </p:sp>
      <p:sp>
        <p:nvSpPr>
          <p:cNvPr id="87" name="TextBox 86"/>
          <p:cNvSpPr txBox="1"/>
          <p:nvPr/>
        </p:nvSpPr>
        <p:spPr>
          <a:xfrm>
            <a:off x="24009858" y="202566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.035→</a:t>
            </a:r>
            <a:r>
              <a:rPr sz="2000" b="1" i="0">
                <a:solidFill>
                  <a:srgbClr val="0D4DA3"/>
                </a:solidFill>
                <a:latin typeface="Times New Roman"/>
              </a:rPr>
              <a:t>.048</a:t>
            </a:r>
            <a:r>
              <a:rPr sz="1700" b="1" i="0">
                <a:solidFill>
                  <a:srgbClr val="0D4DA3"/>
                </a:solidFill>
                <a:latin typeface="Times New Roman"/>
              </a:rPr>
              <a:t> +37%</a:t>
            </a:r>
          </a:p>
        </p:txBody>
      </p:sp>
      <p:sp>
        <p:nvSpPr>
          <p:cNvPr id="88" name="TextBox 87"/>
          <p:cNvSpPr txBox="1"/>
          <p:nvPr/>
        </p:nvSpPr>
        <p:spPr>
          <a:xfrm>
            <a:off x="26433018" y="202566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.069→</a:t>
            </a:r>
            <a:r>
              <a:rPr sz="2000" b="1" i="0">
                <a:solidFill>
                  <a:srgbClr val="0D4DA3"/>
                </a:solidFill>
                <a:latin typeface="Times New Roman"/>
              </a:rPr>
              <a:t>.073</a:t>
            </a:r>
            <a:r>
              <a:rPr sz="1700" b="1" i="0">
                <a:solidFill>
                  <a:srgbClr val="0D4DA3"/>
                </a:solidFill>
                <a:latin typeface="Times New Roman"/>
              </a:rPr>
              <a:t> +6%</a:t>
            </a:r>
          </a:p>
        </p:txBody>
      </p:sp>
      <p:sp>
        <p:nvSpPr>
          <p:cNvPr id="89" name="Rectangle 88"/>
          <p:cNvSpPr/>
          <p:nvPr/>
        </p:nvSpPr>
        <p:spPr>
          <a:xfrm>
            <a:off x="15457932" y="207138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5457932" y="207138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.70</a:t>
            </a:r>
          </a:p>
        </p:txBody>
      </p:sp>
      <p:sp>
        <p:nvSpPr>
          <p:cNvPr id="91" name="TextBox 90"/>
          <p:cNvSpPr txBox="1"/>
          <p:nvPr/>
        </p:nvSpPr>
        <p:spPr>
          <a:xfrm>
            <a:off x="16143732" y="20713876"/>
            <a:ext cx="2377440" cy="457200"/>
          </a:xfrm>
          <a:prstGeom prst="rect">
            <a:avLst/>
          </a:prstGeom>
          <a:noFill/>
        </p:spPr>
        <p:txBody>
          <a:bodyPr wrap="none" anchor="ctr" lIns="0" rIns="0" tIns="0" bIns="0">
            <a:spAutoFit/>
          </a:bodyPr>
          <a:lstStyle/>
          <a:p>
            <a:pPr algn="l"/>
            <a:r>
              <a:rPr sz="2100" b="0" i="0">
                <a:solidFill>
                  <a:srgbClr val="1F1F1F"/>
                </a:solidFill>
                <a:latin typeface="Times New Roman"/>
              </a:rPr>
              <a:t>MSCOCO IB</a:t>
            </a:r>
          </a:p>
        </p:txBody>
      </p:sp>
      <p:sp>
        <p:nvSpPr>
          <p:cNvPr id="92" name="TextBox 91"/>
          <p:cNvSpPr txBox="1"/>
          <p:nvPr/>
        </p:nvSpPr>
        <p:spPr>
          <a:xfrm>
            <a:off x="18521172" y="207138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.55→</a:t>
            </a:r>
            <a:r>
              <a:rPr sz="2000" b="1" i="0">
                <a:solidFill>
                  <a:srgbClr val="0D4DA3"/>
                </a:solidFill>
                <a:latin typeface="Times New Roman"/>
              </a:rPr>
              <a:t>.63</a:t>
            </a:r>
            <a:r>
              <a:rPr sz="1700" b="1" i="0">
                <a:solidFill>
                  <a:srgbClr val="0D4DA3"/>
                </a:solidFill>
                <a:latin typeface="Times New Roman"/>
              </a:rPr>
              <a:t> +15%</a:t>
            </a:r>
          </a:p>
        </p:txBody>
      </p:sp>
      <p:sp>
        <p:nvSpPr>
          <p:cNvPr id="93" name="TextBox 92"/>
          <p:cNvSpPr txBox="1"/>
          <p:nvPr/>
        </p:nvSpPr>
        <p:spPr>
          <a:xfrm>
            <a:off x="20944332" y="207138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.67→</a:t>
            </a:r>
            <a:r>
              <a:rPr sz="2000" b="1" i="0">
                <a:solidFill>
                  <a:srgbClr val="0D4DA3"/>
                </a:solidFill>
                <a:latin typeface="Times New Roman"/>
              </a:rPr>
              <a:t>.75</a:t>
            </a:r>
            <a:r>
              <a:rPr sz="1700" b="1" i="0">
                <a:solidFill>
                  <a:srgbClr val="0D4DA3"/>
                </a:solidFill>
                <a:latin typeface="Times New Roman"/>
              </a:rPr>
              <a:t> +12%</a:t>
            </a:r>
          </a:p>
        </p:txBody>
      </p:sp>
      <p:sp>
        <p:nvSpPr>
          <p:cNvPr id="94" name="TextBox 93"/>
          <p:cNvSpPr txBox="1"/>
          <p:nvPr/>
        </p:nvSpPr>
        <p:spPr>
          <a:xfrm>
            <a:off x="24009858" y="207138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.57→</a:t>
            </a:r>
            <a:r>
              <a:rPr sz="2000" b="1" i="0">
                <a:solidFill>
                  <a:srgbClr val="0D4DA3"/>
                </a:solidFill>
                <a:latin typeface="Times New Roman"/>
              </a:rPr>
              <a:t>.64</a:t>
            </a:r>
            <a:r>
              <a:rPr sz="1700" b="1" i="0">
                <a:solidFill>
                  <a:srgbClr val="0D4DA3"/>
                </a:solidFill>
                <a:latin typeface="Times New Roman"/>
              </a:rPr>
              <a:t> +12%</a:t>
            </a:r>
          </a:p>
        </p:txBody>
      </p:sp>
      <p:sp>
        <p:nvSpPr>
          <p:cNvPr id="95" name="TextBox 94"/>
          <p:cNvSpPr txBox="1"/>
          <p:nvPr/>
        </p:nvSpPr>
        <p:spPr>
          <a:xfrm>
            <a:off x="26433018" y="207138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.71→</a:t>
            </a:r>
            <a:r>
              <a:rPr sz="2000" b="1" i="0">
                <a:solidFill>
                  <a:srgbClr val="0D4DA3"/>
                </a:solidFill>
                <a:latin typeface="Times New Roman"/>
              </a:rPr>
              <a:t>.75</a:t>
            </a:r>
            <a:r>
              <a:rPr sz="1700" b="1" i="0">
                <a:solidFill>
                  <a:srgbClr val="0D4DA3"/>
                </a:solidFill>
                <a:latin typeface="Times New Roman"/>
              </a:rPr>
              <a:t> +6%</a:t>
            </a:r>
          </a:p>
        </p:txBody>
      </p:sp>
      <p:sp>
        <p:nvSpPr>
          <p:cNvPr id="96" name="Rectangle 95"/>
          <p:cNvSpPr/>
          <p:nvPr/>
        </p:nvSpPr>
        <p:spPr>
          <a:xfrm>
            <a:off x="15457932" y="211710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457932" y="211710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98" name="TextBox 97"/>
          <p:cNvSpPr txBox="1"/>
          <p:nvPr/>
        </p:nvSpPr>
        <p:spPr>
          <a:xfrm>
            <a:off x="16143732" y="21171076"/>
            <a:ext cx="2377440" cy="457200"/>
          </a:xfrm>
          <a:prstGeom prst="rect">
            <a:avLst/>
          </a:prstGeom>
          <a:noFill/>
        </p:spPr>
        <p:txBody>
          <a:bodyPr wrap="none" anchor="ctr" lIns="0" rIns="0" tIns="0" bIns="0">
            <a:spAutoFit/>
          </a:bodyPr>
          <a:lstStyle/>
          <a:p>
            <a:pPr algn="l"/>
            <a:r>
              <a:rPr sz="2100" b="0" i="0">
                <a:solidFill>
                  <a:srgbClr val="1F1F1F"/>
                </a:solidFill>
                <a:latin typeface="Times New Roman"/>
              </a:rPr>
              <a:t>Clotho IB</a:t>
            </a:r>
          </a:p>
        </p:txBody>
      </p:sp>
      <p:sp>
        <p:nvSpPr>
          <p:cNvPr id="99" name="TextBox 98"/>
          <p:cNvSpPr txBox="1"/>
          <p:nvPr/>
        </p:nvSpPr>
        <p:spPr>
          <a:xfrm>
            <a:off x="18521172" y="211710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.59→</a:t>
            </a:r>
            <a:r>
              <a:rPr sz="2000" b="1" i="0">
                <a:solidFill>
                  <a:srgbClr val="0D4DA3"/>
                </a:solidFill>
                <a:latin typeface="Times New Roman"/>
              </a:rPr>
              <a:t>.60</a:t>
            </a:r>
            <a:r>
              <a:rPr sz="1700" b="1" i="0">
                <a:solidFill>
                  <a:srgbClr val="0D4DA3"/>
                </a:solidFill>
                <a:latin typeface="Times New Roman"/>
              </a:rPr>
              <a:t> +2%</a:t>
            </a:r>
          </a:p>
        </p:txBody>
      </p:sp>
      <p:sp>
        <p:nvSpPr>
          <p:cNvPr id="100" name="TextBox 99"/>
          <p:cNvSpPr txBox="1"/>
          <p:nvPr/>
        </p:nvSpPr>
        <p:spPr>
          <a:xfrm>
            <a:off x="20944332" y="211710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.72→</a:t>
            </a:r>
            <a:r>
              <a:rPr sz="2000" b="1" i="0">
                <a:solidFill>
                  <a:srgbClr val="0D4DA3"/>
                </a:solidFill>
                <a:latin typeface="Times New Roman"/>
              </a:rPr>
              <a:t>.73</a:t>
            </a:r>
            <a:r>
              <a:rPr sz="1700" b="1" i="0">
                <a:solidFill>
                  <a:srgbClr val="0D4DA3"/>
                </a:solidFill>
                <a:latin typeface="Times New Roman"/>
              </a:rPr>
              <a:t> +1%</a:t>
            </a:r>
          </a:p>
        </p:txBody>
      </p:sp>
      <p:sp>
        <p:nvSpPr>
          <p:cNvPr id="101" name="TextBox 100"/>
          <p:cNvSpPr txBox="1"/>
          <p:nvPr/>
        </p:nvSpPr>
        <p:spPr>
          <a:xfrm>
            <a:off x="24009858" y="211710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.48→</a:t>
            </a:r>
            <a:r>
              <a:rPr sz="2000" b="1" i="0">
                <a:solidFill>
                  <a:srgbClr val="0D4DA3"/>
                </a:solidFill>
                <a:latin typeface="Times New Roman"/>
              </a:rPr>
              <a:t>.54</a:t>
            </a:r>
            <a:r>
              <a:rPr sz="1700" b="1" i="0">
                <a:solidFill>
                  <a:srgbClr val="0D4DA3"/>
                </a:solidFill>
                <a:latin typeface="Times New Roman"/>
              </a:rPr>
              <a:t> +13%</a:t>
            </a:r>
          </a:p>
        </p:txBody>
      </p:sp>
      <p:sp>
        <p:nvSpPr>
          <p:cNvPr id="102" name="TextBox 101"/>
          <p:cNvSpPr txBox="1"/>
          <p:nvPr/>
        </p:nvSpPr>
        <p:spPr>
          <a:xfrm>
            <a:off x="26433018" y="211710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.62→</a:t>
            </a:r>
            <a:r>
              <a:rPr sz="2000" b="1" i="0">
                <a:solidFill>
                  <a:srgbClr val="0D4DA3"/>
                </a:solidFill>
                <a:latin typeface="Times New Roman"/>
              </a:rPr>
              <a:t>.69</a:t>
            </a:r>
            <a:r>
              <a:rPr sz="1700" b="1" i="0">
                <a:solidFill>
                  <a:srgbClr val="0D4DA3"/>
                </a:solidFill>
                <a:latin typeface="Times New Roman"/>
              </a:rPr>
              <a:t> +11%</a:t>
            </a:r>
          </a:p>
        </p:txBody>
      </p:sp>
      <p:sp>
        <p:nvSpPr>
          <p:cNvPr id="103" name="Rectangle 102"/>
          <p:cNvSpPr/>
          <p:nvPr/>
        </p:nvSpPr>
        <p:spPr>
          <a:xfrm>
            <a:off x="15457932" y="216282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15457932" y="21628276"/>
            <a:ext cx="685800" cy="457200"/>
          </a:xfrm>
          <a:prstGeom prst="rect">
            <a:avLst/>
          </a:prstGeom>
          <a:noFill/>
        </p:spPr>
        <p:txBody>
          <a:bodyPr wrap="none" anchor="ctr" lIns="0" rIns="0" tIns="0" bIns="0">
            <a:spAutoFit/>
          </a:bodyPr>
          <a:lstStyle/>
          <a:p>
            <a:pPr algn="l"/>
            <a:r>
              <a:rPr sz="2200" b="1" i="0">
                <a:solidFill>
                  <a:srgbClr val="8B0029"/>
                </a:solidFill>
                <a:latin typeface="Times New Roman"/>
              </a:rPr>
              <a:t>.61</a:t>
            </a:r>
          </a:p>
        </p:txBody>
      </p:sp>
      <p:sp>
        <p:nvSpPr>
          <p:cNvPr id="105" name="TextBox 104"/>
          <p:cNvSpPr txBox="1"/>
          <p:nvPr/>
        </p:nvSpPr>
        <p:spPr>
          <a:xfrm>
            <a:off x="16143732" y="21628276"/>
            <a:ext cx="2377440" cy="457200"/>
          </a:xfrm>
          <a:prstGeom prst="rect">
            <a:avLst/>
          </a:prstGeom>
          <a:noFill/>
        </p:spPr>
        <p:txBody>
          <a:bodyPr wrap="none" anchor="ctr" lIns="0" rIns="0" tIns="0" bIns="0">
            <a:spAutoFit/>
          </a:bodyPr>
          <a:lstStyle/>
          <a:p>
            <a:pPr algn="l"/>
            <a:r>
              <a:rPr sz="2100" b="0" i="0">
                <a:solidFill>
                  <a:srgbClr val="1F1F1F"/>
                </a:solidFill>
                <a:latin typeface="Times New Roman"/>
              </a:rPr>
              <a:t>AudioCaps IB</a:t>
            </a:r>
          </a:p>
        </p:txBody>
      </p:sp>
      <p:sp>
        <p:nvSpPr>
          <p:cNvPr id="106" name="TextBox 105"/>
          <p:cNvSpPr txBox="1"/>
          <p:nvPr/>
        </p:nvSpPr>
        <p:spPr>
          <a:xfrm>
            <a:off x="18521172" y="216282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.39→</a:t>
            </a:r>
            <a:r>
              <a:rPr sz="2000" b="1" i="0">
                <a:solidFill>
                  <a:srgbClr val="0D4DA3"/>
                </a:solidFill>
                <a:latin typeface="Times New Roman"/>
              </a:rPr>
              <a:t>.44</a:t>
            </a:r>
            <a:r>
              <a:rPr sz="1700" b="1" i="0">
                <a:solidFill>
                  <a:srgbClr val="0D4DA3"/>
                </a:solidFill>
                <a:latin typeface="Times New Roman"/>
              </a:rPr>
              <a:t> +13%</a:t>
            </a:r>
          </a:p>
        </p:txBody>
      </p:sp>
      <p:sp>
        <p:nvSpPr>
          <p:cNvPr id="107" name="TextBox 106"/>
          <p:cNvSpPr txBox="1"/>
          <p:nvPr/>
        </p:nvSpPr>
        <p:spPr>
          <a:xfrm>
            <a:off x="20944332" y="216282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.75→</a:t>
            </a:r>
            <a:r>
              <a:rPr sz="2000" b="1" i="0">
                <a:solidFill>
                  <a:srgbClr val="0D4DA3"/>
                </a:solidFill>
                <a:latin typeface="Times New Roman"/>
              </a:rPr>
              <a:t>.78</a:t>
            </a:r>
            <a:r>
              <a:rPr sz="1700" b="1" i="0">
                <a:solidFill>
                  <a:srgbClr val="0D4DA3"/>
                </a:solidFill>
                <a:latin typeface="Times New Roman"/>
              </a:rPr>
              <a:t> +4%</a:t>
            </a:r>
          </a:p>
        </p:txBody>
      </p:sp>
      <p:sp>
        <p:nvSpPr>
          <p:cNvPr id="108" name="TextBox 107"/>
          <p:cNvSpPr txBox="1"/>
          <p:nvPr/>
        </p:nvSpPr>
        <p:spPr>
          <a:xfrm>
            <a:off x="24009858" y="21628276"/>
            <a:ext cx="2423160" cy="457200"/>
          </a:xfrm>
          <a:prstGeom prst="rect">
            <a:avLst/>
          </a:prstGeom>
          <a:noFill/>
        </p:spPr>
        <p:txBody>
          <a:bodyPr wrap="none" anchor="ctr" lIns="0" rIns="0" tIns="0" bIns="0">
            <a:spAutoFit/>
          </a:bodyPr>
          <a:lstStyle/>
          <a:p>
            <a:pPr algn="r"/>
            <a:r>
              <a:rPr sz="1700" b="0" i="0">
                <a:solidFill>
                  <a:srgbClr val="6F6F6F"/>
                </a:solidFill>
                <a:latin typeface="Times New Roman"/>
              </a:rPr>
              <a:t>.44→</a:t>
            </a:r>
            <a:r>
              <a:rPr sz="2000" b="1" i="0">
                <a:solidFill>
                  <a:srgbClr val="0D4DA3"/>
                </a:solidFill>
                <a:latin typeface="Times New Roman"/>
              </a:rPr>
              <a:t>.48</a:t>
            </a:r>
            <a:r>
              <a:rPr sz="1700" b="1" i="0">
                <a:solidFill>
                  <a:srgbClr val="0D4DA3"/>
                </a:solidFill>
                <a:latin typeface="Times New Roman"/>
              </a:rPr>
              <a:t> +9%</a:t>
            </a:r>
          </a:p>
        </p:txBody>
      </p:sp>
      <p:sp>
        <p:nvSpPr>
          <p:cNvPr id="109" name="TextBox 108"/>
          <p:cNvSpPr txBox="1"/>
          <p:nvPr/>
        </p:nvSpPr>
        <p:spPr>
          <a:xfrm>
            <a:off x="26433018" y="21628276"/>
            <a:ext cx="3065526" cy="457200"/>
          </a:xfrm>
          <a:prstGeom prst="rect">
            <a:avLst/>
          </a:prstGeom>
          <a:noFill/>
        </p:spPr>
        <p:txBody>
          <a:bodyPr wrap="none" anchor="ctr" lIns="0" rIns="0" tIns="0" bIns="0">
            <a:spAutoFit/>
          </a:bodyPr>
          <a:lstStyle/>
          <a:p>
            <a:pPr algn="r"/>
            <a:r>
              <a:rPr sz="1700" b="0" i="0">
                <a:solidFill>
                  <a:srgbClr val="6F6F6F"/>
                </a:solidFill>
                <a:latin typeface="Times New Roman"/>
              </a:rPr>
              <a:t>.83→</a:t>
            </a:r>
            <a:r>
              <a:rPr sz="2000" b="1" i="0">
                <a:solidFill>
                  <a:srgbClr val="0D4DA3"/>
                </a:solidFill>
                <a:latin typeface="Times New Roman"/>
              </a:rPr>
              <a:t>.83</a:t>
            </a:r>
            <a:r>
              <a:rPr sz="1700" b="1" i="0">
                <a:solidFill>
                  <a:srgbClr val="0D4DA3"/>
                </a:solidFill>
                <a:latin typeface="Times New Roman"/>
              </a:rPr>
              <a:t> +0%</a:t>
            </a:r>
          </a:p>
        </p:txBody>
      </p:sp>
      <p:sp>
        <p:nvSpPr>
          <p:cNvPr id="110" name="Rectangle 109"/>
          <p:cNvSpPr/>
          <p:nvPr/>
        </p:nvSpPr>
        <p:spPr>
          <a:xfrm>
            <a:off x="15457932" y="22085476"/>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5457932" y="22231780"/>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Gains scale with ‖g‖: the largest-gap rows improve most, exactly as Eq. (2) predicts. At 407 M vectors (LAION-400M, 29.3 GB of codes, 28× compressed) PMC lifts R@100 from .108 to </a:t>
            </a:r>
            <a:r>
              <a:rPr sz="2200" b="1" i="0">
                <a:solidFill>
                  <a:srgbClr val="0D4DA3"/>
                </a:solidFill>
                <a:latin typeface="Times New Roman"/>
              </a:rPr>
              <a:t>.143 (+32%)</a:t>
            </a:r>
            <a:r>
              <a:rPr sz="2200" b="0" i="0">
                <a:solidFill>
                  <a:srgbClr val="1F1F1F"/>
                </a:solidFill>
                <a:latin typeface="Times New Roman"/>
              </a:rPr>
              <a:t>; with exact reranking the lead carries over, .198 → </a:t>
            </a:r>
            <a:r>
              <a:rPr sz="2200" b="1" i="0">
                <a:solidFill>
                  <a:srgbClr val="0D4DA3"/>
                </a:solidFill>
                <a:latin typeface="Times New Roman"/>
              </a:rPr>
              <a:t>.277 (+40%)</a:t>
            </a:r>
            <a:r>
              <a:rPr sz="2200" b="0" i="0">
                <a:solidFill>
                  <a:srgbClr val="1F1F1F"/>
                </a:solidFill>
                <a:latin typeface="Times New Roman"/>
              </a:rPr>
              <a:t>. Exact rescoring cannot rescue Vanilla — it only re-scores what the corrupted codes already retrieved.</a:t>
            </a:r>
          </a:p>
        </p:txBody>
      </p:sp>
      <p:pic>
        <p:nvPicPr>
          <p:cNvPr id="112" name="Picture 111" descr="asset_fig3.png"/>
          <p:cNvPicPr>
            <a:picLocks noChangeAspect="1"/>
          </p:cNvPicPr>
          <p:nvPr/>
        </p:nvPicPr>
        <p:blipFill>
          <a:blip r:embed="rId7"/>
          <a:stretch>
            <a:fillRect/>
          </a:stretch>
        </p:blipFill>
        <p:spPr>
          <a:xfrm>
            <a:off x="15457932" y="23668708"/>
            <a:ext cx="14040612" cy="3622757"/>
          </a:xfrm>
          <a:prstGeom prst="rect">
            <a:avLst/>
          </a:prstGeom>
        </p:spPr>
      </p:pic>
      <p:sp>
        <p:nvSpPr>
          <p:cNvPr id="113" name="TextBox 112"/>
          <p:cNvSpPr txBox="1"/>
          <p:nvPr/>
        </p:nvSpPr>
        <p:spPr>
          <a:xfrm>
            <a:off x="15457932" y="27364617"/>
            <a:ext cx="14040612" cy="1051560"/>
          </a:xfrm>
          <a:prstGeom prst="rect">
            <a:avLst/>
          </a:prstGeom>
          <a:noFill/>
        </p:spPr>
        <p:txBody>
          <a:bodyPr wrap="square" lIns="0" rIns="0" tIns="0" bIns="0">
            <a:spAutoFit/>
          </a:bodyPr>
          <a:lstStyle/>
          <a:p>
            <a:pPr algn="l">
              <a:lnSpc>
                <a:spcPct val="115000"/>
              </a:lnSpc>
              <a:spcAft>
                <a:spcPts val="0"/>
              </a:spcAft>
            </a:pPr>
            <a:r>
              <a:rPr sz="2000" b="0" i="1">
                <a:solidFill>
                  <a:srgbClr val="6F6F6F"/>
                </a:solidFill>
                <a:latin typeface="Times New Roman"/>
              </a:rPr>
              <a:t>(a) R@100 vs shift strength α (α = 0: MeanShift, α = 1: full DB-side PMC): α = 1 is best or near-best, justifying the default. (b) Selective PMC: on concentrated-gap MSCOCO, top-P = 5% already reaches peak R@100; diffuse gaps require broader correction. (c) R@100–QPS Pareto: PMC dominates Vanilla across throughput levels.</a:t>
            </a:r>
          </a:p>
        </p:txBody>
      </p:sp>
      <p:sp>
        <p:nvSpPr>
          <p:cNvPr id="114" name="TextBox 113"/>
          <p:cNvSpPr txBox="1"/>
          <p:nvPr/>
        </p:nvSpPr>
        <p:spPr>
          <a:xfrm>
            <a:off x="15457932" y="28489329"/>
            <a:ext cx="14040612" cy="560070"/>
          </a:xfrm>
          <a:prstGeom prst="rect">
            <a:avLst/>
          </a:prstGeom>
          <a:noFill/>
        </p:spPr>
        <p:txBody>
          <a:bodyPr wrap="square" lIns="0" rIns="0" tIns="0" bIns="0">
            <a:spAutoFit/>
          </a:bodyPr>
          <a:lstStyle/>
          <a:p>
            <a:pPr algn="l">
              <a:lnSpc>
                <a:spcPct val="105000"/>
              </a:lnSpc>
              <a:spcAft>
                <a:spcPts val="0"/>
              </a:spcAft>
            </a:pPr>
            <a:r>
              <a:rPr sz="3500" b="1" i="0">
                <a:solidFill>
                  <a:srgbClr val="8B0029"/>
                </a:solidFill>
                <a:latin typeface="Times New Roman"/>
              </a:rPr>
              <a:t>5.  Analysis</a:t>
            </a:r>
          </a:p>
        </p:txBody>
      </p:sp>
      <p:sp>
        <p:nvSpPr>
          <p:cNvPr id="115" name="Rectangle 114"/>
          <p:cNvSpPr/>
          <p:nvPr/>
        </p:nvSpPr>
        <p:spPr>
          <a:xfrm>
            <a:off x="15457932" y="29095119"/>
            <a:ext cx="14040612" cy="3175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5457932" y="29172589"/>
            <a:ext cx="14040612" cy="427634"/>
          </a:xfrm>
          <a:prstGeom prst="rect">
            <a:avLst/>
          </a:prstGeom>
          <a:noFill/>
        </p:spPr>
        <p:txBody>
          <a:bodyPr wrap="square" lIns="0" rIns="0" tIns="0" bIns="0">
            <a:spAutoFit/>
          </a:bodyPr>
          <a:lstStyle/>
          <a:p>
            <a:pPr algn="l">
              <a:lnSpc>
                <a:spcPct val="122000"/>
              </a:lnSpc>
              <a:spcAft>
                <a:spcPts val="0"/>
              </a:spcAft>
            </a:pPr>
            <a:r>
              <a:rPr sz="2300" b="1" i="0">
                <a:solidFill>
                  <a:srgbClr val="1F1F1F"/>
                </a:solidFill>
                <a:latin typeface="Times New Roman"/>
              </a:rPr>
              <a:t>Every binary index has the same wound  </a:t>
            </a:r>
            <a:r>
              <a:rPr sz="2000" b="0" i="0">
                <a:solidFill>
                  <a:srgbClr val="6F6F6F"/>
                </a:solidFill>
                <a:latin typeface="Times New Roman"/>
              </a:rPr>
              <a:t>(R@100, Vanilla → PMC)</a:t>
            </a:r>
          </a:p>
        </p:txBody>
      </p:sp>
      <p:sp>
        <p:nvSpPr>
          <p:cNvPr id="117" name="TextBox 116"/>
          <p:cNvSpPr txBox="1"/>
          <p:nvPr/>
        </p:nvSpPr>
        <p:spPr>
          <a:xfrm>
            <a:off x="15457932" y="29709951"/>
            <a:ext cx="2926080" cy="438912"/>
          </a:xfrm>
          <a:prstGeom prst="rect">
            <a:avLst/>
          </a:prstGeom>
          <a:noFill/>
        </p:spPr>
        <p:txBody>
          <a:bodyPr wrap="none" anchor="ctr" lIns="0" rIns="0" tIns="0" bIns="0">
            <a:spAutoFit/>
          </a:bodyPr>
          <a:lstStyle/>
          <a:p>
            <a:pPr algn="l"/>
            <a:r>
              <a:rPr sz="2100" b="1" i="0">
                <a:solidFill>
                  <a:srgbClr val="6F6F6F"/>
                </a:solidFill>
                <a:latin typeface="Times New Roman"/>
              </a:rPr>
              <a:t>Method</a:t>
            </a:r>
          </a:p>
        </p:txBody>
      </p:sp>
      <p:sp>
        <p:nvSpPr>
          <p:cNvPr id="118" name="TextBox 117"/>
          <p:cNvSpPr txBox="1"/>
          <p:nvPr/>
        </p:nvSpPr>
        <p:spPr>
          <a:xfrm>
            <a:off x="18384012"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MSCOCO t→i</a:t>
            </a:r>
          </a:p>
        </p:txBody>
      </p:sp>
      <p:sp>
        <p:nvSpPr>
          <p:cNvPr id="119" name="TextBox 118"/>
          <p:cNvSpPr txBox="1"/>
          <p:nvPr/>
        </p:nvSpPr>
        <p:spPr>
          <a:xfrm>
            <a:off x="23941278" y="29709951"/>
            <a:ext cx="5557266" cy="438912"/>
          </a:xfrm>
          <a:prstGeom prst="rect">
            <a:avLst/>
          </a:prstGeom>
          <a:noFill/>
        </p:spPr>
        <p:txBody>
          <a:bodyPr wrap="none" anchor="ctr" lIns="0" rIns="0" tIns="0" bIns="0">
            <a:spAutoFit/>
          </a:bodyPr>
          <a:lstStyle/>
          <a:p>
            <a:pPr algn="r"/>
            <a:r>
              <a:rPr sz="2100" b="1" i="0">
                <a:solidFill>
                  <a:srgbClr val="6F6F6F"/>
                </a:solidFill>
                <a:latin typeface="Times New Roman"/>
              </a:rPr>
              <a:t>AudioCaps a→t</a:t>
            </a:r>
          </a:p>
        </p:txBody>
      </p:sp>
      <p:sp>
        <p:nvSpPr>
          <p:cNvPr id="120" name="Rectangle 119"/>
          <p:cNvSpPr/>
          <p:nvPr/>
        </p:nvSpPr>
        <p:spPr>
          <a:xfrm>
            <a:off x="15457932" y="30185439"/>
            <a:ext cx="14040612" cy="19050"/>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5457932" y="302227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BinaryFlat</a:t>
            </a:r>
          </a:p>
        </p:txBody>
      </p:sp>
      <p:sp>
        <p:nvSpPr>
          <p:cNvPr id="122" name="TextBox 121"/>
          <p:cNvSpPr txBox="1"/>
          <p:nvPr/>
        </p:nvSpPr>
        <p:spPr>
          <a:xfrm>
            <a:off x="18384012"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.57</a:t>
            </a:r>
          </a:p>
        </p:txBody>
      </p:sp>
      <p:sp>
        <p:nvSpPr>
          <p:cNvPr id="123" name="TextBox 122"/>
          <p:cNvSpPr txBox="1"/>
          <p:nvPr/>
        </p:nvSpPr>
        <p:spPr>
          <a:xfrm>
            <a:off x="23941278" y="302227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.64</a:t>
            </a:r>
          </a:p>
        </p:txBody>
      </p:sp>
      <p:sp>
        <p:nvSpPr>
          <p:cNvPr id="124" name="Rectangle 123"/>
          <p:cNvSpPr/>
          <p:nvPr/>
        </p:nvSpPr>
        <p:spPr>
          <a:xfrm>
            <a:off x="15457932" y="306799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57932" y="306799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BinaryIVF</a:t>
            </a:r>
          </a:p>
        </p:txBody>
      </p:sp>
      <p:sp>
        <p:nvSpPr>
          <p:cNvPr id="126" name="TextBox 125"/>
          <p:cNvSpPr txBox="1"/>
          <p:nvPr/>
        </p:nvSpPr>
        <p:spPr>
          <a:xfrm>
            <a:off x="18384012"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.51 → </a:t>
            </a:r>
            <a:r>
              <a:rPr sz="2300" b="1" i="0">
                <a:solidFill>
                  <a:srgbClr val="0D4DA3"/>
                </a:solidFill>
                <a:latin typeface="Times New Roman"/>
              </a:rPr>
              <a:t>.57</a:t>
            </a:r>
          </a:p>
        </p:txBody>
      </p:sp>
      <p:sp>
        <p:nvSpPr>
          <p:cNvPr id="127" name="TextBox 126"/>
          <p:cNvSpPr txBox="1"/>
          <p:nvPr/>
        </p:nvSpPr>
        <p:spPr>
          <a:xfrm>
            <a:off x="23941278" y="306799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.50 → </a:t>
            </a:r>
            <a:r>
              <a:rPr sz="2300" b="1" i="0">
                <a:solidFill>
                  <a:srgbClr val="0D4DA3"/>
                </a:solidFill>
                <a:latin typeface="Times New Roman"/>
              </a:rPr>
              <a:t>.63</a:t>
            </a:r>
          </a:p>
        </p:txBody>
      </p:sp>
      <p:sp>
        <p:nvSpPr>
          <p:cNvPr id="128" name="Rectangle 127"/>
          <p:cNvSpPr/>
          <p:nvPr/>
        </p:nvSpPr>
        <p:spPr>
          <a:xfrm>
            <a:off x="15457932" y="311371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5457932" y="311371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RotatedBinary</a:t>
            </a:r>
          </a:p>
        </p:txBody>
      </p:sp>
      <p:sp>
        <p:nvSpPr>
          <p:cNvPr id="130" name="TextBox 129"/>
          <p:cNvSpPr txBox="1"/>
          <p:nvPr/>
        </p:nvSpPr>
        <p:spPr>
          <a:xfrm>
            <a:off x="18384012"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.29 → </a:t>
            </a:r>
            <a:r>
              <a:rPr sz="2300" b="1" i="0">
                <a:solidFill>
                  <a:srgbClr val="0D4DA3"/>
                </a:solidFill>
                <a:latin typeface="Times New Roman"/>
              </a:rPr>
              <a:t>.58</a:t>
            </a:r>
          </a:p>
        </p:txBody>
      </p:sp>
      <p:sp>
        <p:nvSpPr>
          <p:cNvPr id="131" name="TextBox 130"/>
          <p:cNvSpPr txBox="1"/>
          <p:nvPr/>
        </p:nvSpPr>
        <p:spPr>
          <a:xfrm>
            <a:off x="23941278" y="311371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.63 → </a:t>
            </a:r>
            <a:r>
              <a:rPr sz="2300" b="1" i="0">
                <a:solidFill>
                  <a:srgbClr val="0D4DA3"/>
                </a:solidFill>
                <a:latin typeface="Times New Roman"/>
              </a:rPr>
              <a:t>.69</a:t>
            </a:r>
          </a:p>
        </p:txBody>
      </p:sp>
      <p:sp>
        <p:nvSpPr>
          <p:cNvPr id="132" name="Rectangle 131"/>
          <p:cNvSpPr/>
          <p:nvPr/>
        </p:nvSpPr>
        <p:spPr>
          <a:xfrm>
            <a:off x="15457932" y="315943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5457932" y="31594377"/>
            <a:ext cx="2926080" cy="457200"/>
          </a:xfrm>
          <a:prstGeom prst="rect">
            <a:avLst/>
          </a:prstGeom>
          <a:noFill/>
        </p:spPr>
        <p:txBody>
          <a:bodyPr wrap="none" anchor="ctr" lIns="0" rIns="0" tIns="0" bIns="0">
            <a:spAutoFit/>
          </a:bodyPr>
          <a:lstStyle/>
          <a:p>
            <a:pPr algn="l"/>
            <a:r>
              <a:rPr sz="2200" b="0" i="0">
                <a:solidFill>
                  <a:srgbClr val="1F1F1F"/>
                </a:solidFill>
                <a:latin typeface="Times New Roman"/>
              </a:rPr>
              <a:t>RaBitQ</a:t>
            </a:r>
          </a:p>
        </p:txBody>
      </p:sp>
      <p:sp>
        <p:nvSpPr>
          <p:cNvPr id="134" name="TextBox 133"/>
          <p:cNvSpPr txBox="1"/>
          <p:nvPr/>
        </p:nvSpPr>
        <p:spPr>
          <a:xfrm>
            <a:off x="18384012"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.58 → </a:t>
            </a:r>
            <a:r>
              <a:rPr sz="2300" b="1" i="0">
                <a:solidFill>
                  <a:srgbClr val="0D4DA3"/>
                </a:solidFill>
                <a:latin typeface="Times New Roman"/>
              </a:rPr>
              <a:t>.64</a:t>
            </a:r>
          </a:p>
        </p:txBody>
      </p:sp>
      <p:sp>
        <p:nvSpPr>
          <p:cNvPr id="135" name="TextBox 134"/>
          <p:cNvSpPr txBox="1"/>
          <p:nvPr/>
        </p:nvSpPr>
        <p:spPr>
          <a:xfrm>
            <a:off x="23941278" y="31594377"/>
            <a:ext cx="5557266" cy="457200"/>
          </a:xfrm>
          <a:prstGeom prst="rect">
            <a:avLst/>
          </a:prstGeom>
          <a:noFill/>
        </p:spPr>
        <p:txBody>
          <a:bodyPr wrap="none" anchor="ctr" lIns="0" rIns="0" tIns="0" bIns="0">
            <a:spAutoFit/>
          </a:bodyPr>
          <a:lstStyle/>
          <a:p>
            <a:pPr algn="r"/>
            <a:r>
              <a:rPr sz="2000" b="0" i="0">
                <a:solidFill>
                  <a:srgbClr val="6F6F6F"/>
                </a:solidFill>
                <a:latin typeface="Times New Roman"/>
              </a:rPr>
              <a:t>.67 → </a:t>
            </a:r>
            <a:r>
              <a:rPr sz="2300" b="1" i="0">
                <a:solidFill>
                  <a:srgbClr val="0D4DA3"/>
                </a:solidFill>
                <a:latin typeface="Times New Roman"/>
              </a:rPr>
              <a:t>.75</a:t>
            </a:r>
          </a:p>
        </p:txBody>
      </p:sp>
      <p:sp>
        <p:nvSpPr>
          <p:cNvPr id="136" name="Rectangle 135"/>
          <p:cNvSpPr/>
          <p:nvPr/>
        </p:nvSpPr>
        <p:spPr>
          <a:xfrm>
            <a:off x="15457932" y="32051577"/>
            <a:ext cx="14040612" cy="1016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5457932" y="32179593"/>
            <a:ext cx="14040612" cy="1699666"/>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Rotation (BBQ-style) spreads the concentrated gap energy across every bit, so RotatedBinary collapses hardest without correction — and gains most from it. PMC improves or matches R@100 in all 16 method × direction configurations: the wound is in the centroid, so the same one-line fix serves every sign(x − c) method. Multi-bit quantizers (IVFPQ, OPQ) absorb part of the displacement yet still gain +1–56%.</a:t>
            </a:r>
          </a:p>
        </p:txBody>
      </p:sp>
      <p:sp>
        <p:nvSpPr>
          <p:cNvPr id="138" name="TextBox 137"/>
          <p:cNvSpPr txBox="1"/>
          <p:nvPr/>
        </p:nvSpPr>
        <p:spPr>
          <a:xfrm>
            <a:off x="15457932" y="33988987"/>
            <a:ext cx="14040612" cy="446227"/>
          </a:xfrm>
          <a:prstGeom prst="rect">
            <a:avLst/>
          </a:prstGeom>
          <a:noFill/>
        </p:spPr>
        <p:txBody>
          <a:bodyPr wrap="square" lIns="0" rIns="0" tIns="0" bIns="0">
            <a:spAutoFit/>
          </a:bodyPr>
          <a:lstStyle/>
          <a:p>
            <a:pPr algn="l">
              <a:lnSpc>
                <a:spcPct val="122000"/>
              </a:lnSpc>
              <a:spcAft>
                <a:spcPts val="0"/>
              </a:spcAft>
            </a:pPr>
            <a:r>
              <a:rPr sz="2400" b="1" i="0">
                <a:solidFill>
                  <a:srgbClr val="1F1F1F"/>
                </a:solidFill>
                <a:latin typeface="Times New Roman"/>
              </a:rPr>
              <a:t>Where to correct  </a:t>
            </a:r>
            <a:r>
              <a:rPr sz="2000" b="0" i="0">
                <a:solidFill>
                  <a:srgbClr val="6F6F6F"/>
                </a:solidFill>
                <a:latin typeface="Times New Roman"/>
              </a:rPr>
              <a:t>(MSCOCO · CLIP-B/32 · R@100 t→i)</a:t>
            </a:r>
          </a:p>
        </p:txBody>
      </p:sp>
      <p:sp>
        <p:nvSpPr>
          <p:cNvPr id="139" name="Rectangle 138"/>
          <p:cNvSpPr/>
          <p:nvPr/>
        </p:nvSpPr>
        <p:spPr>
          <a:xfrm>
            <a:off x="15457932" y="3456323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5457932" y="34563230"/>
            <a:ext cx="8546657"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15622524" y="3456323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Vanilla</a:t>
            </a:r>
          </a:p>
        </p:txBody>
      </p:sp>
      <p:sp>
        <p:nvSpPr>
          <p:cNvPr id="142" name="TextBox 141"/>
          <p:cNvSpPr txBox="1"/>
          <p:nvPr/>
        </p:nvSpPr>
        <p:spPr>
          <a:xfrm>
            <a:off x="28072080" y="3456323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.578</a:t>
            </a:r>
          </a:p>
        </p:txBody>
      </p:sp>
      <p:sp>
        <p:nvSpPr>
          <p:cNvPr id="143" name="Rectangle 142"/>
          <p:cNvSpPr/>
          <p:nvPr/>
        </p:nvSpPr>
        <p:spPr>
          <a:xfrm>
            <a:off x="15457932" y="3511187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15457932" y="35111870"/>
            <a:ext cx="6076139"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5622524" y="3511187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Query-only</a:t>
            </a:r>
          </a:p>
        </p:txBody>
      </p:sp>
      <p:sp>
        <p:nvSpPr>
          <p:cNvPr id="146" name="TextBox 145"/>
          <p:cNvSpPr txBox="1"/>
          <p:nvPr/>
        </p:nvSpPr>
        <p:spPr>
          <a:xfrm>
            <a:off x="28072080" y="3511187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.541</a:t>
            </a:r>
          </a:p>
        </p:txBody>
      </p:sp>
      <p:sp>
        <p:nvSpPr>
          <p:cNvPr id="147" name="Rectangle 146"/>
          <p:cNvSpPr/>
          <p:nvPr/>
        </p:nvSpPr>
        <p:spPr>
          <a:xfrm>
            <a:off x="15457932" y="3566051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5457932" y="35660510"/>
            <a:ext cx="9948843" cy="457200"/>
          </a:xfrm>
          <a:prstGeom prst="rect">
            <a:avLst/>
          </a:prstGeom>
          <a:solidFill>
            <a:srgbClr val="6F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5622524" y="3566051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Both sides</a:t>
            </a:r>
          </a:p>
        </p:txBody>
      </p:sp>
      <p:sp>
        <p:nvSpPr>
          <p:cNvPr id="150" name="TextBox 149"/>
          <p:cNvSpPr txBox="1"/>
          <p:nvPr/>
        </p:nvSpPr>
        <p:spPr>
          <a:xfrm>
            <a:off x="28072080" y="3566051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.599</a:t>
            </a:r>
          </a:p>
        </p:txBody>
      </p:sp>
      <p:sp>
        <p:nvSpPr>
          <p:cNvPr id="151" name="Rectangle 150"/>
          <p:cNvSpPr/>
          <p:nvPr/>
        </p:nvSpPr>
        <p:spPr>
          <a:xfrm>
            <a:off x="15457932" y="36209150"/>
            <a:ext cx="12486132" cy="457200"/>
          </a:xfrm>
          <a:prstGeom prst="rect">
            <a:avLst/>
          </a:prstGeom>
          <a:solidFill>
            <a:srgbClr val="FFFFFF"/>
          </a:solidFill>
          <a:ln w="1270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15457932" y="36209150"/>
            <a:ext cx="12486132" cy="457200"/>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5622524" y="36209150"/>
            <a:ext cx="12211812" cy="457200"/>
          </a:xfrm>
          <a:prstGeom prst="rect">
            <a:avLst/>
          </a:prstGeom>
          <a:noFill/>
        </p:spPr>
        <p:txBody>
          <a:bodyPr wrap="none" anchor="ctr" lIns="0" rIns="0" tIns="0" bIns="0">
            <a:spAutoFit/>
          </a:bodyPr>
          <a:lstStyle/>
          <a:p>
            <a:pPr algn="l"/>
            <a:r>
              <a:rPr sz="2400" b="0" i="0">
                <a:solidFill>
                  <a:srgbClr val="FFFFFF"/>
                </a:solidFill>
                <a:latin typeface="Times New Roman"/>
              </a:rPr>
              <a:t>DB-only  (PMC)</a:t>
            </a:r>
          </a:p>
        </p:txBody>
      </p:sp>
      <p:sp>
        <p:nvSpPr>
          <p:cNvPr id="154" name="TextBox 153"/>
          <p:cNvSpPr txBox="1"/>
          <p:nvPr/>
        </p:nvSpPr>
        <p:spPr>
          <a:xfrm>
            <a:off x="28072080" y="36209150"/>
            <a:ext cx="1426464" cy="457200"/>
          </a:xfrm>
          <a:prstGeom prst="rect">
            <a:avLst/>
          </a:prstGeom>
          <a:noFill/>
        </p:spPr>
        <p:txBody>
          <a:bodyPr wrap="none" anchor="ctr" lIns="0" rIns="0" tIns="0" bIns="0">
            <a:spAutoFit/>
          </a:bodyPr>
          <a:lstStyle/>
          <a:p>
            <a:pPr algn="l"/>
            <a:r>
              <a:rPr sz="2400" b="1" i="0">
                <a:solidFill>
                  <a:srgbClr val="1F1F1F"/>
                </a:solidFill>
                <a:latin typeface="Times New Roman"/>
              </a:rPr>
              <a:t>.637</a:t>
            </a:r>
          </a:p>
        </p:txBody>
      </p:sp>
      <p:sp>
        <p:nvSpPr>
          <p:cNvPr id="155" name="TextBox 154"/>
          <p:cNvSpPr txBox="1"/>
          <p:nvPr/>
        </p:nvSpPr>
        <p:spPr>
          <a:xfrm>
            <a:off x="15457932" y="36812654"/>
            <a:ext cx="14040612" cy="1290624"/>
          </a:xfrm>
          <a:prstGeom prst="rect">
            <a:avLst/>
          </a:prstGeom>
          <a:noFill/>
        </p:spPr>
        <p:txBody>
          <a:bodyPr wrap="square" lIns="0" rIns="0" tIns="0" bIns="0">
            <a:spAutoFit/>
          </a:bodyPr>
          <a:lstStyle/>
          <a:p>
            <a:pPr algn="l">
              <a:lnSpc>
                <a:spcPct val="122000"/>
              </a:lnSpc>
              <a:spcAft>
                <a:spcPts val="500"/>
              </a:spcAft>
            </a:pPr>
            <a:r>
              <a:rPr sz="2200" b="0" i="0">
                <a:solidFill>
                  <a:srgbClr val="1F1F1F"/>
                </a:solidFill>
                <a:latin typeface="Times New Roman"/>
              </a:rPr>
              <a:t>Shifting both sides re-displaces the routing pivot, and random, shuffled or sign-flipped directions of the same norm all fall below Vanilla — the direction of g is what matters. </a:t>
            </a:r>
            <a:r>
              <a:rPr sz="2200" b="1" i="0">
                <a:solidFill>
                  <a:srgbClr val="8B0029"/>
                </a:solidFill>
                <a:latin typeface="Times New Roman"/>
              </a:rPr>
              <a:t>Correct the centroid where it controls both routing and code formation.</a:t>
            </a:r>
          </a:p>
        </p:txBody>
      </p:sp>
      <p:sp>
        <p:nvSpPr>
          <p:cNvPr id="156" name="Rectangle 155"/>
          <p:cNvSpPr/>
          <p:nvPr/>
        </p:nvSpPr>
        <p:spPr>
          <a:xfrm>
            <a:off x="15457932" y="38286158"/>
            <a:ext cx="14040612" cy="2313228"/>
          </a:xfrm>
          <a:prstGeom prst="rect">
            <a:avLst/>
          </a:prstGeom>
          <a:solidFill>
            <a:srgbClr val="0D4D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5695676" y="38523902"/>
            <a:ext cx="13565124" cy="1837740"/>
          </a:xfrm>
          <a:prstGeom prst="rect">
            <a:avLst/>
          </a:prstGeom>
          <a:noFill/>
        </p:spPr>
        <p:txBody>
          <a:bodyPr wrap="square" lIns="0" rIns="0" tIns="0" bIns="0">
            <a:spAutoFit/>
          </a:bodyPr>
          <a:lstStyle/>
          <a:p>
            <a:pPr algn="l">
              <a:lnSpc>
                <a:spcPct val="128000"/>
              </a:lnSpc>
              <a:spcAft>
                <a:spcPts val="400"/>
              </a:spcAft>
            </a:pPr>
            <a:r>
              <a:rPr sz="2300" b="1" i="0">
                <a:solidFill>
                  <a:srgbClr val="FFFFFF"/>
                </a:solidFill>
                <a:latin typeface="Times New Roman"/>
              </a:rPr>
              <a:t>Correct the index, not the query:  a one-time, database-side centroid correction repairs IVF routing and binary quantization together — zero query-time transform, zero extra index memory, QPS unchanged at every n</a:t>
            </a:r>
            <a:r>
              <a:rPr sz="1655" b="1" i="0" baseline="-25000">
                <a:solidFill>
                  <a:srgbClr val="FFFFFF"/>
                </a:solidFill>
                <a:latin typeface="Times New Roman"/>
              </a:rPr>
              <a:t>probe</a:t>
            </a:r>
            <a:r>
              <a:rPr sz="2300" b="1" i="0">
                <a:solidFill>
                  <a:srgbClr val="FFFFFF"/>
                </a:solidFill>
                <a:latin typeface="Times New Roman"/>
              </a:rPr>
              <a:t>.</a:t>
            </a:r>
          </a:p>
          <a:p>
            <a:pPr algn="l">
              <a:lnSpc>
                <a:spcPct val="128000"/>
              </a:lnSpc>
              <a:spcAft>
                <a:spcPts val="400"/>
              </a:spcAft>
            </a:pPr>
            <a:r>
              <a:rPr sz="2000" b="0" i="0">
                <a:solidFill>
                  <a:srgbClr val="FFFFFF"/>
                </a:solidFill>
                <a:latin typeface="Times New Roman"/>
              </a:rPr>
              <a:t>Future work: drift-adaptive α, graph-based ANN, billion-scale deployment.</a:t>
            </a:r>
          </a:p>
        </p:txBody>
      </p:sp>
      <p:sp>
        <p:nvSpPr>
          <p:cNvPr id="158" name="Rectangle 157"/>
          <p:cNvSpPr/>
          <p:nvPr/>
        </p:nvSpPr>
        <p:spPr>
          <a:xfrm>
            <a:off x="0" y="40928545"/>
            <a:ext cx="30275784" cy="1874519"/>
          </a:xfrm>
          <a:prstGeom prst="rect">
            <a:avLst/>
          </a:prstGeom>
          <a:solidFill>
            <a:srgbClr val="F6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0" y="40928545"/>
            <a:ext cx="30275784" cy="38100"/>
          </a:xfrm>
          <a:prstGeom prst="rect">
            <a:avLst/>
          </a:prstGeom>
          <a:solidFill>
            <a:srgbClr val="8B0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0" name="Picture 159" descr="asset_cikm.png"/>
          <p:cNvPicPr>
            <a:picLocks noChangeAspect="1"/>
          </p:cNvPicPr>
          <p:nvPr/>
        </p:nvPicPr>
        <p:blipFill>
          <a:blip r:embed="rId8"/>
          <a:stretch>
            <a:fillRect/>
          </a:stretch>
        </p:blipFill>
        <p:spPr>
          <a:xfrm>
            <a:off x="777240" y="41257729"/>
            <a:ext cx="1539792" cy="1188720"/>
          </a:xfrm>
          <a:prstGeom prst="rect">
            <a:avLst/>
          </a:prstGeom>
        </p:spPr>
      </p:pic>
      <p:sp>
        <p:nvSpPr>
          <p:cNvPr id="161" name="TextBox 160"/>
          <p:cNvSpPr txBox="1"/>
          <p:nvPr/>
        </p:nvSpPr>
        <p:spPr>
          <a:xfrm>
            <a:off x="2911392" y="41385745"/>
            <a:ext cx="26587152" cy="415848"/>
          </a:xfrm>
          <a:prstGeom prst="rect">
            <a:avLst/>
          </a:prstGeom>
          <a:noFill/>
        </p:spPr>
        <p:txBody>
          <a:bodyPr wrap="square" lIns="0" rIns="0" tIns="0" bIns="0">
            <a:spAutoFit/>
          </a:bodyPr>
          <a:lstStyle/>
          <a:p>
            <a:pPr algn="l">
              <a:lnSpc>
                <a:spcPct val="122000"/>
              </a:lnSpc>
              <a:spcAft>
                <a:spcPts val="200"/>
              </a:spcAft>
            </a:pPr>
            <a:r>
              <a:rPr sz="2100" b="1" i="0">
                <a:solidFill>
                  <a:srgbClr val="1F1F1F"/>
                </a:solidFill>
                <a:latin typeface="Times New Roman"/>
              </a:rPr>
              <a:t>The 35th ACM International Conference on Information and Knowledge Management  ·  November 07–11, 2026  ·  Rome, Italy</a:t>
            </a:r>
          </a:p>
        </p:txBody>
      </p:sp>
      <p:sp>
        <p:nvSpPr>
          <p:cNvPr id="162" name="TextBox 161"/>
          <p:cNvSpPr txBox="1"/>
          <p:nvPr/>
        </p:nvSpPr>
        <p:spPr>
          <a:xfrm>
            <a:off x="2911392" y="41801593"/>
            <a:ext cx="26587152" cy="334670"/>
          </a:xfrm>
          <a:prstGeom prst="rect">
            <a:avLst/>
          </a:prstGeom>
          <a:noFill/>
        </p:spPr>
        <p:txBody>
          <a:bodyPr wrap="square" lIns="0" rIns="0" tIns="0" bIns="0">
            <a:spAutoFit/>
          </a:bodyPr>
          <a:lstStyle/>
          <a:p>
            <a:pPr algn="l">
              <a:lnSpc>
                <a:spcPct val="122000"/>
              </a:lnSpc>
              <a:spcAft>
                <a:spcPts val="0"/>
              </a:spcAft>
            </a:pPr>
            <a:r>
              <a:rPr sz="1800" b="0" i="0">
                <a:solidFill>
                  <a:srgbClr val="6F6F6F"/>
                </a:solidFill>
                <a:latin typeface="Times New Roman"/>
              </a:rPr>
              <a:t>DOI 10.1145/3799682.3840007   ·   CC-BY 4.0   ·   Supported by the National Research Foundation of Korea (MSIT), No. 00359638   ·   Code and reproduction package: github.com/sehoon787/PMC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