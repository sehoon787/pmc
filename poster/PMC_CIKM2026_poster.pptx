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5784" cy="4280306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5784" cy="42803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sset_ie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52236" y="914400"/>
            <a:ext cx="2963428" cy="1188720"/>
          </a:xfrm>
          <a:prstGeom prst="rect">
            <a:avLst/>
          </a:prstGeom>
        </p:spPr>
      </p:pic>
      <p:pic>
        <p:nvPicPr>
          <p:cNvPr id="4" name="Picture 3" descr="asset_k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40561" y="914400"/>
            <a:ext cx="3808755" cy="1188720"/>
          </a:xfrm>
          <a:prstGeom prst="rect">
            <a:avLst/>
          </a:prstGeom>
        </p:spPr>
      </p:pic>
      <p:pic>
        <p:nvPicPr>
          <p:cNvPr id="5" name="Picture 4" descr="asset_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12544" y="2514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372064" y="4709160"/>
            <a:ext cx="5943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6F6F6F"/>
                </a:solidFill>
                <a:latin typeface="Times New Roman"/>
              </a:rPr>
              <a:t>Paper + code:  github.com/sehoon787/PMC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914400"/>
            <a:ext cx="19577304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200" b="1" i="0">
                <a:solidFill>
                  <a:srgbClr val="8B0029"/>
                </a:solidFill>
                <a:latin typeface="Times New Roman"/>
              </a:rPr>
              <a:t>PMC: Build-Time Per-Modality Centroid Correction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200" b="1" i="0">
                <a:solidFill>
                  <a:srgbClr val="8B0029"/>
                </a:solidFill>
                <a:latin typeface="Times New Roman"/>
              </a:rPr>
              <a:t>for Cross-Modal Binary-Quantized Retrieval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611880"/>
            <a:ext cx="195773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0" i="0">
                <a:solidFill>
                  <a:srgbClr val="1F1F1F"/>
                </a:solidFill>
                <a:latin typeface="Times New Roman"/>
              </a:rPr>
              <a:t>Se Hoon Kim,   Jun Hyung Lee,   Soonyoung Jung*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370832"/>
            <a:ext cx="195773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Department of Computer Science and Engineering, Korea University   ·   Intelligence Engineering Lab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5349240"/>
            <a:ext cx="28355544" cy="381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23983" y="5897880"/>
            <a:ext cx="12700" cy="206654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337490" y="5897880"/>
            <a:ext cx="12700" cy="206654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897880"/>
            <a:ext cx="85066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1.  The problem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120" y="6949440"/>
            <a:ext cx="8506663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7498080"/>
            <a:ext cx="8506663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 i="0">
                <a:solidFill>
                  <a:srgbClr val="1F1F1F"/>
                </a:solidFill>
                <a:latin typeface="Times New Roman"/>
              </a:rPr>
              <a:t>Cross-modal queries and database vectors do not share a centroid.</a:t>
            </a:r>
          </a:p>
        </p:txBody>
      </p:sp>
      <p:pic>
        <p:nvPicPr>
          <p:cNvPr id="16" name="Picture 15" descr="asset_fig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9555480"/>
            <a:ext cx="8506663" cy="4228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60120" y="14104040"/>
            <a:ext cx="85066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 i="1">
                <a:solidFill>
                  <a:srgbClr val="6F6F6F"/>
                </a:solidFill>
                <a:latin typeface="Times New Roman"/>
              </a:rPr>
              <a:t>t-SNE (ImageBind): modality clusters separate in (a); after PMC they overlap in (b).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5338480"/>
            <a:ext cx="850666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600" b="1" i="0">
                <a:solidFill>
                  <a:srgbClr val="8B0029"/>
                </a:solidFill>
                <a:latin typeface="Times New Roman"/>
              </a:rPr>
              <a:t>One gap, two failures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" y="16536344"/>
            <a:ext cx="237744" cy="237744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16390040"/>
            <a:ext cx="80494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IVF routing  —  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queries are steered into the wrong inverted lists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0120" y="17679344"/>
            <a:ext cx="237744" cy="237744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17320" y="17533040"/>
            <a:ext cx="8049463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Binary codes  —  </a:t>
            </a:r>
            <a:r>
              <a:rPr sz="2600" b="0" i="0">
                <a:solidFill>
                  <a:srgbClr val="1F1F1F"/>
                </a:solidFill>
                <a:latin typeface="Times New Roman"/>
              </a:rPr>
              <a:t>sign(x − c) has zero error margin — the boundary passes exactly through the centroid, so the offset flips bits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" y="19864760"/>
            <a:ext cx="8506663" cy="2468880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20184800"/>
            <a:ext cx="7683703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300" b="1" i="0">
                <a:solidFill>
                  <a:srgbClr val="1F1F1F"/>
                </a:solidFill>
                <a:latin typeface="Times New Roman"/>
              </a:rPr>
              <a:t>Oracle test — MSCOCO, CLIP-L, RaBitQ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same-modality  (‖g‖ = 0)       R@100 = 0.71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500" b="1" i="0">
                <a:solidFill>
                  <a:srgbClr val="8B0029"/>
                </a:solidFill>
                <a:latin typeface="Times New Roman"/>
              </a:rPr>
              <a:t>cross-modal  (‖g‖ = .82)       R@100 = 0.54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22607960"/>
            <a:ext cx="850666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2400" b="1" i="0">
                <a:solidFill>
                  <a:srgbClr val="1F1F1F"/>
                </a:solidFill>
                <a:latin typeface="Times New Roman"/>
              </a:rPr>
              <a:t>The damage is structured. </a:t>
            </a:r>
            <a:r>
              <a:rPr sz="2400" b="0" i="0">
                <a:solidFill>
                  <a:srgbClr val="1F1F1F"/>
                </a:solidFill>
                <a:latin typeface="Times New Roman"/>
              </a:rPr>
              <a:t>The top 10% of dimensions carry ≈90% of ‖g‖² on CLIP-L, and flip risk grows with |gᵢ|:   E[F] ≈ α Σᵢ pᵢ(0)·|gᵢ|.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81183" y="5897880"/>
            <a:ext cx="94991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2.  PMC — correct at the source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381183" y="6949440"/>
            <a:ext cx="9499107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381183" y="7498080"/>
            <a:ext cx="63500" cy="283464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8383" y="744321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1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Calibrate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38383" y="836676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estimate the gap from a small paired 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38383" y="9281160"/>
            <a:ext cx="89961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1F1F"/>
                </a:solidFill>
                <a:latin typeface="Times New Roman"/>
              </a:rPr>
              <a:t>g  =  μq − μx        (25 samples suffice)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99471" y="10222992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C8C8C8"/>
                </a:solidFill>
                <a:latin typeface="Times New Roman"/>
              </a:rPr>
              <a:t>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81183" y="11064240"/>
            <a:ext cx="63500" cy="283464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38383" y="1100937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2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Build  (offline)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38383" y="1193292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shift every database vector, then build the index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38383" y="12847320"/>
            <a:ext cx="89961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1F1F"/>
                </a:solidFill>
                <a:latin typeface="Times New Roman"/>
              </a:rPr>
              <a:t>x′  =  (x + g) ⁄ ‖x + g‖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99471" y="13789152"/>
            <a:ext cx="914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400" b="1" i="0">
                <a:solidFill>
                  <a:srgbClr val="C8C8C8"/>
                </a:solidFill>
                <a:latin typeface="Times New Roman"/>
              </a:rPr>
              <a:t>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81183" y="14630400"/>
            <a:ext cx="63500" cy="283464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38383" y="14575536"/>
            <a:ext cx="899618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0D4DA3"/>
                </a:solidFill>
                <a:latin typeface="Times New Roman"/>
              </a:rPr>
              <a:t>3    </a:t>
            </a:r>
            <a:r>
              <a:rPr sz="3800" b="1" i="0">
                <a:solidFill>
                  <a:srgbClr val="1F1F1F"/>
                </a:solidFill>
                <a:latin typeface="Times New Roman"/>
              </a:rPr>
              <a:t>Serve  (online)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38383" y="15499080"/>
            <a:ext cx="899618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500" b="0" i="0">
                <a:solidFill>
                  <a:srgbClr val="6F6F6F"/>
                </a:solidFill>
                <a:latin typeface="Times New Roman"/>
              </a:rPr>
              <a:t>search the corrected index — the query is untouched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38383" y="16413480"/>
            <a:ext cx="89961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F1F1F"/>
                </a:solidFill>
                <a:latin typeface="Times New Roman"/>
              </a:rPr>
              <a:t>q′  =  q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81183" y="17922240"/>
            <a:ext cx="9499107" cy="1874519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38383" y="18214848"/>
            <a:ext cx="858470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Times New Roman"/>
              </a:rPr>
              <a:t>At α = 1 the correction is absorbed into the index: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Times New Roman"/>
              </a:rPr>
              <a:t>zero query-time transform, zero extra memory.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81183" y="20253960"/>
            <a:ext cx="9499107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General form   x′ = (x + αg) ⁄ ‖x + αg‖,   α ∈ [0, 1].</a:t>
            </a:r>
          </a:p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α = 0 is query-only mean shift: it leaves IVF centroids and quantized codes misaligned, and can lower recall.</a:t>
            </a:r>
          </a:p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1" i="0">
                <a:solidFill>
                  <a:srgbClr val="1F1F1F"/>
                </a:solidFill>
                <a:latin typeface="Times New Roman"/>
              </a:rPr>
              <a:t>α = 1 rewrites the centroid where it plays both of its roles — routing pivot and code boundary.</a:t>
            </a:r>
          </a:p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500" b="0" i="0">
                <a:solidFill>
                  <a:srgbClr val="0D4DA3"/>
                </a:solidFill>
                <a:latin typeface="Times New Roman"/>
              </a:rPr>
              <a:t>The α-sweep confirms α = 1 best or near-best in every setting.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794690" y="5897880"/>
            <a:ext cx="852097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3.  Results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0794690" y="6949440"/>
            <a:ext cx="8520974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794690" y="7360920"/>
            <a:ext cx="852097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9200" b="1" i="0">
                <a:solidFill>
                  <a:srgbClr val="8B0029"/>
                </a:solidFill>
                <a:latin typeface="Times New Roman"/>
              </a:rPr>
              <a:t>407 M</a:t>
            </a:r>
            <a:r>
              <a:rPr sz="3200" b="0" i="0">
                <a:solidFill>
                  <a:srgbClr val="6F6F6F"/>
                </a:solidFill>
                <a:latin typeface="Times New Roman"/>
              </a:rPr>
              <a:t>   vectors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794690" y="9189720"/>
            <a:ext cx="85209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00" b="1" i="0">
                <a:solidFill>
                  <a:srgbClr val="1F1F1F"/>
                </a:solidFill>
                <a:latin typeface="Times New Roman"/>
              </a:rPr>
              <a:t>LAION-400M · CLIP · R@100, no reranking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0794690" y="9875520"/>
            <a:ext cx="669217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0794690" y="9875520"/>
            <a:ext cx="5054229" cy="73152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977570" y="9875520"/>
            <a:ext cx="637213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Vanilla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651456" y="9875520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.108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0794690" y="10771632"/>
            <a:ext cx="6692174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0794690" y="10771632"/>
            <a:ext cx="6692174" cy="73152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0977570" y="10771632"/>
            <a:ext cx="637213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PMC   (+32%)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651456" y="10771632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.143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794690" y="11795760"/>
            <a:ext cx="852097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0" i="0">
                <a:solidFill>
                  <a:srgbClr val="1F1F1F"/>
                </a:solidFill>
                <a:latin typeface="Times New Roman"/>
              </a:rPr>
              <a:t>with exact reranking K′ = 400:   .198 → </a:t>
            </a:r>
            <a:r>
              <a:rPr sz="2500" b="1" i="0">
                <a:solidFill>
                  <a:srgbClr val="0D4DA3"/>
                </a:solidFill>
                <a:latin typeface="Times New Roman"/>
              </a:rPr>
              <a:t>.277   (+40%)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794690" y="12801600"/>
            <a:ext cx="8520974" cy="1270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794690" y="13002768"/>
            <a:ext cx="394897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1F1F1F"/>
                </a:solidFill>
                <a:latin typeface="Times New Roman"/>
              </a:rPr>
              <a:t>MSCOCO · CLIP-L · i→t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743664" y="12911328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6F6F6F"/>
                </a:solidFill>
                <a:latin typeface="Times New Roman"/>
              </a:rPr>
              <a:t>.47 → </a:t>
            </a:r>
            <a:r>
              <a:rPr sz="3300" b="1" i="0">
                <a:solidFill>
                  <a:srgbClr val="0D4DA3"/>
                </a:solidFill>
                <a:latin typeface="Times New Roman"/>
              </a:rPr>
              <a:t>.63</a:t>
            </a:r>
            <a:r>
              <a:rPr sz="2700" b="1" i="0">
                <a:solidFill>
                  <a:srgbClr val="0D4DA3"/>
                </a:solidFill>
                <a:latin typeface="Times New Roman"/>
              </a:rPr>
              <a:t>    +34%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0794690" y="13825728"/>
            <a:ext cx="8520974" cy="1270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794690" y="14026896"/>
            <a:ext cx="394897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1F1F1F"/>
                </a:solidFill>
                <a:latin typeface="Times New Roman"/>
              </a:rPr>
              <a:t>Flickr30K · CLIP-L · i→t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743664" y="13935456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6F6F6F"/>
                </a:solidFill>
                <a:latin typeface="Times New Roman"/>
              </a:rPr>
              <a:t>.33 → </a:t>
            </a:r>
            <a:r>
              <a:rPr sz="3300" b="1" i="0">
                <a:solidFill>
                  <a:srgbClr val="0D4DA3"/>
                </a:solidFill>
                <a:latin typeface="Times New Roman"/>
              </a:rPr>
              <a:t>.48</a:t>
            </a:r>
            <a:r>
              <a:rPr sz="2700" b="1" i="0">
                <a:solidFill>
                  <a:srgbClr val="0D4DA3"/>
                </a:solidFill>
                <a:latin typeface="Times New Roman"/>
              </a:rPr>
              <a:t>    +45%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0794690" y="14849856"/>
            <a:ext cx="8520974" cy="1270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0794690" y="15051024"/>
            <a:ext cx="394897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1F1F1F"/>
                </a:solidFill>
                <a:latin typeface="Times New Roman"/>
              </a:rPr>
              <a:t>MSCOCO · ImageBind · t→i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743664" y="14959584"/>
            <a:ext cx="4572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6F6F6F"/>
                </a:solidFill>
                <a:latin typeface="Times New Roman"/>
              </a:rPr>
              <a:t>.67 → </a:t>
            </a:r>
            <a:r>
              <a:rPr sz="3300" b="1" i="0">
                <a:solidFill>
                  <a:srgbClr val="0D4DA3"/>
                </a:solidFill>
                <a:latin typeface="Times New Roman"/>
              </a:rPr>
              <a:t>.75</a:t>
            </a:r>
            <a:r>
              <a:rPr sz="2700" b="1" i="0">
                <a:solidFill>
                  <a:srgbClr val="0D4DA3"/>
                </a:solidFill>
                <a:latin typeface="Times New Roman"/>
              </a:rPr>
              <a:t>    +12%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0794690" y="15873984"/>
            <a:ext cx="8520974" cy="1270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0794690" y="16239744"/>
            <a:ext cx="852097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400" b="1" i="0">
                <a:solidFill>
                  <a:srgbClr val="1F1F1F"/>
                </a:solidFill>
                <a:latin typeface="Times New Roman"/>
              </a:rPr>
              <a:t>5 benchmarks · 3 encoders · 4 BQ index types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400" b="0" i="0">
                <a:solidFill>
                  <a:srgbClr val="1F1F1F"/>
                </a:solidFill>
                <a:latin typeface="Times New Roman"/>
              </a:rPr>
              <a:t>R@100 improved or matched in all 16 BQ configurations;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400" b="1" i="0">
                <a:solidFill>
                  <a:srgbClr val="0D4DA3"/>
                </a:solidFill>
                <a:latin typeface="Times New Roman"/>
              </a:rPr>
              <a:t>best in all 14 configurations at R@10.</a:t>
            </a:r>
          </a:p>
        </p:txBody>
      </p:sp>
      <p:pic>
        <p:nvPicPr>
          <p:cNvPr id="69" name="Picture 68" descr="asset_fig3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794690" y="18388584"/>
            <a:ext cx="8520974" cy="656383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20794690" y="25135298"/>
            <a:ext cx="852097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0" i="1">
                <a:solidFill>
                  <a:srgbClr val="6F6F6F"/>
                </a:solidFill>
                <a:latin typeface="Times New Roman"/>
              </a:rPr>
              <a:t>QPS tracks Vanilla at every n_probe — PMC adds no per-query work.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60120" y="26883360"/>
            <a:ext cx="28355544" cy="15240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1767093" y="27340560"/>
            <a:ext cx="12700" cy="13862304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0762823" y="27340560"/>
            <a:ext cx="12700" cy="13862304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60120" y="27340560"/>
            <a:ext cx="1034977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4.  Why it works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0120" y="28392120"/>
            <a:ext cx="10349773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asset_fig3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" y="28940760"/>
            <a:ext cx="10349773" cy="8093383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960120" y="37537063"/>
            <a:ext cx="1034977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 i="0">
                <a:solidFill>
                  <a:srgbClr val="0D4DA3"/>
                </a:solidFill>
                <a:latin typeface="Times New Roman"/>
              </a:rPr>
              <a:t>Correcting 5% of dimensions can already be enough.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0120" y="38862943"/>
            <a:ext cx="10349773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CLIP’s gap energy is concentrated (top 10% ≈ 86–92%), so selective PMC on the highest-|gᵢ| dimensions recovers peak recall. ImageBind’s diffuse gap (≈72%) needs the full vector — exactly what the flip-risk analysis predicts.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224293" y="27340560"/>
            <a:ext cx="808133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 i="0">
                <a:solidFill>
                  <a:srgbClr val="8B0029"/>
                </a:solidFill>
                <a:latin typeface="Times New Roman"/>
              </a:rPr>
              <a:t>5.  Where to correct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2224293" y="28392120"/>
            <a:ext cx="8081330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2224293" y="28757880"/>
            <a:ext cx="808133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0" i="0">
                <a:solidFill>
                  <a:srgbClr val="6F6F6F"/>
                </a:solidFill>
                <a:latin typeface="Times New Roman"/>
              </a:rPr>
              <a:t>MSCOCO · CLIP-B/32 · IVF-RaBitQ · R@100 (t→i)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2224293" y="29489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224293" y="29489400"/>
            <a:ext cx="4279806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2407173" y="29489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Vanilla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8641415" y="29489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.578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2224293" y="30632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2224293" y="30632400"/>
            <a:ext cx="3042675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2407173" y="30632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Query-only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8641415" y="30632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.541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2224293" y="31775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2224293" y="31775400"/>
            <a:ext cx="4981962" cy="868680"/>
          </a:xfrm>
          <a:prstGeom prst="rect">
            <a:avLst/>
          </a:prstGeom>
          <a:solidFill>
            <a:srgbClr val="6F6F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2407173" y="31775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Both sides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8641415" y="31775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.599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2224293" y="32918400"/>
            <a:ext cx="625253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2224293" y="32918400"/>
            <a:ext cx="6252530" cy="868680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2407173" y="32918400"/>
            <a:ext cx="593249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00" b="0" i="0">
                <a:solidFill>
                  <a:srgbClr val="FFFFFF"/>
                </a:solidFill>
                <a:latin typeface="Times New Roman"/>
              </a:rPr>
              <a:t>DB-only  (PMC)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8641415" y="32918400"/>
            <a:ext cx="1645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 i="0">
                <a:solidFill>
                  <a:srgbClr val="1F1F1F"/>
                </a:solidFill>
                <a:latin typeface="Times New Roman"/>
              </a:rPr>
              <a:t>.637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2224293" y="34655760"/>
            <a:ext cx="808133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600" b="0" i="0">
                <a:solidFill>
                  <a:srgbClr val="1F1F1F"/>
                </a:solidFill>
                <a:latin typeface="Times New Roman"/>
              </a:rPr>
              <a:t>Shifting both sides re-displaces the routing pivot.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900" b="1" i="0">
                <a:solidFill>
                  <a:srgbClr val="8B0029"/>
                </a:solidFill>
                <a:latin typeface="Times New Roman"/>
              </a:rPr>
              <a:t>Correct the centroid where it controls both routing and code formation.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2400" b="0" i="0">
                <a:solidFill>
                  <a:srgbClr val="6F6F6F"/>
                </a:solidFill>
                <a:latin typeface="Times New Roman"/>
              </a:rPr>
              <a:t>Random, shuffled, sign-flipped and un-normalized controls all trail DB-PMC.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1220023" y="27340560"/>
            <a:ext cx="8095641" cy="13862304"/>
          </a:xfrm>
          <a:prstGeom prst="rect">
            <a:avLst/>
          </a:prstGeom>
          <a:solidFill>
            <a:srgbClr val="F6F5F3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21220023" y="27340560"/>
            <a:ext cx="8095641" cy="508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1768663" y="27889200"/>
            <a:ext cx="699836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00" b="1" i="0">
                <a:solidFill>
                  <a:srgbClr val="8B0029"/>
                </a:solidFill>
                <a:latin typeface="Times New Roman"/>
              </a:rPr>
              <a:t>Takeaway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768663" y="29077920"/>
            <a:ext cx="6998361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3300" b="1" i="0">
                <a:solidFill>
                  <a:srgbClr val="1F1F1F"/>
                </a:solidFill>
                <a:latin typeface="Times New Roman"/>
              </a:rPr>
              <a:t>A one-time, database-side centroid correction repairs IVF routing and binary quantization together — without changing the serving path.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768663" y="33421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2299015" y="33284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Recall gains scale with the gap ‖g‖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1768663" y="34564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2299015" y="34427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Zero query-time transform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21768663" y="35707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22299015" y="35570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Zero additional index memory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1768663" y="36850320"/>
            <a:ext cx="256032" cy="256032"/>
          </a:xfrm>
          <a:prstGeom prst="rect">
            <a:avLst/>
          </a:prstGeom>
          <a:solidFill>
            <a:srgbClr val="0D4D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2299015" y="36713160"/>
            <a:ext cx="6449721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00" b="0" i="0">
                <a:solidFill>
                  <a:srgbClr val="1F1F1F"/>
                </a:solidFill>
                <a:latin typeface="Times New Roman"/>
              </a:rPr>
              <a:t>Validated at 407M-vector scale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0120" y="41522904"/>
            <a:ext cx="28355544" cy="25400"/>
          </a:xfrm>
          <a:prstGeom prst="rect">
            <a:avLst/>
          </a:prstGeom>
          <a:solidFill>
            <a:srgbClr val="8B00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60120" y="41815512"/>
            <a:ext cx="283555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900" b="0" i="0">
                <a:solidFill>
                  <a:srgbClr val="6F6F6F"/>
                </a:solidFill>
                <a:latin typeface="Times New Roman"/>
              </a:rPr>
              <a:t>CIKM ’26 · November 07–11, 2026 · Rome, Italy          DOI 10.1145/3799682.3840007          CC-BY 4.0          Supported by the NRF of Korea (MSIT), No. 00359638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