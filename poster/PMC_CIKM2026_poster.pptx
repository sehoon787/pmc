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980" b="0" i="0" baseline="-25000">
                <a:solidFill>
                  <a:srgbClr val="1F1F1F"/>
                </a:solidFill>
                <a:latin typeface="Times New Roman"/>
              </a:rPr>
              <a:t>i</a:t>
            </a:r>
            <a:r>
              <a:rPr sz="2200" b="0" i="0">
                <a:solidFill>
                  <a:srgbClr val="1F1F1F"/>
                </a:solidFill>
                <a:latin typeface="Times New Roman"/>
              </a:rPr>
              <a:t> = 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δ</a:t>
            </a:r>
            <a:r>
              <a:rPr sz="2700" b="1" i="0" baseline="-25000">
                <a:solidFill>
                  <a:srgbClr val="1F1F1F"/>
                </a:solidFill>
                <a:latin typeface="Times New Roman"/>
              </a:rPr>
              <a:t>i</a:t>
            </a:r>
            <a:r>
              <a:rPr sz="3000" b="1" i="0">
                <a:solidFill>
                  <a:srgbClr val="1F1F1F"/>
                </a:solidFill>
                <a:latin typeface="Times New Roman"/>
              </a:rPr>
              <a: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0 ,      i.e.,      0  &lt;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1</a:t>
            </a:r>
          </a:p>
        </p:txBody>
      </p:sp>
      <p:sp>
        <p:nvSpPr>
          <p:cNvPr id="22" name="TextBox 21"/>
          <p:cNvSpPr txBox="1"/>
          <p:nvPr/>
        </p:nvSpPr>
        <p:spPr>
          <a:xfrm>
            <a:off x="777240" y="2197311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δ</a:t>
            </a:r>
            <a:r>
              <a:rPr sz="1800" b="0" i="1" baseline="-25000">
                <a:solidFill>
                  <a:srgbClr val="6F6F6F"/>
                </a:solidFill>
                <a:latin typeface="Times New Roman"/>
              </a:rPr>
              <a:t>i</a:t>
            </a:r>
            <a:r>
              <a:rPr sz="2000" b="0" i="1">
                <a:solidFill>
                  <a:srgbClr val="6F6F6F"/>
                </a:solidFill>
                <a:latin typeface="Times New Roman"/>
              </a:rPr>
              <a:t>: residual x</a:t>
            </a:r>
            <a:r>
              <a:rPr sz="1800" b="0" i="1" baseline="-25000">
                <a:solidFill>
                  <a:srgbClr val="6F6F6F"/>
                </a:solidFill>
                <a:latin typeface="Times New Roman"/>
              </a:rPr>
              <a:t>i</a:t>
            </a:r>
            <a:r>
              <a:rPr sz="2000" b="0" i="1">
                <a:solidFill>
                  <a:srgbClr val="6F6F6F"/>
                </a:solidFill>
                <a:latin typeface="Times New Roman"/>
              </a:rPr>
              <a:t> − c</a:t>
            </a:r>
            <a:r>
              <a:rPr sz="1800" b="0" i="1" baseline="-25000">
                <a:solidFill>
                  <a:srgbClr val="6F6F6F"/>
                </a:solidFill>
                <a:latin typeface="Times New Roman"/>
              </a:rPr>
              <a:t>i</a:t>
            </a:r>
            <a:r>
              <a:rPr sz="2000" b="0" i="1">
                <a:solidFill>
                  <a:srgbClr val="6F6F6F"/>
                </a:solidFill>
                <a:latin typeface="Times New Roman"/>
              </a:rPr>
              <a:t>   ·   g</a:t>
            </a:r>
            <a:r>
              <a:rPr sz="1800" b="0" i="1" baseline="-25000">
                <a:solidFill>
                  <a:srgbClr val="6F6F6F"/>
                </a:solidFill>
                <a:latin typeface="Times New Roman"/>
              </a:rPr>
              <a:t>i</a:t>
            </a:r>
            <a:r>
              <a:rPr sz="2000" b="0" i="1">
                <a:solidFill>
                  <a:srgbClr val="6F6F6F"/>
                </a:solidFill>
                <a:latin typeface="Times New Roman"/>
              </a:rPr>
              <a:t>: gap component   ·   α: shift strength</a:t>
            </a:r>
          </a:p>
        </p:txBody>
      </p:sp>
      <p:sp>
        <p:nvSpPr>
          <p:cNvPr id="23" name="TextBox 22"/>
          <p:cNvSpPr txBox="1"/>
          <p:nvPr/>
        </p:nvSpPr>
        <p:spPr>
          <a:xfrm>
            <a:off x="777240" y="22509560"/>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4" name="TextBox 23"/>
          <p:cNvSpPr txBox="1"/>
          <p:nvPr/>
        </p:nvSpPr>
        <p:spPr>
          <a:xfrm>
            <a:off x="777240" y="23128405"/>
            <a:ext cx="14040612" cy="632155"/>
          </a:xfrm>
          <a:prstGeom prst="rect">
            <a:avLst/>
          </a:prstGeom>
          <a:noFill/>
        </p:spPr>
        <p:txBody>
          <a:bodyPr wrap="square" lIns="0" rIns="0" tIns="0" bIns="0">
            <a:spAutoFit/>
          </a:bodyPr>
          <a:lstStyle/>
          <a:p>
            <a:pPr algn="ctr">
              <a:lnSpc>
                <a:spcPct val="122000"/>
              </a:lnSpc>
              <a:spcAft>
                <a:spcPts val="0"/>
              </a:spcAft>
            </a:pPr>
            <a:r>
              <a:rPr sz="3400" b="1" i="0">
                <a:solidFill>
                  <a:srgbClr val="1F1F1F"/>
                </a:solidFill>
                <a:latin typeface="Times New Roman"/>
              </a:rPr>
              <a:t>E[F]  ≈  α Σ</a:t>
            </a:r>
            <a:r>
              <a:rPr sz="3060" b="1" i="0" baseline="-25000">
                <a:solidFill>
                  <a:srgbClr val="1F1F1F"/>
                </a:solidFill>
                <a:latin typeface="Times New Roman"/>
              </a:rPr>
              <a:t>i</a:t>
            </a:r>
            <a:r>
              <a:rPr sz="3400" b="1" i="0">
                <a:solidFill>
                  <a:srgbClr val="1F1F1F"/>
                </a:solidFill>
                <a:latin typeface="Times New Roman"/>
              </a:rPr>
              <a:t> p</a:t>
            </a:r>
            <a:r>
              <a:rPr sz="3060" b="1" i="0" baseline="-25000">
                <a:solidFill>
                  <a:srgbClr val="1F1F1F"/>
                </a:solidFill>
                <a:latin typeface="Times New Roman"/>
              </a:rPr>
              <a:t>i</a:t>
            </a:r>
            <a:r>
              <a:rPr sz="3400" b="1" i="0">
                <a:solidFill>
                  <a:srgbClr val="1F1F1F"/>
                </a:solidFill>
                <a:latin typeface="Times New Roman"/>
              </a:rPr>
              <a:t>(0) |g</a:t>
            </a:r>
            <a:r>
              <a:rPr sz="3060" b="1" i="0" baseline="-25000">
                <a:solidFill>
                  <a:srgbClr val="1F1F1F"/>
                </a:solidFill>
                <a:latin typeface="Times New Roman"/>
              </a:rPr>
              <a:t>i</a:t>
            </a:r>
            <a:r>
              <a:rPr sz="3400" b="1" i="0">
                <a:solidFill>
                  <a:srgbClr val="1F1F1F"/>
                </a:solidFill>
                <a:latin typeface="Times New Roman"/>
              </a:rPr>
              <a:t>|</a:t>
            </a:r>
          </a:p>
        </p:txBody>
      </p:sp>
      <p:sp>
        <p:nvSpPr>
          <p:cNvPr id="25" name="TextBox 24"/>
          <p:cNvSpPr txBox="1"/>
          <p:nvPr/>
        </p:nvSpPr>
        <p:spPr>
          <a:xfrm>
            <a:off x="777240" y="23760560"/>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E[F]: expected bit flips   ·   p</a:t>
            </a:r>
            <a:r>
              <a:rPr sz="1800" b="0" i="1" baseline="-25000">
                <a:solidFill>
                  <a:srgbClr val="6F6F6F"/>
                </a:solidFill>
                <a:latin typeface="Times New Roman"/>
              </a:rPr>
              <a:t>i</a:t>
            </a:r>
            <a:r>
              <a:rPr sz="2000" b="0" i="1">
                <a:solidFill>
                  <a:srgbClr val="6F6F6F"/>
                </a:solidFill>
                <a:latin typeface="Times New Roman"/>
              </a:rPr>
              <a:t>(0): residual density at the code boundary</a:t>
            </a:r>
          </a:p>
        </p:txBody>
      </p:sp>
      <p:sp>
        <p:nvSpPr>
          <p:cNvPr id="26" name="TextBox 25"/>
          <p:cNvSpPr txBox="1"/>
          <p:nvPr/>
        </p:nvSpPr>
        <p:spPr>
          <a:xfrm>
            <a:off x="777240" y="2429700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980"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7" name="Rectangle 26"/>
          <p:cNvSpPr/>
          <p:nvPr/>
        </p:nvSpPr>
        <p:spPr>
          <a:xfrm>
            <a:off x="777240" y="2530660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2554435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9" name="TextBox 28"/>
          <p:cNvSpPr txBox="1"/>
          <p:nvPr/>
        </p:nvSpPr>
        <p:spPr>
          <a:xfrm>
            <a:off x="777240" y="2676436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30" name="Rectangle 29"/>
          <p:cNvSpPr/>
          <p:nvPr/>
        </p:nvSpPr>
        <p:spPr>
          <a:xfrm>
            <a:off x="777240" y="2737015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2744762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2" name="TextBox 31"/>
          <p:cNvSpPr txBox="1"/>
          <p:nvPr/>
        </p:nvSpPr>
        <p:spPr>
          <a:xfrm>
            <a:off x="777240" y="2847550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x′ = (x + α g) / ‖x + α g‖ ,      q′ = (q − (1−α) g) / ‖q − (1−α) g‖</a:t>
            </a:r>
          </a:p>
        </p:txBody>
      </p:sp>
      <p:sp>
        <p:nvSpPr>
          <p:cNvPr id="33" name="TextBox 32"/>
          <p:cNvSpPr txBox="1"/>
          <p:nvPr/>
        </p:nvSpPr>
        <p:spPr>
          <a:xfrm>
            <a:off x="777240" y="2903329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x: database vector   ·   q: query   ·   g: modality gap   ·   α ∈ [0,1]: shift strength  (α = 1  →  q′ = q)</a:t>
            </a:r>
          </a:p>
        </p:txBody>
      </p:sp>
      <p:sp>
        <p:nvSpPr>
          <p:cNvPr id="34" name="TextBox 33"/>
          <p:cNvSpPr txBox="1"/>
          <p:nvPr/>
        </p:nvSpPr>
        <p:spPr>
          <a:xfrm>
            <a:off x="777240" y="2956974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5" name="Rectangle 34"/>
          <p:cNvSpPr/>
          <p:nvPr/>
        </p:nvSpPr>
        <p:spPr>
          <a:xfrm>
            <a:off x="777240" y="31006668"/>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1098108"/>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7" name="Rectangle 36"/>
          <p:cNvSpPr/>
          <p:nvPr/>
        </p:nvSpPr>
        <p:spPr>
          <a:xfrm>
            <a:off x="777240" y="31598894"/>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1690334"/>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890" b="0" i="0" baseline="-25000">
                <a:solidFill>
                  <a:srgbClr val="1F1F1F"/>
                </a:solidFill>
                <a:latin typeface="Times New Roman"/>
              </a:rPr>
              <a:t>q</a:t>
            </a:r>
            <a:r>
              <a:rPr sz="2100" b="0" i="0">
                <a:solidFill>
                  <a:srgbClr val="1F1F1F"/>
                </a:solidFill>
                <a:latin typeface="Times New Roman"/>
              </a:rPr>
              <a:t> ← mean(Q);   μ</a:t>
            </a:r>
            <a:r>
              <a:rPr sz="1890"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890" b="0" i="0" baseline="-25000">
                <a:solidFill>
                  <a:srgbClr val="1F1F1F"/>
                </a:solidFill>
                <a:latin typeface="Times New Roman"/>
              </a:rPr>
              <a:t>q</a:t>
            </a:r>
            <a:r>
              <a:rPr sz="2100" b="0" i="0">
                <a:solidFill>
                  <a:srgbClr val="1F1F1F"/>
                </a:solidFill>
                <a:latin typeface="Times New Roman"/>
              </a:rPr>
              <a:t> − μ</a:t>
            </a:r>
            <a:r>
              <a:rPr sz="1890"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9" name="Rectangle 38"/>
          <p:cNvSpPr/>
          <p:nvPr/>
        </p:nvSpPr>
        <p:spPr>
          <a:xfrm>
            <a:off x="777240" y="35850854"/>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36143462"/>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980" b="0" i="0" baseline="-25000">
                <a:solidFill>
                  <a:srgbClr val="1F1F1F"/>
                </a:solidFill>
                <a:latin typeface="Times New Roman"/>
              </a:rPr>
              <a:t>i</a:t>
            </a:r>
            <a:r>
              <a:rPr sz="2200" b="0" i="0">
                <a:solidFill>
                  <a:srgbClr val="1F1F1F"/>
                </a:solidFill>
                <a:latin typeface="Times New Roman"/>
              </a:rPr>
              <a:t>|,</a:t>
            </a:r>
          </a:p>
        </p:txBody>
      </p:sp>
      <p:sp>
        <p:nvSpPr>
          <p:cNvPr id="41" name="TextBox 40"/>
          <p:cNvSpPr txBox="1"/>
          <p:nvPr/>
        </p:nvSpPr>
        <p:spPr>
          <a:xfrm>
            <a:off x="777240" y="36762307"/>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g</a:t>
            </a:r>
            <a:r>
              <a:rPr sz="2520" b="1" i="0" baseline="-25000">
                <a:solidFill>
                  <a:srgbClr val="1F1F1F"/>
                </a:solidFill>
                <a:latin typeface="Times New Roman"/>
              </a:rPr>
              <a:t>sel,i</a:t>
            </a:r>
            <a:r>
              <a:rPr sz="2800" b="1" i="0">
                <a:solidFill>
                  <a:srgbClr val="1F1F1F"/>
                </a:solidFill>
                <a:latin typeface="Times New Roman"/>
              </a:rPr>
              <a:t> = g</a:t>
            </a:r>
            <a:r>
              <a:rPr sz="2520" b="1" i="0" baseline="-25000">
                <a:solidFill>
                  <a:srgbClr val="1F1F1F"/>
                </a:solidFill>
                <a:latin typeface="Times New Roman"/>
              </a:rPr>
              <a:t>i</a:t>
            </a:r>
            <a:r>
              <a:rPr sz="2800" b="1" i="0">
                <a:solidFill>
                  <a:srgbClr val="1F1F1F"/>
                </a:solidFill>
                <a:latin typeface="Times New Roman"/>
              </a:rPr>
              <a:t>  if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  0  otherwise ;      x′</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a:t>
            </a:r>
          </a:p>
        </p:txBody>
      </p:sp>
      <p:sp>
        <p:nvSpPr>
          <p:cNvPr id="42" name="TextBox 41"/>
          <p:cNvSpPr txBox="1"/>
          <p:nvPr/>
        </p:nvSpPr>
        <p:spPr>
          <a:xfrm>
            <a:off x="777240" y="37282905"/>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g</a:t>
            </a:r>
            <a:r>
              <a:rPr sz="1800" b="0" i="1" baseline="-25000">
                <a:solidFill>
                  <a:srgbClr val="6F6F6F"/>
                </a:solidFill>
                <a:latin typeface="Times New Roman"/>
              </a:rPr>
              <a:t>sel</a:t>
            </a:r>
            <a:r>
              <a:rPr sz="2000" b="0" i="1">
                <a:solidFill>
                  <a:srgbClr val="6F6F6F"/>
                </a:solidFill>
                <a:latin typeface="Times New Roman"/>
              </a:rPr>
              <a:t>: truncated gap   ·   |g|</a:t>
            </a:r>
            <a:r>
              <a:rPr sz="1800" b="0" i="1" baseline="-25000">
                <a:solidFill>
                  <a:srgbClr val="6F6F6F"/>
                </a:solidFill>
                <a:latin typeface="Times New Roman"/>
              </a:rPr>
              <a:t>(P)</a:t>
            </a:r>
            <a:r>
              <a:rPr sz="2000" b="0" i="1">
                <a:solidFill>
                  <a:srgbClr val="6F6F6F"/>
                </a:solidFill>
                <a:latin typeface="Times New Roman"/>
              </a:rPr>
              <a:t>: top-P% magnitude threshold</a:t>
            </a:r>
          </a:p>
        </p:txBody>
      </p:sp>
      <p:sp>
        <p:nvSpPr>
          <p:cNvPr id="43" name="TextBox 42"/>
          <p:cNvSpPr txBox="1"/>
          <p:nvPr/>
        </p:nvSpPr>
        <p:spPr>
          <a:xfrm>
            <a:off x="777240" y="37965656"/>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E(P)  =  Σ</a:t>
            </a:r>
            <a:r>
              <a:rPr sz="2520" b="1" i="0" baseline="-25000">
                <a:solidFill>
                  <a:srgbClr val="1F1F1F"/>
                </a:solidFill>
                <a:latin typeface="Times New Roman"/>
              </a:rPr>
              <a:t>i ∈ S(P)</a:t>
            </a:r>
            <a:r>
              <a:rPr sz="2800" b="1" i="0">
                <a:solidFill>
                  <a:srgbClr val="1F1F1F"/>
                </a:solidFill>
                <a:latin typeface="Times New Roman"/>
              </a:rPr>
              <a:t> g</a:t>
            </a:r>
            <a:r>
              <a:rPr sz="2520" b="1" i="0" baseline="-25000">
                <a:solidFill>
                  <a:srgbClr val="1F1F1F"/>
                </a:solidFill>
                <a:latin typeface="Times New Roman"/>
              </a:rPr>
              <a:t>i</a:t>
            </a:r>
            <a:r>
              <a:rPr sz="2800" b="1" i="0">
                <a:solidFill>
                  <a:srgbClr val="1F1F1F"/>
                </a:solidFill>
                <a:latin typeface="Times New Roman"/>
              </a:rPr>
              <a:t>²  /  ‖g‖² ,      S(P) = { i :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a:t>
            </a:r>
          </a:p>
        </p:txBody>
      </p:sp>
      <p:sp>
        <p:nvSpPr>
          <p:cNvPr id="44" name="TextBox 43"/>
          <p:cNvSpPr txBox="1"/>
          <p:nvPr/>
        </p:nvSpPr>
        <p:spPr>
          <a:xfrm>
            <a:off x="777240" y="384862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E(P): captured gap-energy fraction   ·   S(P): top-P% index set</a:t>
            </a:r>
          </a:p>
        </p:txBody>
      </p:sp>
      <p:sp>
        <p:nvSpPr>
          <p:cNvPr id="45" name="TextBox 44"/>
          <p:cNvSpPr txBox="1"/>
          <p:nvPr/>
        </p:nvSpPr>
        <p:spPr>
          <a:xfrm>
            <a:off x="777240" y="390227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980"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6" name="TextBox 45"/>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7" name="Rectangle 46"/>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9" name="TextBox 48"/>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980" b="0" i="0" baseline="-25000">
                <a:solidFill>
                  <a:srgbClr val="1F1F1F"/>
                </a:solidFill>
                <a:latin typeface="Times New Roman"/>
              </a:rPr>
              <a:t>q</a:t>
            </a:r>
            <a:r>
              <a:rPr sz="2200" b="0" i="0">
                <a:solidFill>
                  <a:srgbClr val="1F1F1F"/>
                </a:solidFill>
                <a:latin typeface="Times New Roman"/>
              </a:rPr>
              <a:t>, μ</a:t>
            </a:r>
            <a:r>
              <a:rPr sz="1980" b="0" i="0" baseline="-25000">
                <a:solidFill>
                  <a:srgbClr val="1F1F1F"/>
                </a:solidFill>
                <a:latin typeface="Times New Roman"/>
              </a:rPr>
              <a:t>x</a:t>
            </a:r>
            <a:r>
              <a:rPr sz="2200" b="0" i="0">
                <a:solidFill>
                  <a:srgbClr val="1F1F1F"/>
                </a:solidFill>
                <a:latin typeface="Times New Roman"/>
              </a:rPr>
              <a:t> and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50" name="TextBox 49"/>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51" name="Rectangle 50"/>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890" b="0" i="0" baseline="-25000">
                <a:solidFill>
                  <a:srgbClr val="6F6F6F"/>
                </a:solidFill>
                <a:latin typeface="Times New Roman"/>
              </a:rPr>
              <a:t>list</a:t>
            </a:r>
            <a:r>
              <a:rPr sz="2100" b="0" i="0">
                <a:solidFill>
                  <a:srgbClr val="6F6F6F"/>
                </a:solidFill>
                <a:latin typeface="Times New Roman"/>
              </a:rPr>
              <a:t> = ⌈√n⌉, n</a:t>
            </a:r>
            <a:r>
              <a:rPr sz="1890" b="0" i="0" baseline="-25000">
                <a:solidFill>
                  <a:srgbClr val="6F6F6F"/>
                </a:solidFill>
                <a:latin typeface="Times New Roman"/>
              </a:rPr>
              <a:t>probe</a:t>
            </a:r>
            <a:r>
              <a:rPr sz="2100" b="0" i="0">
                <a:solidFill>
                  <a:srgbClr val="6F6F6F"/>
                </a:solidFill>
                <a:latin typeface="Times New Roman"/>
              </a:rPr>
              <a:t> ≈ n</a:t>
            </a:r>
            <a:r>
              <a:rPr sz="1890"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3" name="TextBox 52"/>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4" name="TextBox 53"/>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5" name="Rectangle 54"/>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7" name="Rectangle 56"/>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9" name="TextBox 58"/>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60" name="TextBox 59"/>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1" name="TextBox 60"/>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2" name="TextBox 61"/>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3" name="TextBox 62"/>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4" name="Rectangle 63"/>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6" name="TextBox 65"/>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7" name="TextBox 66"/>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68" name="TextBox 67"/>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69" name="TextBox 68"/>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70" name="TextBox 69"/>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71" name="Rectangle 70"/>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3" name="TextBox 72"/>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4" name="TextBox 73"/>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75" name="TextBox 74"/>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76" name="TextBox 75"/>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77" name="TextBox 76"/>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78" name="Rectangle 77"/>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80" name="TextBox 79"/>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81" name="TextBox 80"/>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82" name="TextBox 81"/>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83" name="TextBox 82"/>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84" name="TextBox 83"/>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85" name="Rectangle 84"/>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7" name="TextBox 86"/>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8" name="TextBox 87"/>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89" name="TextBox 88"/>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90" name="TextBox 89"/>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91" name="TextBox 90"/>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92" name="Rectangle 91"/>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4" name="TextBox 93"/>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5" name="TextBox 94"/>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96" name="TextBox 95"/>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97" name="TextBox 96"/>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98" name="TextBox 97"/>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99" name="Rectangle 98"/>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1" name="TextBox 100"/>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102" name="TextBox 101"/>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03" name="TextBox 102"/>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04" name="TextBox 103"/>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05" name="TextBox 104"/>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06" name="Rectangle 105"/>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8" name="TextBox 107"/>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9" name="TextBox 108"/>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10" name="TextBox 109"/>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11" name="TextBox 110"/>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12" name="TextBox 111"/>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13" name="Rectangle 112"/>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15" name="Picture 114"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6" name="TextBox 115"/>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7" name="TextBox 116"/>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8" name="Rectangle 117"/>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20" name="TextBox 119"/>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21" name="TextBox 120"/>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22" name="TextBox 121"/>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3" name="Rectangle 122"/>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5" name="TextBox 124"/>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6" name="TextBox 125"/>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27" name="Rectangle 126"/>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9" name="TextBox 128"/>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30" name="TextBox 129"/>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31" name="Rectangle 130"/>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3" name="TextBox 132"/>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34" name="TextBox 133"/>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35" name="Rectangle 134"/>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7" name="TextBox 136"/>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38" name="TextBox 137"/>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39" name="Rectangle 138"/>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41" name="TextBox 140"/>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42" name="Rectangle 141"/>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457932" y="34563230"/>
            <a:ext cx="8546657"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Vanilla</a:t>
            </a:r>
          </a:p>
        </p:txBody>
      </p:sp>
      <p:sp>
        <p:nvSpPr>
          <p:cNvPr id="145" name="TextBox 144"/>
          <p:cNvSpPr txBox="1"/>
          <p:nvPr/>
        </p:nvSpPr>
        <p:spPr>
          <a:xfrm>
            <a:off x="28072080" y="3456323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.578</a:t>
            </a:r>
          </a:p>
        </p:txBody>
      </p:sp>
      <p:sp>
        <p:nvSpPr>
          <p:cNvPr id="146" name="Rectangle 145"/>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5457932" y="35111870"/>
            <a:ext cx="6076139"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Query-only</a:t>
            </a:r>
          </a:p>
        </p:txBody>
      </p:sp>
      <p:sp>
        <p:nvSpPr>
          <p:cNvPr id="149" name="TextBox 148"/>
          <p:cNvSpPr txBox="1"/>
          <p:nvPr/>
        </p:nvSpPr>
        <p:spPr>
          <a:xfrm>
            <a:off x="28072080" y="3511187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.541</a:t>
            </a:r>
          </a:p>
        </p:txBody>
      </p:sp>
      <p:sp>
        <p:nvSpPr>
          <p:cNvPr id="150" name="Rectangle 149"/>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5457932" y="35660510"/>
            <a:ext cx="9948843"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Both sides</a:t>
            </a:r>
          </a:p>
        </p:txBody>
      </p:sp>
      <p:sp>
        <p:nvSpPr>
          <p:cNvPr id="153" name="TextBox 152"/>
          <p:cNvSpPr txBox="1"/>
          <p:nvPr/>
        </p:nvSpPr>
        <p:spPr>
          <a:xfrm>
            <a:off x="28072080" y="3566051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.599</a:t>
            </a:r>
          </a:p>
        </p:txBody>
      </p:sp>
      <p:sp>
        <p:nvSpPr>
          <p:cNvPr id="154" name="Rectangle 153"/>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457932" y="36209150"/>
            <a:ext cx="12486132" cy="457200"/>
          </a:xfrm>
          <a:prstGeom prst="rect">
            <a:avLst/>
          </a:prstGeom>
          <a:solidFill>
            <a:srgbClr val="8F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5-Point Star 155"/>
          <p:cNvSpPr/>
          <p:nvPr/>
        </p:nvSpPr>
        <p:spPr>
          <a:xfrm>
            <a:off x="27340560" y="36227438"/>
            <a:ext cx="420624" cy="420624"/>
          </a:xfrm>
          <a:prstGeom prst="star5">
            <a:avLst/>
          </a:prstGeom>
          <a:solidFill>
            <a:srgbClr val="F0A202"/>
          </a:solidFill>
          <a:ln w="30480">
            <a:solidFill>
              <a:srgbClr val="5C3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5622524" y="36209150"/>
            <a:ext cx="12211812" cy="457200"/>
          </a:xfrm>
          <a:prstGeom prst="rect">
            <a:avLst/>
          </a:prstGeom>
          <a:noFill/>
        </p:spPr>
        <p:txBody>
          <a:bodyPr wrap="none" anchor="ctr" lIns="0" rIns="0" tIns="0" bIns="0">
            <a:spAutoFit/>
          </a:bodyPr>
          <a:lstStyle/>
          <a:p>
            <a:pPr algn="l"/>
            <a:r>
              <a:rPr sz="2400" b="1" i="0">
                <a:solidFill>
                  <a:srgbClr val="1F1F1F"/>
                </a:solidFill>
                <a:latin typeface="Times New Roman"/>
              </a:rPr>
              <a:t>DB-only  (PMC)</a:t>
            </a:r>
          </a:p>
        </p:txBody>
      </p:sp>
      <p:sp>
        <p:nvSpPr>
          <p:cNvPr id="158" name="TextBox 157"/>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9" name="TextBox 158"/>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60" name="Rectangle 159"/>
          <p:cNvSpPr/>
          <p:nvPr/>
        </p:nvSpPr>
        <p:spPr>
          <a:xfrm>
            <a:off x="15457932" y="38286158"/>
            <a:ext cx="14040612" cy="2313228"/>
          </a:xfrm>
          <a:prstGeom prst="rect">
            <a:avLst/>
          </a:prstGeom>
          <a:solidFill>
            <a:srgbClr val="E6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0D4DA3"/>
                </a:solidFill>
                <a:latin typeface="Times New Roman"/>
              </a:rPr>
              <a:t>Correct the index, not the query:  </a:t>
            </a:r>
            <a:r>
              <a:rPr sz="2300" b="1" i="0">
                <a:solidFill>
                  <a:srgbClr val="1F1F1F"/>
                </a:solidFill>
                <a:latin typeface="Times New Roman"/>
              </a:rPr>
              <a:t>a one-time, database-side centroid correction repairs IVF routing and binary quantization together — zero query-time transform, zero extra index memory, QPS unchanged at every n</a:t>
            </a:r>
            <a:r>
              <a:rPr sz="2070" b="1" i="0" baseline="-25000">
                <a:solidFill>
                  <a:srgbClr val="1F1F1F"/>
                </a:solidFill>
                <a:latin typeface="Times New Roman"/>
              </a:rPr>
              <a:t>probe</a:t>
            </a:r>
            <a:r>
              <a:rPr sz="2300" b="1" i="0">
                <a:solidFill>
                  <a:srgbClr val="1F1F1F"/>
                </a:solidFill>
                <a:latin typeface="Times New Roman"/>
              </a:rPr>
              <a:t>.</a:t>
            </a:r>
          </a:p>
          <a:p>
            <a:pPr algn="l">
              <a:lnSpc>
                <a:spcPct val="128000"/>
              </a:lnSpc>
              <a:spcAft>
                <a:spcPts val="400"/>
              </a:spcAft>
            </a:pPr>
            <a:r>
              <a:rPr sz="2000" b="0" i="0">
                <a:solidFill>
                  <a:srgbClr val="6F6F6F"/>
                </a:solidFill>
                <a:latin typeface="Times New Roman"/>
              </a:rPr>
              <a:t>Future work: drift-adaptive α, graph-based ANN, billion-scale deployment.</a:t>
            </a:r>
          </a:p>
        </p:txBody>
      </p:sp>
      <p:sp>
        <p:nvSpPr>
          <p:cNvPr id="162" name="Rectangle 161"/>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4" name="Picture 163"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5" name="TextBox 164"/>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6" name="TextBox 165"/>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CC-BY 4.0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