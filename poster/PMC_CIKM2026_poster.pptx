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5784" cy="52578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24697944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Helvetica Neue"/>
              </a:rPr>
              <a:t>PMC: Build-Time Per-Modality Centroid Correction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7400" b="1">
                <a:solidFill>
                  <a:srgbClr val="FFFFFF"/>
                </a:solidFill>
                <a:latin typeface="Helvetica Neue"/>
              </a:rPr>
              <a:t>for Cross-Modal Binary-Quantized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83280"/>
            <a:ext cx="246979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FFFFFF"/>
                </a:solidFill>
                <a:latin typeface="Helvetica Neue"/>
              </a:rPr>
              <a:t>Se Hoon Kim   ·   Jun Hyung Lee   ·   Soonyoung Jung        </a:t>
            </a:r>
            <a:r>
              <a:rPr sz="4000" b="1">
                <a:solidFill>
                  <a:srgbClr val="BFD3F0"/>
                </a:solidFill>
                <a:latin typeface="Helvetica Neue"/>
              </a:rPr>
              <a:t>Korea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06240"/>
            <a:ext cx="246979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0">
                <a:solidFill>
                  <a:srgbClr val="9DACC6"/>
                </a:solidFill>
                <a:latin typeface="Helvetica Neue"/>
              </a:rPr>
              <a:t>CIKM 2026 · Rome, Italy       </a:t>
            </a:r>
            <a:r>
              <a:rPr sz="3000" b="1">
                <a:solidFill>
                  <a:srgbClr val="E8720C"/>
                </a:solidFill>
                <a:latin typeface="Helvetica Neue"/>
              </a:rPr>
              <a:t>One gap. Two failures. One build-time fix.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98144" y="640080"/>
            <a:ext cx="3200400" cy="3840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sset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9312" y="822960"/>
            <a:ext cx="2798064" cy="2798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298144" y="365760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A2744"/>
                </a:solidFill>
                <a:latin typeface="Helvetica Neue"/>
              </a:rPr>
              <a:t>Paper + Code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8A8F98"/>
                </a:solidFill>
                <a:latin typeface="Helvetica Neue"/>
              </a:rPr>
              <a:t>github.com/sehoon787/PMC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760720"/>
            <a:ext cx="7754752" cy="22494240"/>
          </a:xfrm>
          <a:prstGeom prst="roundRect">
            <a:avLst>
              <a:gd name="adj" fmla="val 2500"/>
            </a:avLst>
          </a:prstGeom>
          <a:solidFill>
            <a:srgbClr val="FDEFE2"/>
          </a:solidFill>
          <a:ln w="25400">
            <a:solidFill>
              <a:srgbClr val="ECC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0" y="6294120"/>
            <a:ext cx="256032" cy="68580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40" y="6217920"/>
            <a:ext cx="633743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E8720C"/>
                </a:solidFill>
                <a:latin typeface="Helvetica Neue"/>
              </a:rPr>
              <a:t>① Why BQ fails cross-modally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7726680"/>
            <a:ext cx="674891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1A2744"/>
                </a:solidFill>
                <a:latin typeface="Helvetica Neue"/>
              </a:rPr>
              <a:t>Queries and database vectors do not share the same centroid.</a:t>
            </a:r>
          </a:p>
        </p:txBody>
      </p:sp>
      <p:pic>
        <p:nvPicPr>
          <p:cNvPr id="14" name="Picture 13" descr="asset_f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9829800"/>
            <a:ext cx="6748912" cy="33547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280160" y="15224760"/>
            <a:ext cx="674891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>
                <a:solidFill>
                  <a:srgbClr val="1A2744"/>
                </a:solidFill>
                <a:latin typeface="Helvetica Neue"/>
              </a:rPr>
              <a:t>t-SNE (ImageBind): separated modality clusters (a) overlap after PMC (b).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16322040"/>
            <a:ext cx="67489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E8720C"/>
                </a:solidFill>
                <a:latin typeface="Helvetica Neue"/>
              </a:rPr>
              <a:t>One gap, two failures.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80160" y="17510760"/>
            <a:ext cx="6748912" cy="2011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E87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17785080"/>
            <a:ext cx="60173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E8720C"/>
                </a:solidFill>
                <a:latin typeface="Helvetica Neue"/>
              </a:rPr>
              <a:t>IVF Routing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A2744"/>
                </a:solidFill>
                <a:latin typeface="Helvetica Neue"/>
              </a:rPr>
              <a:t>queries probe the wrong inverted lists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80160" y="19796760"/>
            <a:ext cx="6748912" cy="2011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E87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20071080"/>
            <a:ext cx="601739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400" b="1">
                <a:solidFill>
                  <a:srgbClr val="E8720C"/>
                </a:solidFill>
                <a:latin typeface="Helvetica Neue"/>
              </a:rPr>
              <a:t>Binary Codes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0">
                <a:solidFill>
                  <a:srgbClr val="1A2744"/>
                </a:solidFill>
                <a:latin typeface="Helvetica Neue"/>
              </a:rPr>
              <a:t>sign(x−c) flips: the boundary passes through c with zero error margin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2585680"/>
            <a:ext cx="674891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Oracle test (MSCOCO · CLIP-L · RaBitQ)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0">
                <a:solidFill>
                  <a:srgbClr val="1A2744"/>
                </a:solidFill>
                <a:latin typeface="Helvetica Neue"/>
              </a:rPr>
              <a:t>same-modality ‖g‖=0 :  R@100 = 0.71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E8720C"/>
                </a:solidFill>
                <a:latin typeface="Helvetica Neue"/>
              </a:rPr>
              <a:t>cross-modal ‖g‖=.82 :  R@100 = 0.54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25237440"/>
            <a:ext cx="6748912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>
                <a:solidFill>
                  <a:srgbClr val="1A2744"/>
                </a:solidFill>
                <a:latin typeface="Helvetica Neue"/>
              </a:rPr>
              <a:t>Structured, not random: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1A2744"/>
                </a:solidFill>
                <a:latin typeface="Helvetica Neue"/>
              </a:rPr>
              <a:t>top 10% of dimensions carry ≈90% of ‖g‖² (CLIP-L). Flip risk grows with |gᵢ| — E[F] ≈ αΣᵢ pᵢ(0)|gᵢ|.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34912" y="5760720"/>
            <a:ext cx="11344915" cy="22494240"/>
          </a:xfrm>
          <a:prstGeom prst="roundRect">
            <a:avLst>
              <a:gd name="adj" fmla="val 2500"/>
            </a:avLst>
          </a:prstGeom>
          <a:solidFill>
            <a:srgbClr val="E7F3EC"/>
          </a:solidFill>
          <a:ln w="25400">
            <a:solidFill>
              <a:srgbClr val="B9DC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583552" y="6294120"/>
            <a:ext cx="256032" cy="685800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5032" y="6217920"/>
            <a:ext cx="9836155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1F7A4D"/>
                </a:solidFill>
                <a:latin typeface="Helvetica Neue"/>
              </a:rPr>
              <a:t>② PMC fixes the boundary at the source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83552" y="7772400"/>
            <a:ext cx="10247635" cy="37947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03592" y="8229600"/>
            <a:ext cx="1051560" cy="105156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03592" y="8247888"/>
            <a:ext cx="1051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5192" y="8183880"/>
            <a:ext cx="823595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800" b="1">
                <a:solidFill>
                  <a:srgbClr val="1F7A4D"/>
                </a:solidFill>
                <a:latin typeface="Helvetica Neue"/>
              </a:rPr>
              <a:t>CALIBRATE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estimate the gap from a small paired sample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1A2744"/>
                </a:solidFill>
                <a:latin typeface="Helvetica Neue"/>
              </a:rPr>
              <a:t>g = μq − μx        (25 samples suffice)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14295889" y="11676888"/>
            <a:ext cx="822960" cy="685800"/>
          </a:xfrm>
          <a:prstGeom prst="downArrow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583552" y="12481560"/>
            <a:ext cx="10247635" cy="37947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03592" y="12938760"/>
            <a:ext cx="1051560" cy="105156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03592" y="12957048"/>
            <a:ext cx="1051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5192" y="12893040"/>
            <a:ext cx="823595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800" b="1">
                <a:solidFill>
                  <a:srgbClr val="1F7A4D"/>
                </a:solidFill>
                <a:latin typeface="Helvetica Neue"/>
              </a:rPr>
              <a:t>OFFLINE BUILD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shift every database vector, then build the BQ index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1A2744"/>
                </a:solidFill>
                <a:latin typeface="Helvetica Neue"/>
              </a:rPr>
              <a:t>x′ = (x + g) / ‖x + g‖   →   IVF-RaBitQ / BBQ / BinaryFlat</a:t>
            </a:r>
          </a:p>
        </p:txBody>
      </p:sp>
      <p:sp>
        <p:nvSpPr>
          <p:cNvPr id="35" name="Down Arrow 34"/>
          <p:cNvSpPr/>
          <p:nvPr/>
        </p:nvSpPr>
        <p:spPr>
          <a:xfrm>
            <a:off x="14295889" y="16386048"/>
            <a:ext cx="822960" cy="685800"/>
          </a:xfrm>
          <a:prstGeom prst="downArrow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583552" y="17190720"/>
            <a:ext cx="10247635" cy="37947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903592" y="17647920"/>
            <a:ext cx="1051560" cy="105156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03592" y="17666208"/>
            <a:ext cx="1051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5192" y="17602200"/>
            <a:ext cx="8235955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800" b="1">
                <a:solidFill>
                  <a:srgbClr val="1F7A4D"/>
                </a:solidFill>
                <a:latin typeface="Helvetica Neue"/>
              </a:rPr>
              <a:t>ONLINE SERVING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search the corrected index — the query is untouched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3000" b="1">
                <a:solidFill>
                  <a:srgbClr val="1A2744"/>
                </a:solidFill>
                <a:latin typeface="Helvetica Neue"/>
              </a:rPr>
              <a:t>q′ = q        zero query-time transform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83552" y="21214080"/>
            <a:ext cx="10247635" cy="13716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83552" y="21369528"/>
            <a:ext cx="102476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α = 1  →  no query-time transformation, no extra index memory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83552" y="22997160"/>
            <a:ext cx="1024763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0">
                <a:solidFill>
                  <a:srgbClr val="1A2744"/>
                </a:solidFill>
                <a:latin typeface="Helvetica Neue"/>
              </a:rPr>
              <a:t>General form:  x′ = (x + αg)/‖x + αg‖ ,   α ∈ [0,1]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α = 0 is query-only mean shift — it leaves IVF centroids and codes misaligned. α = 1 rewrites the centroid where it is BOTH the routing pivot and the code boundary.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500" b="1">
                <a:solidFill>
                  <a:srgbClr val="1F7A4D"/>
                </a:solidFill>
                <a:latin typeface="Helvetica Neue"/>
              </a:rPr>
              <a:t>The α-sweep confirms α = 1 best or near-best in all settings.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0882747" y="5760720"/>
            <a:ext cx="8615797" cy="224942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385667" y="6294120"/>
            <a:ext cx="256032" cy="6858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797147" y="6217920"/>
            <a:ext cx="719847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1A2744"/>
                </a:solidFill>
                <a:latin typeface="Helvetica Neue"/>
              </a:rPr>
              <a:t>③ Main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385667" y="7360920"/>
            <a:ext cx="760995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1000" b="1">
                <a:solidFill>
                  <a:srgbClr val="1F7A4D"/>
                </a:solidFill>
                <a:latin typeface="Helvetica Neue"/>
              </a:rPr>
              <a:t>407M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800" b="0">
                <a:solidFill>
                  <a:srgbClr val="1A2744"/>
                </a:solidFill>
                <a:latin typeface="Helvetica Neue"/>
              </a:rPr>
              <a:t>vectors · LAION-400M · CLIP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85667" y="9738359"/>
            <a:ext cx="76099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R@100, no reranking (n_list=80K, n_probe=256)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385667" y="10424159"/>
            <a:ext cx="6055477" cy="6583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1385667" y="10424159"/>
            <a:ext cx="4573367" cy="658368"/>
          </a:xfrm>
          <a:prstGeom prst="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495395" y="10424159"/>
            <a:ext cx="587259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Vanilla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50872" y="10424159"/>
            <a:ext cx="1371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.108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385667" y="11247119"/>
            <a:ext cx="6055477" cy="6583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385667" y="11247119"/>
            <a:ext cx="6055477" cy="658368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495395" y="11247119"/>
            <a:ext cx="587259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PMC  (+32%)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550872" y="11247119"/>
            <a:ext cx="1371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.143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385667" y="12115799"/>
            <a:ext cx="760995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1F7A4D"/>
                </a:solidFill>
                <a:latin typeface="Helvetica Neue"/>
              </a:rPr>
              <a:t>with exact reranking K′=400:  .198 → .277  (+40%)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1385667" y="12938759"/>
            <a:ext cx="7609957" cy="173736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705707" y="13139927"/>
            <a:ext cx="696987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A2744"/>
                </a:solidFill>
                <a:latin typeface="Helvetica Neue"/>
              </a:rPr>
              <a:t>MSCOCO · CLIP-L · i→t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705707" y="13715999"/>
            <a:ext cx="696987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8A8F98"/>
                </a:solidFill>
                <a:latin typeface="Helvetica Neue"/>
              </a:rPr>
              <a:t>.47  →  </a:t>
            </a:r>
            <a:r>
              <a:rPr sz="4400" b="1">
                <a:solidFill>
                  <a:srgbClr val="1F7A4D"/>
                </a:solidFill>
                <a:latin typeface="Helvetica Neue"/>
              </a:rPr>
              <a:t>.63</a:t>
            </a:r>
            <a:r>
              <a:rPr sz="3400" b="1">
                <a:solidFill>
                  <a:srgbClr val="1F7A4D"/>
                </a:solidFill>
                <a:latin typeface="Helvetica Neue"/>
              </a:rPr>
              <a:t>    +34%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1385667" y="14904719"/>
            <a:ext cx="7609957" cy="173736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705707" y="15105887"/>
            <a:ext cx="696987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A2744"/>
                </a:solidFill>
                <a:latin typeface="Helvetica Neue"/>
              </a:rPr>
              <a:t>Flickr30K · CLIP-L · i→t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705707" y="15681959"/>
            <a:ext cx="696987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8A8F98"/>
                </a:solidFill>
                <a:latin typeface="Helvetica Neue"/>
              </a:rPr>
              <a:t>.33  →  </a:t>
            </a:r>
            <a:r>
              <a:rPr sz="4400" b="1">
                <a:solidFill>
                  <a:srgbClr val="1F7A4D"/>
                </a:solidFill>
                <a:latin typeface="Helvetica Neue"/>
              </a:rPr>
              <a:t>.48</a:t>
            </a:r>
            <a:r>
              <a:rPr sz="3400" b="1">
                <a:solidFill>
                  <a:srgbClr val="1F7A4D"/>
                </a:solidFill>
                <a:latin typeface="Helvetica Neue"/>
              </a:rPr>
              <a:t>    +45%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1385667" y="16870679"/>
            <a:ext cx="7609957" cy="173736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1705707" y="17071847"/>
            <a:ext cx="696987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A2744"/>
                </a:solidFill>
                <a:latin typeface="Helvetica Neue"/>
              </a:rPr>
              <a:t>MSCOCO · ImageBind · t→i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05707" y="17647919"/>
            <a:ext cx="696987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0">
                <a:solidFill>
                  <a:srgbClr val="8A8F98"/>
                </a:solidFill>
                <a:latin typeface="Helvetica Neue"/>
              </a:rPr>
              <a:t>.67  →  </a:t>
            </a:r>
            <a:r>
              <a:rPr sz="4400" b="1">
                <a:solidFill>
                  <a:srgbClr val="1F7A4D"/>
                </a:solidFill>
                <a:latin typeface="Helvetica Neue"/>
              </a:rPr>
              <a:t>.75</a:t>
            </a:r>
            <a:r>
              <a:rPr sz="3400" b="1">
                <a:solidFill>
                  <a:srgbClr val="1F7A4D"/>
                </a:solidFill>
                <a:latin typeface="Helvetica Neue"/>
              </a:rPr>
              <a:t>    +12%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385667" y="18928079"/>
            <a:ext cx="760995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5 benchmarks · 3 encoders · 4 BQ index types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385667" y="19522439"/>
            <a:ext cx="760995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1A2744"/>
                </a:solidFill>
                <a:latin typeface="Helvetica Neue"/>
              </a:rPr>
              <a:t>R@100 improved or matched in all 16 BQ configs; </a:t>
            </a:r>
            <a:r>
              <a:rPr sz="2400" b="1">
                <a:solidFill>
                  <a:srgbClr val="1F7A4D"/>
                </a:solidFill>
                <a:latin typeface="Helvetica Neue"/>
              </a:rPr>
              <a:t>best in all 14 configs at R@10.</a:t>
            </a:r>
          </a:p>
        </p:txBody>
      </p:sp>
      <p:pic>
        <p:nvPicPr>
          <p:cNvPr id="68" name="Picture 67" descr="asset_fig3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85667" y="20711158"/>
            <a:ext cx="7609957" cy="586206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21385667" y="26738492"/>
            <a:ext cx="760995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1A2744"/>
                </a:solidFill>
                <a:latin typeface="Helvetica Neue"/>
              </a:rPr>
              <a:t>QPS tracks Vanilla at every n_probe — PMC adds no per-query work.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" y="28757880"/>
            <a:ext cx="11488521" cy="12582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80160" y="29245560"/>
            <a:ext cx="256032" cy="6858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40" y="29169360"/>
            <a:ext cx="10071201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1A2744"/>
                </a:solidFill>
                <a:latin typeface="Helvetica Neue"/>
              </a:rPr>
              <a:t>④ Why it works: concentrated gap</a:t>
            </a:r>
          </a:p>
        </p:txBody>
      </p:sp>
      <p:pic>
        <p:nvPicPr>
          <p:cNvPr id="73" name="Picture 72" descr="asset_fig3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0540960"/>
            <a:ext cx="10482681" cy="8197315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80160" y="38966875"/>
            <a:ext cx="1048268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1F7A4D"/>
                </a:solidFill>
                <a:latin typeface="Helvetica Neue"/>
              </a:rPr>
              <a:t>Only 5% of dimensions can be enough.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80160" y="39972715"/>
            <a:ext cx="1048268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CLIP's gap energy is highly concentrated: correcting only the highest-|gᵢ| dimensions recovers peak recall (top 10% ≈ 86–92% of energy). ImageBind's diffuse gap (≈72%) needs the full vector — exactly what the flip-risk analysis predicts.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768681" y="28757880"/>
            <a:ext cx="9047210" cy="1258214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25400">
            <a:solidFill>
              <a:srgbClr val="D8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3271601" y="29245560"/>
            <a:ext cx="256032" cy="685800"/>
          </a:xfrm>
          <a:prstGeom prst="rect">
            <a:avLst/>
          </a:prstGeom>
          <a:solidFill>
            <a:srgbClr val="1A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3683081" y="29169360"/>
            <a:ext cx="762989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>
                <a:solidFill>
                  <a:srgbClr val="1A2744"/>
                </a:solidFill>
                <a:latin typeface="Helvetica Neue"/>
              </a:rPr>
              <a:t>Where should we correct?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271601" y="30175200"/>
            <a:ext cx="80413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1A2744"/>
                </a:solidFill>
                <a:latin typeface="Helvetica Neue"/>
              </a:rPr>
              <a:t>MSCOCO · CLIP-B/32 · IVF-RaBitQ · R@100 (t→i)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3271601" y="30861000"/>
            <a:ext cx="657833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3271601" y="30861000"/>
            <a:ext cx="4502814" cy="713232"/>
          </a:xfrm>
          <a:prstGeom prst="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3381329" y="30861000"/>
            <a:ext cx="639545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Vanilla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9959659" y="30861000"/>
            <a:ext cx="1371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.578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271601" y="31775400"/>
            <a:ext cx="657833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3271601" y="31775400"/>
            <a:ext cx="3201219" cy="713232"/>
          </a:xfrm>
          <a:prstGeom prst="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381329" y="31775400"/>
            <a:ext cx="639545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Query-only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9959659" y="31775400"/>
            <a:ext cx="1371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.541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271601" y="32689800"/>
            <a:ext cx="657833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3271601" y="32689800"/>
            <a:ext cx="5241557" cy="713232"/>
          </a:xfrm>
          <a:prstGeom prst="rect">
            <a:avLst/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3381329" y="32689800"/>
            <a:ext cx="639545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Both sides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9959659" y="32689800"/>
            <a:ext cx="1371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.599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3271601" y="33604200"/>
            <a:ext cx="6578330" cy="713232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3271601" y="33604200"/>
            <a:ext cx="6578330" cy="713232"/>
          </a:xfrm>
          <a:prstGeom prst="rect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3381329" y="33604200"/>
            <a:ext cx="639545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FFFFFF"/>
                </a:solidFill>
                <a:latin typeface="Helvetica Neue"/>
              </a:rPr>
              <a:t>DB-only  ★ PMC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959659" y="33604200"/>
            <a:ext cx="13716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A2744"/>
                </a:solidFill>
                <a:latin typeface="Helvetica Neue"/>
              </a:rPr>
              <a:t>.637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3271601" y="34747200"/>
            <a:ext cx="804137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2500" b="0">
                <a:solidFill>
                  <a:srgbClr val="1A2744"/>
                </a:solidFill>
                <a:latin typeface="Helvetica Neue"/>
              </a:rPr>
              <a:t>Shifting both sides re-displaces the routing pivot.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3000" b="1">
                <a:solidFill>
                  <a:srgbClr val="1F7A4D"/>
                </a:solidFill>
                <a:latin typeface="Helvetica Neue"/>
              </a:rPr>
              <a:t>Correct the centroid where it controls both routing and code formation.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2300" b="0">
                <a:solidFill>
                  <a:srgbClr val="8A8F98"/>
                </a:solidFill>
                <a:latin typeface="Helvetica Neue"/>
              </a:rPr>
              <a:t>Random / shuffled / sign-flipped / un-normalized controls all trail DB-PMC — the direction of g matters.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2318811" y="28757880"/>
            <a:ext cx="7179733" cy="12582144"/>
          </a:xfrm>
          <a:prstGeom prst="roundRect">
            <a:avLst>
              <a:gd name="adj" fmla="val 2500"/>
            </a:avLst>
          </a:prstGeom>
          <a:solidFill>
            <a:srgbClr val="1A2744"/>
          </a:solidFill>
          <a:ln w="25400">
            <a:solidFill>
              <a:srgbClr val="1A27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2867451" y="29260800"/>
            <a:ext cx="608245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Helvetica Neue"/>
              </a:rPr>
              <a:t>⑤ PMC in one sentence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2867451" y="30449520"/>
            <a:ext cx="6082453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400" b="1">
                <a:solidFill>
                  <a:srgbClr val="DDE7F5"/>
                </a:solidFill>
                <a:latin typeface="Helvetica Neue"/>
              </a:rPr>
              <a:t>A one-time DB-side centroid correction repairs both IVF routing and binary quantization — without changing the serving path.</a:t>
            </a:r>
          </a:p>
        </p:txBody>
      </p:sp>
      <p:sp>
        <p:nvSpPr>
          <p:cNvPr id="100" name="Oval 99"/>
          <p:cNvSpPr/>
          <p:nvPr/>
        </p:nvSpPr>
        <p:spPr>
          <a:xfrm>
            <a:off x="22867451" y="33512760"/>
            <a:ext cx="914400" cy="91440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867451" y="33622488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Helvetica Neue"/>
              </a:rPr>
              <a:t>↑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101891" y="33585912"/>
            <a:ext cx="480229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Recall gains scale with ‖g‖</a:t>
            </a:r>
          </a:p>
        </p:txBody>
      </p:sp>
      <p:sp>
        <p:nvSpPr>
          <p:cNvPr id="103" name="Oval 102"/>
          <p:cNvSpPr/>
          <p:nvPr/>
        </p:nvSpPr>
        <p:spPr>
          <a:xfrm>
            <a:off x="22867451" y="34701480"/>
            <a:ext cx="914400" cy="91440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2867451" y="34811208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Helvetica Neue"/>
              </a:rP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4101891" y="34774632"/>
            <a:ext cx="480229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query-time transform</a:t>
            </a:r>
          </a:p>
        </p:txBody>
      </p:sp>
      <p:sp>
        <p:nvSpPr>
          <p:cNvPr id="106" name="Oval 105"/>
          <p:cNvSpPr/>
          <p:nvPr/>
        </p:nvSpPr>
        <p:spPr>
          <a:xfrm>
            <a:off x="22867451" y="35890200"/>
            <a:ext cx="914400" cy="91440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2867451" y="35999928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Helvetica Neue"/>
              </a:rP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4101891" y="35963352"/>
            <a:ext cx="480229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additional index memory</a:t>
            </a:r>
          </a:p>
        </p:txBody>
      </p:sp>
      <p:sp>
        <p:nvSpPr>
          <p:cNvPr id="109" name="Oval 108"/>
          <p:cNvSpPr/>
          <p:nvPr/>
        </p:nvSpPr>
        <p:spPr>
          <a:xfrm>
            <a:off x="22867451" y="37078920"/>
            <a:ext cx="914400" cy="914400"/>
          </a:xfrm>
          <a:prstGeom prst="ellipse">
            <a:avLst/>
          </a:prstGeom>
          <a:solidFill>
            <a:srgbClr val="1F7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2867451" y="37188648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Helvetica Neue"/>
              </a:rPr>
              <a:t>✓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4101891" y="37152072"/>
            <a:ext cx="4802293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Helvetica Neue"/>
              </a:rPr>
              <a:t>validated at 407M-vector scale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77240" y="41751504"/>
            <a:ext cx="28721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8A8F98"/>
                </a:solidFill>
                <a:latin typeface="Helvetica Neue"/>
              </a:rPr>
              <a:t>CIKM ’26 · November 07–11, 2026 · Rome, Italy      DOI 10.1145/3799682.3840007      CC-BY 4.0      Supported by NRF Korea (MSIT)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