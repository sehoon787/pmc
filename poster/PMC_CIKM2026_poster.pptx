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set_i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2236" y="914400"/>
            <a:ext cx="2963428" cy="1188720"/>
          </a:xfrm>
          <a:prstGeom prst="rect">
            <a:avLst/>
          </a:prstGeom>
        </p:spPr>
      </p:pic>
      <p:pic>
        <p:nvPicPr>
          <p:cNvPr id="4" name="Picture 3" descr="asset_k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0561" y="914400"/>
            <a:ext cx="3808755" cy="1188720"/>
          </a:xfrm>
          <a:prstGeom prst="rect">
            <a:avLst/>
          </a:prstGeom>
        </p:spPr>
      </p:pic>
      <p:pic>
        <p:nvPicPr>
          <p:cNvPr id="5" name="Picture 4" descr="asset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12544" y="2514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72064" y="470916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6F6F6F"/>
                </a:solidFill>
                <a:latin typeface="Times New Roman"/>
              </a:rPr>
              <a:t>Paper + code:  github.com/sehoon787/PMC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14400"/>
            <a:ext cx="1957730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PMC: Build-Time Per-Modality Centroid Correction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for Cross-Modal Binary-Quantized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611880"/>
            <a:ext cx="195773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0" i="0">
                <a:solidFill>
                  <a:srgbClr val="1F1F1F"/>
                </a:solidFill>
                <a:latin typeface="Times New Roman"/>
              </a:rPr>
              <a:t>Se Hoon Kim,   Jun Hyung Lee,   Soonyoung Jung*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370832"/>
            <a:ext cx="195773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Department of Computer Science and Engineering, Korea University   ·   Intelligence Engineering Lab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5349240"/>
            <a:ext cx="28355544" cy="381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23983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337490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97880"/>
            <a:ext cx="85066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1.  The 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6949440"/>
            <a:ext cx="850666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7498080"/>
            <a:ext cx="850666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Cross-modal queries and database vectors do not share a centroid.</a:t>
            </a:r>
          </a:p>
        </p:txBody>
      </p:sp>
      <p:pic>
        <p:nvPicPr>
          <p:cNvPr id="16" name="Picture 15" descr="asset_fi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9555480"/>
            <a:ext cx="8506663" cy="4228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14104040"/>
            <a:ext cx="8506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1">
                <a:solidFill>
                  <a:srgbClr val="6F6F6F"/>
                </a:solidFill>
                <a:latin typeface="Times New Roman"/>
              </a:rPr>
              <a:t>t-SNE (ImageBind): modality clusters separate in (a); after PMC they overlap in (b).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5338480"/>
            <a:ext cx="8506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8B0029"/>
                </a:solidFill>
                <a:latin typeface="Times New Roman"/>
              </a:rPr>
              <a:t>One gap, two failures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16536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16390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IVF routing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queries are steered into the wrong inverted lists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17679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17533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Binary codes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sign(x − c) has zero error margin — the boundary passes exactly through the centroid, so the offset flips bits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9864760"/>
            <a:ext cx="8506663" cy="2468880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20184800"/>
            <a:ext cx="7683703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Oracle test — MSCOCO, CLIP-L, RaBitQ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same-modality  (‖g‖ = 0)       R@100 = 0.71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8B0029"/>
                </a:solidFill>
                <a:latin typeface="Times New Roman"/>
              </a:rPr>
              <a:t>cross-modal  (‖g‖ = .82)       R@100 = 0.54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2607960"/>
            <a:ext cx="850666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The damage is structured.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The top 10% of dimensions carry ≈90% of ‖g‖² on CLIP-L, and flip risk grows with 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|:   E[F] ≈ α Σ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 p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(0)·|g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1183" y="5897880"/>
            <a:ext cx="94991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2.  PMC — correct at the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81183" y="6949440"/>
            <a:ext cx="9499107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1183" y="749808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8383" y="744321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1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Calibrate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8383" y="836676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estimate the gap from a small paired 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38383" y="941832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g  = 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q</a:t>
            </a:r>
            <a:r>
              <a:rPr sz="3200" b="1" i="0">
                <a:solidFill>
                  <a:srgbClr val="1F1F1F"/>
                </a:solidFill>
                <a:latin typeface="Times New Roman"/>
              </a:rPr>
              <a:t> −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x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(25 samples suffice)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14582096" y="1076248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81183" y="1170432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8383" y="1164945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2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Build  (offline)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8383" y="1257300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shift every database vector, then build the 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38383" y="13688568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x′  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64263" y="13350240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x + α 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07263" y="13910310"/>
            <a:ext cx="192024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64263" y="14010894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‖x + α g‖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4582096" y="1496872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81183" y="1591056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38383" y="1585569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3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Serve  (online)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38383" y="1677924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search the corrected index — the query is untouched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38383" y="1783080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q′  =  q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(at α = 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81183" y="19522440"/>
            <a:ext cx="9499107" cy="1874519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38383" y="19815048"/>
            <a:ext cx="85847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At α = 1 the correction is absorbed into the index: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zero query-time transform, zero extra memory.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1183" y="21854160"/>
            <a:ext cx="94991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The query side carries the complement: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8343" y="22814280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1F1F"/>
                </a:solidFill>
                <a:latin typeface="Times New Roman"/>
              </a:rPr>
              <a:t>q′  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07063" y="22539960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q − (1 − α) 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154863" y="23031450"/>
            <a:ext cx="277368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07063" y="23132034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‖q − (1 − α) g‖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81183" y="23687532"/>
            <a:ext cx="949910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α = 0 is query-only mean shift: it leaves IVF centroids and quantized codes misaligned, and can lower recall.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1" i="0">
                <a:solidFill>
                  <a:srgbClr val="1F1F1F"/>
                </a:solidFill>
                <a:latin typeface="Times New Roman"/>
              </a:rPr>
              <a:t>α = 1 makes q′ = q and rewrites the centroid where it plays both of its roles — routing pivot and code boundary.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0D4DA3"/>
                </a:solidFill>
                <a:latin typeface="Times New Roman"/>
              </a:rPr>
              <a:t>The α-sweep confirms α = 1 best or near-best in every setting.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94690" y="5897880"/>
            <a:ext cx="852097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3.  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794690" y="6949440"/>
            <a:ext cx="852097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94690" y="7360920"/>
            <a:ext cx="852097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200" b="1" i="0">
                <a:solidFill>
                  <a:srgbClr val="8B0029"/>
                </a:solidFill>
                <a:latin typeface="Times New Roman"/>
              </a:rPr>
              <a:t>407 M</a:t>
            </a:r>
            <a:r>
              <a:rPr sz="3200" b="0" i="0">
                <a:solidFill>
                  <a:srgbClr val="6F6F6F"/>
                </a:solidFill>
                <a:latin typeface="Times New Roman"/>
              </a:rPr>
              <a:t>   vectors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794690" y="918972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LAION-400M · CLIP · R@100, no reranking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794690" y="9875520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794690" y="9875520"/>
            <a:ext cx="5054229" cy="73152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977570" y="9875520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651456" y="987552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794690" y="10771632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794690" y="10771632"/>
            <a:ext cx="6692174" cy="73152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977570" y="10771632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PMC   (+32%)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651456" y="10771632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94690" y="1179576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with exact reranking K′ = 400:   .198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.277   (+40%)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794690" y="12801600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794690" y="13002768"/>
            <a:ext cx="39489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MSCOCO · CLIP-L · i→t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743664" y="12911328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6F6F6F"/>
                </a:solidFill>
                <a:latin typeface="Times New Roman"/>
              </a:rPr>
              <a:t>.47 → </a:t>
            </a:r>
            <a:r>
              <a:rPr sz="33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700" b="1" i="0">
                <a:solidFill>
                  <a:srgbClr val="0D4DA3"/>
                </a:solidFill>
                <a:latin typeface="Times New Roman"/>
              </a:rPr>
              <a:t>    +34%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794690" y="13825728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794690" y="14026896"/>
            <a:ext cx="39489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Flickr30K · CLIP-L · i→t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743664" y="13935456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6F6F6F"/>
                </a:solidFill>
                <a:latin typeface="Times New Roman"/>
              </a:rPr>
              <a:t>.33 → </a:t>
            </a:r>
            <a:r>
              <a:rPr sz="33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700" b="1" i="0">
                <a:solidFill>
                  <a:srgbClr val="0D4DA3"/>
                </a:solidFill>
                <a:latin typeface="Times New Roman"/>
              </a:rPr>
              <a:t>    +45%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794690" y="14849856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794690" y="15051024"/>
            <a:ext cx="39489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MSCOCO · ImageBind · t→i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743664" y="14959584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6F6F6F"/>
                </a:solidFill>
                <a:latin typeface="Times New Roman"/>
              </a:rPr>
              <a:t>.67 → </a:t>
            </a:r>
            <a:r>
              <a:rPr sz="33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700" b="1" i="0">
                <a:solidFill>
                  <a:srgbClr val="0D4DA3"/>
                </a:solidFill>
                <a:latin typeface="Times New Roman"/>
              </a:rPr>
              <a:t>    +12%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794690" y="15873984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794690" y="16239744"/>
            <a:ext cx="852097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5 benchmarks · 3 encoders · 4 BQ index types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R@100 improved or matched in all 16 BQ configurations;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400" b="1" i="0">
                <a:solidFill>
                  <a:srgbClr val="0D4DA3"/>
                </a:solidFill>
                <a:latin typeface="Times New Roman"/>
              </a:rPr>
              <a:t>best in all 14 configurations at R@10.</a:t>
            </a:r>
          </a:p>
        </p:txBody>
      </p:sp>
      <p:pic>
        <p:nvPicPr>
          <p:cNvPr id="77" name="Picture 76" descr="asset_fig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94690" y="18388584"/>
            <a:ext cx="8520974" cy="6563834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0794690" y="25135298"/>
            <a:ext cx="8520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QPS tracks Vanilla at every n</a:t>
            </a:r>
            <a:r>
              <a:rPr sz="1512" b="0" i="1" baseline="-25000">
                <a:solidFill>
                  <a:srgbClr val="6F6F6F"/>
                </a:solidFill>
                <a:latin typeface="Times New Roman"/>
              </a:rPr>
              <a:t>probe</a:t>
            </a:r>
            <a:r>
              <a:rPr sz="2100" b="0" i="1">
                <a:solidFill>
                  <a:srgbClr val="6F6F6F"/>
                </a:solidFill>
                <a:latin typeface="Times New Roman"/>
              </a:rPr>
              <a:t> — PMC adds no per-query work.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0120" y="26883360"/>
            <a:ext cx="28355544" cy="152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76709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76282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60120" y="27340560"/>
            <a:ext cx="1034977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4.  Why it works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60120" y="28392120"/>
            <a:ext cx="1034977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asset_fig3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28940760"/>
            <a:ext cx="10349773" cy="809338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0120" y="37537063"/>
            <a:ext cx="1034977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0D4DA3"/>
                </a:solidFill>
                <a:latin typeface="Times New Roman"/>
              </a:rPr>
              <a:t>Correcting 5% of dimensions can already be enough.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0120" y="38862943"/>
            <a:ext cx="1034977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CLIP’s gap energy is concentrated (top 10% ≈ 86–92%), so selective PMC on the highest-|g</a:t>
            </a:r>
            <a:r>
              <a:rPr sz="1872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| dimensions recovers peak recall. ImageBind’s diffuse gap (≈72%) needs the full vector — exactly what the flip-risk analysis predicts.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224293" y="27340560"/>
            <a:ext cx="808133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5.  Where to correct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2224293" y="28392120"/>
            <a:ext cx="8081330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224293" y="28757880"/>
            <a:ext cx="80813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MSCOCO · CLIP-B/32 · IVF-RaBitQ · R@100 (t→i)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2224293" y="29489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2224293" y="29489400"/>
            <a:ext cx="4279806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2407173" y="29489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641415" y="29489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.578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224293" y="30632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224293" y="30632400"/>
            <a:ext cx="3042675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407173" y="30632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Query-only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41415" y="30632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.541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2224293" y="31775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224293" y="31775400"/>
            <a:ext cx="4981962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407173" y="31775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Both sides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8641415" y="31775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.599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407173" y="32918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DB-only  (PMC)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641415" y="32918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.637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224293" y="34655760"/>
            <a:ext cx="808133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Shifting both sides re-displaces the routing pivot.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900" b="1" i="0">
                <a:solidFill>
                  <a:srgbClr val="8B0029"/>
                </a:solidFill>
                <a:latin typeface="Times New Roman"/>
              </a:rPr>
              <a:t>Correct the centroid where it controls both routing and code formation.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400" b="0" i="0">
                <a:solidFill>
                  <a:srgbClr val="6F6F6F"/>
                </a:solidFill>
                <a:latin typeface="Times New Roman"/>
              </a:rPr>
              <a:t>Random, shuffled, sign-flipped and un-normalized controls all trail DB-PMC.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1220023" y="27340560"/>
            <a:ext cx="8095641" cy="13862304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220023" y="27340560"/>
            <a:ext cx="8095641" cy="508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1768663" y="27889200"/>
            <a:ext cx="699836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8B0029"/>
                </a:solidFill>
                <a:latin typeface="Times New Roman"/>
              </a:rPr>
              <a:t>Takeaway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768663" y="29077920"/>
            <a:ext cx="699836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300" b="1" i="0">
                <a:solidFill>
                  <a:srgbClr val="1F1F1F"/>
                </a:solidFill>
                <a:latin typeface="Times New Roman"/>
              </a:rPr>
              <a:t>A one-time, database-side centroid correction repairs IVF routing and binary quantization together — without changing the serving path.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1768663" y="33421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2299015" y="33284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Recall gains scale with the gap ‖g‖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1768663" y="34564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2299015" y="34427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query-time transform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1768663" y="35707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2299015" y="35570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additional index memory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1768663" y="36850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299015" y="36713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Validated at 407M-vector scale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60120" y="41522904"/>
            <a:ext cx="2835554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60120" y="41815512"/>
            <a:ext cx="28355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0" i="0">
                <a:solidFill>
                  <a:srgbClr val="6F6F6F"/>
                </a:solidFill>
                <a:latin typeface="Times New Roman"/>
              </a:rPr>
              <a:t>CIKM ’26 · November 07–11, 2026 · Rome, Italy          DOI 10.1145/3799682.3840007          CC-BY 4.0          Supported by the NRF of Korea (MSIT), No. 00359638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