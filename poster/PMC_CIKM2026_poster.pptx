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0  otherwise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608384"/>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1800" b="1" i="0" baseline="-25000">
                <a:solidFill>
                  <a:srgbClr val="1F1F1F"/>
                </a:solidFill>
                <a:latin typeface="Times New Roman"/>
              </a:rPr>
              <a:t>i ∈ S(P)</a:t>
            </a:r>
            <a:r>
              <a:rPr sz="2500" b="1" i="0">
                <a:solidFill>
                  <a:srgbClr val="1F1F1F"/>
                </a:solidFill>
                <a:latin typeface="Times New Roman"/>
              </a:rPr>
              <a:t> g</a:t>
            </a:r>
            <a:r>
              <a:rPr sz="1800" b="1" i="0" baseline="-25000">
                <a:solidFill>
                  <a:srgbClr val="1F1F1F"/>
                </a:solidFill>
                <a:latin typeface="Times New Roman"/>
              </a:rPr>
              <a:t>i</a:t>
            </a:r>
            <a:r>
              <a:rPr sz="2500" b="1" i="0">
                <a:solidFill>
                  <a:srgbClr val="1F1F1F"/>
                </a:solidFill>
                <a:latin typeface="Times New Roman"/>
              </a:rPr>
              <a:t>²  /  ‖g‖² ,      S(P) = { i :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a:t>
            </a:r>
          </a:p>
        </p:txBody>
      </p:sp>
      <p:sp>
        <p:nvSpPr>
          <p:cNvPr id="41" name="TextBox 40"/>
          <p:cNvSpPr txBox="1"/>
          <p:nvPr/>
        </p:nvSpPr>
        <p:spPr>
          <a:xfrm>
            <a:off x="777240" y="3707320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cumulative gap energy captured by the selected dimensions</a:t>
            </a:r>
          </a:p>
        </p:txBody>
      </p:sp>
      <p:sp>
        <p:nvSpPr>
          <p:cNvPr id="42" name="TextBox 41"/>
          <p:cNvSpPr txBox="1"/>
          <p:nvPr/>
        </p:nvSpPr>
        <p:spPr>
          <a:xfrm>
            <a:off x="777240" y="3760965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3" name="TextBox 42"/>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4" name="Rectangle 43"/>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6" name="TextBox 45"/>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7" name="TextBox 46"/>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8" name="Rectangle 47"/>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0" name="TextBox 49"/>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1" name="TextBox 50"/>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2" name="Rectangle 51"/>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4" name="Rectangle 53"/>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6" name="TextBox 55"/>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57" name="TextBox 56"/>
          <p:cNvSpPr txBox="1"/>
          <p:nvPr/>
        </p:nvSpPr>
        <p:spPr>
          <a:xfrm>
            <a:off x="20080224" y="18445402"/>
            <a:ext cx="2148840" cy="365760"/>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58" name="TextBox 57"/>
          <p:cNvSpPr txBox="1"/>
          <p:nvPr/>
        </p:nvSpPr>
        <p:spPr>
          <a:xfrm>
            <a:off x="22229064" y="18445402"/>
            <a:ext cx="2148840" cy="365760"/>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59" name="TextBox 58"/>
          <p:cNvSpPr txBox="1"/>
          <p:nvPr/>
        </p:nvSpPr>
        <p:spPr>
          <a:xfrm>
            <a:off x="25200864" y="18445402"/>
            <a:ext cx="2148840" cy="365760"/>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60" name="TextBox 59"/>
          <p:cNvSpPr txBox="1"/>
          <p:nvPr/>
        </p:nvSpPr>
        <p:spPr>
          <a:xfrm>
            <a:off x="27349704" y="18445402"/>
            <a:ext cx="2148840" cy="365760"/>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61" name="Rectangle 60"/>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3" name="TextBox 62"/>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4" name="TextBox 63"/>
          <p:cNvSpPr txBox="1"/>
          <p:nvPr/>
        </p:nvSpPr>
        <p:spPr>
          <a:xfrm>
            <a:off x="20080224" y="18885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.36→</a:t>
            </a:r>
            <a:r>
              <a:rPr sz="2000" b="1" i="0">
                <a:solidFill>
                  <a:srgbClr val="0D4DA3"/>
                </a:solidFill>
                <a:latin typeface="Times New Roman"/>
              </a:rPr>
              <a:t>.48</a:t>
            </a:r>
            <a:r>
              <a:rPr sz="1700" b="1" i="0">
                <a:solidFill>
                  <a:srgbClr val="0D4DA3"/>
                </a:solidFill>
                <a:latin typeface="Times New Roman"/>
              </a:rPr>
              <a:t> +33%</a:t>
            </a:r>
          </a:p>
        </p:txBody>
      </p:sp>
      <p:sp>
        <p:nvSpPr>
          <p:cNvPr id="65" name="TextBox 64"/>
          <p:cNvSpPr txBox="1"/>
          <p:nvPr/>
        </p:nvSpPr>
        <p:spPr>
          <a:xfrm>
            <a:off x="22229064" y="18885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.55→</a:t>
            </a:r>
            <a:r>
              <a:rPr sz="2000" b="1" i="0">
                <a:solidFill>
                  <a:srgbClr val="0D4DA3"/>
                </a:solidFill>
                <a:latin typeface="Times New Roman"/>
              </a:rPr>
              <a:t>.65</a:t>
            </a:r>
            <a:r>
              <a:rPr sz="1700" b="1" i="0">
                <a:solidFill>
                  <a:srgbClr val="0D4DA3"/>
                </a:solidFill>
                <a:latin typeface="Times New Roman"/>
              </a:rPr>
              <a:t> +18%</a:t>
            </a:r>
          </a:p>
        </p:txBody>
      </p:sp>
      <p:sp>
        <p:nvSpPr>
          <p:cNvPr id="66" name="TextBox 65"/>
          <p:cNvSpPr txBox="1"/>
          <p:nvPr/>
        </p:nvSpPr>
        <p:spPr>
          <a:xfrm>
            <a:off x="25200864" y="18885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.26→</a:t>
            </a:r>
            <a:r>
              <a:rPr sz="2000" b="1" i="0">
                <a:solidFill>
                  <a:srgbClr val="0D4DA3"/>
                </a:solidFill>
                <a:latin typeface="Times New Roman"/>
              </a:rPr>
              <a:t>.44</a:t>
            </a:r>
            <a:r>
              <a:rPr sz="1700" b="1" i="0">
                <a:solidFill>
                  <a:srgbClr val="0D4DA3"/>
                </a:solidFill>
                <a:latin typeface="Times New Roman"/>
              </a:rPr>
              <a:t> +69%</a:t>
            </a:r>
          </a:p>
        </p:txBody>
      </p:sp>
      <p:sp>
        <p:nvSpPr>
          <p:cNvPr id="67" name="TextBox 66"/>
          <p:cNvSpPr txBox="1"/>
          <p:nvPr/>
        </p:nvSpPr>
        <p:spPr>
          <a:xfrm>
            <a:off x="27349704" y="18885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.47→</a:t>
            </a:r>
            <a:r>
              <a:rPr sz="2000" b="1" i="0">
                <a:solidFill>
                  <a:srgbClr val="0D4DA3"/>
                </a:solidFill>
                <a:latin typeface="Times New Roman"/>
              </a:rPr>
              <a:t>.63</a:t>
            </a:r>
            <a:r>
              <a:rPr sz="1700" b="1" i="0">
                <a:solidFill>
                  <a:srgbClr val="0D4DA3"/>
                </a:solidFill>
                <a:latin typeface="Times New Roman"/>
              </a:rPr>
              <a:t> +34%</a:t>
            </a:r>
          </a:p>
        </p:txBody>
      </p:sp>
      <p:sp>
        <p:nvSpPr>
          <p:cNvPr id="68" name="Rectangle 67"/>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0" name="TextBox 69"/>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1" name="TextBox 70"/>
          <p:cNvSpPr txBox="1"/>
          <p:nvPr/>
        </p:nvSpPr>
        <p:spPr>
          <a:xfrm>
            <a:off x="20080224" y="19342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.40→</a:t>
            </a:r>
            <a:r>
              <a:rPr sz="2000" b="1" i="0">
                <a:solidFill>
                  <a:srgbClr val="0D4DA3"/>
                </a:solidFill>
                <a:latin typeface="Times New Roman"/>
              </a:rPr>
              <a:t>.46</a:t>
            </a:r>
            <a:r>
              <a:rPr sz="1700" b="1" i="0">
                <a:solidFill>
                  <a:srgbClr val="0D4DA3"/>
                </a:solidFill>
                <a:latin typeface="Times New Roman"/>
              </a:rPr>
              <a:t> +15%</a:t>
            </a:r>
          </a:p>
        </p:txBody>
      </p:sp>
      <p:sp>
        <p:nvSpPr>
          <p:cNvPr id="72" name="TextBox 71"/>
          <p:cNvSpPr txBox="1"/>
          <p:nvPr/>
        </p:nvSpPr>
        <p:spPr>
          <a:xfrm>
            <a:off x="22229064" y="19342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.58→</a:t>
            </a:r>
            <a:r>
              <a:rPr sz="2000" b="1" i="0">
                <a:solidFill>
                  <a:srgbClr val="0D4DA3"/>
                </a:solidFill>
                <a:latin typeface="Times New Roman"/>
              </a:rPr>
              <a:t>.63</a:t>
            </a:r>
            <a:r>
              <a:rPr sz="1700" b="1" i="0">
                <a:solidFill>
                  <a:srgbClr val="0D4DA3"/>
                </a:solidFill>
                <a:latin typeface="Times New Roman"/>
              </a:rPr>
              <a:t> +9%</a:t>
            </a:r>
          </a:p>
        </p:txBody>
      </p:sp>
      <p:sp>
        <p:nvSpPr>
          <p:cNvPr id="73" name="TextBox 72"/>
          <p:cNvSpPr txBox="1"/>
          <p:nvPr/>
        </p:nvSpPr>
        <p:spPr>
          <a:xfrm>
            <a:off x="25200864" y="19342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.29→</a:t>
            </a:r>
            <a:r>
              <a:rPr sz="2000" b="1" i="0">
                <a:solidFill>
                  <a:srgbClr val="0D4DA3"/>
                </a:solidFill>
                <a:latin typeface="Times New Roman"/>
              </a:rPr>
              <a:t>.39</a:t>
            </a:r>
            <a:r>
              <a:rPr sz="1700" b="1" i="0">
                <a:solidFill>
                  <a:srgbClr val="0D4DA3"/>
                </a:solidFill>
                <a:latin typeface="Times New Roman"/>
              </a:rPr>
              <a:t> +34%</a:t>
            </a:r>
          </a:p>
        </p:txBody>
      </p:sp>
      <p:sp>
        <p:nvSpPr>
          <p:cNvPr id="74" name="TextBox 73"/>
          <p:cNvSpPr txBox="1"/>
          <p:nvPr/>
        </p:nvSpPr>
        <p:spPr>
          <a:xfrm>
            <a:off x="27349704" y="19342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.50→</a:t>
            </a:r>
            <a:r>
              <a:rPr sz="2000" b="1" i="0">
                <a:solidFill>
                  <a:srgbClr val="0D4DA3"/>
                </a:solidFill>
                <a:latin typeface="Times New Roman"/>
              </a:rPr>
              <a:t>.60</a:t>
            </a:r>
            <a:r>
              <a:rPr sz="1700" b="1" i="0">
                <a:solidFill>
                  <a:srgbClr val="0D4DA3"/>
                </a:solidFill>
                <a:latin typeface="Times New Roman"/>
              </a:rPr>
              <a:t> +20%</a:t>
            </a:r>
          </a:p>
        </p:txBody>
      </p:sp>
      <p:sp>
        <p:nvSpPr>
          <p:cNvPr id="75" name="Rectangle 74"/>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77" name="TextBox 76"/>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78" name="TextBox 77"/>
          <p:cNvSpPr txBox="1"/>
          <p:nvPr/>
        </p:nvSpPr>
        <p:spPr>
          <a:xfrm>
            <a:off x="20080224" y="197994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.31→</a:t>
            </a:r>
            <a:r>
              <a:rPr sz="2000" b="1" i="0">
                <a:solidFill>
                  <a:srgbClr val="0D4DA3"/>
                </a:solidFill>
                <a:latin typeface="Times New Roman"/>
              </a:rPr>
              <a:t>.38</a:t>
            </a:r>
            <a:r>
              <a:rPr sz="1700" b="1" i="0">
                <a:solidFill>
                  <a:srgbClr val="0D4DA3"/>
                </a:solidFill>
                <a:latin typeface="Times New Roman"/>
              </a:rPr>
              <a:t> +23%</a:t>
            </a:r>
          </a:p>
        </p:txBody>
      </p:sp>
      <p:sp>
        <p:nvSpPr>
          <p:cNvPr id="79" name="TextBox 78"/>
          <p:cNvSpPr txBox="1"/>
          <p:nvPr/>
        </p:nvSpPr>
        <p:spPr>
          <a:xfrm>
            <a:off x="22229064" y="197994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.41→</a:t>
            </a:r>
            <a:r>
              <a:rPr sz="2000" b="1" i="0">
                <a:solidFill>
                  <a:srgbClr val="0D4DA3"/>
                </a:solidFill>
                <a:latin typeface="Times New Roman"/>
              </a:rPr>
              <a:t>.48</a:t>
            </a:r>
            <a:r>
              <a:rPr sz="1700" b="1" i="0">
                <a:solidFill>
                  <a:srgbClr val="0D4DA3"/>
                </a:solidFill>
                <a:latin typeface="Times New Roman"/>
              </a:rPr>
              <a:t> +17%</a:t>
            </a:r>
          </a:p>
        </p:txBody>
      </p:sp>
      <p:sp>
        <p:nvSpPr>
          <p:cNvPr id="80" name="TextBox 79"/>
          <p:cNvSpPr txBox="1"/>
          <p:nvPr/>
        </p:nvSpPr>
        <p:spPr>
          <a:xfrm>
            <a:off x="25200864" y="197994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.22→</a:t>
            </a:r>
            <a:r>
              <a:rPr sz="2000" b="1" i="0">
                <a:solidFill>
                  <a:srgbClr val="0D4DA3"/>
                </a:solidFill>
                <a:latin typeface="Times New Roman"/>
              </a:rPr>
              <a:t>.38</a:t>
            </a:r>
            <a:r>
              <a:rPr sz="1700" b="1" i="0">
                <a:solidFill>
                  <a:srgbClr val="0D4DA3"/>
                </a:solidFill>
                <a:latin typeface="Times New Roman"/>
              </a:rPr>
              <a:t> +73%</a:t>
            </a:r>
          </a:p>
        </p:txBody>
      </p:sp>
      <p:sp>
        <p:nvSpPr>
          <p:cNvPr id="81" name="TextBox 80"/>
          <p:cNvSpPr txBox="1"/>
          <p:nvPr/>
        </p:nvSpPr>
        <p:spPr>
          <a:xfrm>
            <a:off x="27349704" y="197994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.33→</a:t>
            </a:r>
            <a:r>
              <a:rPr sz="2000" b="1" i="0">
                <a:solidFill>
                  <a:srgbClr val="0D4DA3"/>
                </a:solidFill>
                <a:latin typeface="Times New Roman"/>
              </a:rPr>
              <a:t>.48</a:t>
            </a:r>
            <a:r>
              <a:rPr sz="1700" b="1" i="0">
                <a:solidFill>
                  <a:srgbClr val="0D4DA3"/>
                </a:solidFill>
                <a:latin typeface="Times New Roman"/>
              </a:rPr>
              <a:t> +45%</a:t>
            </a:r>
          </a:p>
        </p:txBody>
      </p:sp>
      <p:sp>
        <p:nvSpPr>
          <p:cNvPr id="82" name="Rectangle 81"/>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4" name="TextBox 83"/>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5" name="TextBox 84"/>
          <p:cNvSpPr txBox="1"/>
          <p:nvPr/>
        </p:nvSpPr>
        <p:spPr>
          <a:xfrm>
            <a:off x="20080224" y="202566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.075→</a:t>
            </a:r>
            <a:r>
              <a:rPr sz="2000" b="1" i="0">
                <a:solidFill>
                  <a:srgbClr val="0D4DA3"/>
                </a:solidFill>
                <a:latin typeface="Times New Roman"/>
              </a:rPr>
              <a:t>.086</a:t>
            </a:r>
            <a:r>
              <a:rPr sz="1700" b="1" i="0">
                <a:solidFill>
                  <a:srgbClr val="0D4DA3"/>
                </a:solidFill>
                <a:latin typeface="Times New Roman"/>
              </a:rPr>
              <a:t> +15%</a:t>
            </a:r>
          </a:p>
        </p:txBody>
      </p:sp>
      <p:sp>
        <p:nvSpPr>
          <p:cNvPr id="86" name="TextBox 85"/>
          <p:cNvSpPr txBox="1"/>
          <p:nvPr/>
        </p:nvSpPr>
        <p:spPr>
          <a:xfrm>
            <a:off x="22229064" y="202566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.108→</a:t>
            </a:r>
            <a:r>
              <a:rPr sz="2000" b="1" i="0">
                <a:solidFill>
                  <a:srgbClr val="0D4DA3"/>
                </a:solidFill>
                <a:latin typeface="Times New Roman"/>
              </a:rPr>
              <a:t>.143</a:t>
            </a:r>
            <a:r>
              <a:rPr sz="1700" b="1" i="0">
                <a:solidFill>
                  <a:srgbClr val="0D4DA3"/>
                </a:solidFill>
                <a:latin typeface="Times New Roman"/>
              </a:rPr>
              <a:t> +32%</a:t>
            </a:r>
          </a:p>
        </p:txBody>
      </p:sp>
      <p:sp>
        <p:nvSpPr>
          <p:cNvPr id="87" name="TextBox 86"/>
          <p:cNvSpPr txBox="1"/>
          <p:nvPr/>
        </p:nvSpPr>
        <p:spPr>
          <a:xfrm>
            <a:off x="25200864" y="202566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.035→</a:t>
            </a:r>
            <a:r>
              <a:rPr sz="2000" b="1" i="0">
                <a:solidFill>
                  <a:srgbClr val="0D4DA3"/>
                </a:solidFill>
                <a:latin typeface="Times New Roman"/>
              </a:rPr>
              <a:t>.048</a:t>
            </a:r>
            <a:r>
              <a:rPr sz="1700" b="1" i="0">
                <a:solidFill>
                  <a:srgbClr val="0D4DA3"/>
                </a:solidFill>
                <a:latin typeface="Times New Roman"/>
              </a:rPr>
              <a:t> +37%</a:t>
            </a:r>
          </a:p>
        </p:txBody>
      </p:sp>
      <p:sp>
        <p:nvSpPr>
          <p:cNvPr id="88" name="TextBox 87"/>
          <p:cNvSpPr txBox="1"/>
          <p:nvPr/>
        </p:nvSpPr>
        <p:spPr>
          <a:xfrm>
            <a:off x="27349704" y="202566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.069→</a:t>
            </a:r>
            <a:r>
              <a:rPr sz="2000" b="1" i="0">
                <a:solidFill>
                  <a:srgbClr val="0D4DA3"/>
                </a:solidFill>
                <a:latin typeface="Times New Roman"/>
              </a:rPr>
              <a:t>.073</a:t>
            </a:r>
            <a:r>
              <a:rPr sz="1700" b="1" i="0">
                <a:solidFill>
                  <a:srgbClr val="0D4DA3"/>
                </a:solidFill>
                <a:latin typeface="Times New Roman"/>
              </a:rPr>
              <a:t> +6%</a:t>
            </a:r>
          </a:p>
        </p:txBody>
      </p:sp>
      <p:sp>
        <p:nvSpPr>
          <p:cNvPr id="89" name="Rectangle 88"/>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1" name="TextBox 90"/>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2" name="TextBox 91"/>
          <p:cNvSpPr txBox="1"/>
          <p:nvPr/>
        </p:nvSpPr>
        <p:spPr>
          <a:xfrm>
            <a:off x="20080224" y="207138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.55→</a:t>
            </a:r>
            <a:r>
              <a:rPr sz="2000" b="1" i="0">
                <a:solidFill>
                  <a:srgbClr val="0D4DA3"/>
                </a:solidFill>
                <a:latin typeface="Times New Roman"/>
              </a:rPr>
              <a:t>.63</a:t>
            </a:r>
            <a:r>
              <a:rPr sz="1700" b="1" i="0">
                <a:solidFill>
                  <a:srgbClr val="0D4DA3"/>
                </a:solidFill>
                <a:latin typeface="Times New Roman"/>
              </a:rPr>
              <a:t> +15%</a:t>
            </a:r>
          </a:p>
        </p:txBody>
      </p:sp>
      <p:sp>
        <p:nvSpPr>
          <p:cNvPr id="93" name="TextBox 92"/>
          <p:cNvSpPr txBox="1"/>
          <p:nvPr/>
        </p:nvSpPr>
        <p:spPr>
          <a:xfrm>
            <a:off x="22229064" y="207138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.67→</a:t>
            </a:r>
            <a:r>
              <a:rPr sz="2000" b="1" i="0">
                <a:solidFill>
                  <a:srgbClr val="0D4DA3"/>
                </a:solidFill>
                <a:latin typeface="Times New Roman"/>
              </a:rPr>
              <a:t>.75</a:t>
            </a:r>
            <a:r>
              <a:rPr sz="1700" b="1" i="0">
                <a:solidFill>
                  <a:srgbClr val="0D4DA3"/>
                </a:solidFill>
                <a:latin typeface="Times New Roman"/>
              </a:rPr>
              <a:t> +12%</a:t>
            </a:r>
          </a:p>
        </p:txBody>
      </p:sp>
      <p:sp>
        <p:nvSpPr>
          <p:cNvPr id="94" name="TextBox 93"/>
          <p:cNvSpPr txBox="1"/>
          <p:nvPr/>
        </p:nvSpPr>
        <p:spPr>
          <a:xfrm>
            <a:off x="25200864" y="207138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.57→</a:t>
            </a:r>
            <a:r>
              <a:rPr sz="2000" b="1" i="0">
                <a:solidFill>
                  <a:srgbClr val="0D4DA3"/>
                </a:solidFill>
                <a:latin typeface="Times New Roman"/>
              </a:rPr>
              <a:t>.64</a:t>
            </a:r>
            <a:r>
              <a:rPr sz="1700" b="1" i="0">
                <a:solidFill>
                  <a:srgbClr val="0D4DA3"/>
                </a:solidFill>
                <a:latin typeface="Times New Roman"/>
              </a:rPr>
              <a:t> +12%</a:t>
            </a:r>
          </a:p>
        </p:txBody>
      </p:sp>
      <p:sp>
        <p:nvSpPr>
          <p:cNvPr id="95" name="TextBox 94"/>
          <p:cNvSpPr txBox="1"/>
          <p:nvPr/>
        </p:nvSpPr>
        <p:spPr>
          <a:xfrm>
            <a:off x="27349704" y="207138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.71→</a:t>
            </a:r>
            <a:r>
              <a:rPr sz="2000" b="1" i="0">
                <a:solidFill>
                  <a:srgbClr val="0D4DA3"/>
                </a:solidFill>
                <a:latin typeface="Times New Roman"/>
              </a:rPr>
              <a:t>.75</a:t>
            </a:r>
            <a:r>
              <a:rPr sz="1700" b="1" i="0">
                <a:solidFill>
                  <a:srgbClr val="0D4DA3"/>
                </a:solidFill>
                <a:latin typeface="Times New Roman"/>
              </a:rPr>
              <a:t> +6%</a:t>
            </a:r>
          </a:p>
        </p:txBody>
      </p:sp>
      <p:sp>
        <p:nvSpPr>
          <p:cNvPr id="96" name="Rectangle 95"/>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98" name="TextBox 97"/>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99" name="TextBox 98"/>
          <p:cNvSpPr txBox="1"/>
          <p:nvPr/>
        </p:nvSpPr>
        <p:spPr>
          <a:xfrm>
            <a:off x="20080224" y="21171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.59→</a:t>
            </a:r>
            <a:r>
              <a:rPr sz="2000" b="1" i="0">
                <a:solidFill>
                  <a:srgbClr val="0D4DA3"/>
                </a:solidFill>
                <a:latin typeface="Times New Roman"/>
              </a:rPr>
              <a:t>.60</a:t>
            </a:r>
            <a:r>
              <a:rPr sz="1700" b="1" i="0">
                <a:solidFill>
                  <a:srgbClr val="0D4DA3"/>
                </a:solidFill>
                <a:latin typeface="Times New Roman"/>
              </a:rPr>
              <a:t> +2%</a:t>
            </a:r>
          </a:p>
        </p:txBody>
      </p:sp>
      <p:sp>
        <p:nvSpPr>
          <p:cNvPr id="100" name="TextBox 99"/>
          <p:cNvSpPr txBox="1"/>
          <p:nvPr/>
        </p:nvSpPr>
        <p:spPr>
          <a:xfrm>
            <a:off x="22229064" y="21171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.72→</a:t>
            </a:r>
            <a:r>
              <a:rPr sz="2000" b="1" i="0">
                <a:solidFill>
                  <a:srgbClr val="0D4DA3"/>
                </a:solidFill>
                <a:latin typeface="Times New Roman"/>
              </a:rPr>
              <a:t>.73</a:t>
            </a:r>
            <a:r>
              <a:rPr sz="1700" b="1" i="0">
                <a:solidFill>
                  <a:srgbClr val="0D4DA3"/>
                </a:solidFill>
                <a:latin typeface="Times New Roman"/>
              </a:rPr>
              <a:t> +1%</a:t>
            </a:r>
          </a:p>
        </p:txBody>
      </p:sp>
      <p:sp>
        <p:nvSpPr>
          <p:cNvPr id="101" name="TextBox 100"/>
          <p:cNvSpPr txBox="1"/>
          <p:nvPr/>
        </p:nvSpPr>
        <p:spPr>
          <a:xfrm>
            <a:off x="25200864" y="21171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.48→</a:t>
            </a:r>
            <a:r>
              <a:rPr sz="2000" b="1" i="0">
                <a:solidFill>
                  <a:srgbClr val="0D4DA3"/>
                </a:solidFill>
                <a:latin typeface="Times New Roman"/>
              </a:rPr>
              <a:t>.54</a:t>
            </a:r>
            <a:r>
              <a:rPr sz="1700" b="1" i="0">
                <a:solidFill>
                  <a:srgbClr val="0D4DA3"/>
                </a:solidFill>
                <a:latin typeface="Times New Roman"/>
              </a:rPr>
              <a:t> +13%</a:t>
            </a:r>
          </a:p>
        </p:txBody>
      </p:sp>
      <p:sp>
        <p:nvSpPr>
          <p:cNvPr id="102" name="TextBox 101"/>
          <p:cNvSpPr txBox="1"/>
          <p:nvPr/>
        </p:nvSpPr>
        <p:spPr>
          <a:xfrm>
            <a:off x="27349704" y="211710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.62→</a:t>
            </a:r>
            <a:r>
              <a:rPr sz="2000" b="1" i="0">
                <a:solidFill>
                  <a:srgbClr val="0D4DA3"/>
                </a:solidFill>
                <a:latin typeface="Times New Roman"/>
              </a:rPr>
              <a:t>.69</a:t>
            </a:r>
            <a:r>
              <a:rPr sz="1700" b="1" i="0">
                <a:solidFill>
                  <a:srgbClr val="0D4DA3"/>
                </a:solidFill>
                <a:latin typeface="Times New Roman"/>
              </a:rPr>
              <a:t> +11%</a:t>
            </a:r>
          </a:p>
        </p:txBody>
      </p:sp>
      <p:sp>
        <p:nvSpPr>
          <p:cNvPr id="103" name="Rectangle 102"/>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5" name="TextBox 104"/>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6" name="TextBox 105"/>
          <p:cNvSpPr txBox="1"/>
          <p:nvPr/>
        </p:nvSpPr>
        <p:spPr>
          <a:xfrm>
            <a:off x="20080224" y="21628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.39→</a:t>
            </a:r>
            <a:r>
              <a:rPr sz="2000" b="1" i="0">
                <a:solidFill>
                  <a:srgbClr val="0D4DA3"/>
                </a:solidFill>
                <a:latin typeface="Times New Roman"/>
              </a:rPr>
              <a:t>.44</a:t>
            </a:r>
            <a:r>
              <a:rPr sz="1700" b="1" i="0">
                <a:solidFill>
                  <a:srgbClr val="0D4DA3"/>
                </a:solidFill>
                <a:latin typeface="Times New Roman"/>
              </a:rPr>
              <a:t> +13%</a:t>
            </a:r>
          </a:p>
        </p:txBody>
      </p:sp>
      <p:sp>
        <p:nvSpPr>
          <p:cNvPr id="107" name="TextBox 106"/>
          <p:cNvSpPr txBox="1"/>
          <p:nvPr/>
        </p:nvSpPr>
        <p:spPr>
          <a:xfrm>
            <a:off x="22229064" y="21628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.75→</a:t>
            </a:r>
            <a:r>
              <a:rPr sz="2000" b="1" i="0">
                <a:solidFill>
                  <a:srgbClr val="0D4DA3"/>
                </a:solidFill>
                <a:latin typeface="Times New Roman"/>
              </a:rPr>
              <a:t>.78</a:t>
            </a:r>
            <a:r>
              <a:rPr sz="1700" b="1" i="0">
                <a:solidFill>
                  <a:srgbClr val="0D4DA3"/>
                </a:solidFill>
                <a:latin typeface="Times New Roman"/>
              </a:rPr>
              <a:t> +4%</a:t>
            </a:r>
          </a:p>
        </p:txBody>
      </p:sp>
      <p:sp>
        <p:nvSpPr>
          <p:cNvPr id="108" name="TextBox 107"/>
          <p:cNvSpPr txBox="1"/>
          <p:nvPr/>
        </p:nvSpPr>
        <p:spPr>
          <a:xfrm>
            <a:off x="25200864" y="21628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.44→</a:t>
            </a:r>
            <a:r>
              <a:rPr sz="2000" b="1" i="0">
                <a:solidFill>
                  <a:srgbClr val="0D4DA3"/>
                </a:solidFill>
                <a:latin typeface="Times New Roman"/>
              </a:rPr>
              <a:t>.48</a:t>
            </a:r>
            <a:r>
              <a:rPr sz="1700" b="1" i="0">
                <a:solidFill>
                  <a:srgbClr val="0D4DA3"/>
                </a:solidFill>
                <a:latin typeface="Times New Roman"/>
              </a:rPr>
              <a:t> +9%</a:t>
            </a:r>
          </a:p>
        </p:txBody>
      </p:sp>
      <p:sp>
        <p:nvSpPr>
          <p:cNvPr id="109" name="TextBox 108"/>
          <p:cNvSpPr txBox="1"/>
          <p:nvPr/>
        </p:nvSpPr>
        <p:spPr>
          <a:xfrm>
            <a:off x="27349704" y="21628276"/>
            <a:ext cx="2148840" cy="457200"/>
          </a:xfrm>
          <a:prstGeom prst="rect">
            <a:avLst/>
          </a:prstGeom>
          <a:noFill/>
        </p:spPr>
        <p:txBody>
          <a:bodyPr wrap="none" anchor="ctr" lIns="0" rIns="0" tIns="0" bIns="0">
            <a:spAutoFit/>
          </a:bodyPr>
          <a:lstStyle/>
          <a:p>
            <a:pPr algn="r"/>
            <a:r>
              <a:rPr sz="1700" b="0" i="0">
                <a:solidFill>
                  <a:srgbClr val="6F6F6F"/>
                </a:solidFill>
                <a:latin typeface="Times New Roman"/>
              </a:rPr>
              <a:t>.83→</a:t>
            </a:r>
            <a:r>
              <a:rPr sz="2000" b="1" i="0">
                <a:solidFill>
                  <a:srgbClr val="0D4DA3"/>
                </a:solidFill>
                <a:latin typeface="Times New Roman"/>
              </a:rPr>
              <a:t>.83</a:t>
            </a:r>
            <a:r>
              <a:rPr sz="1700" b="1" i="0">
                <a:solidFill>
                  <a:srgbClr val="0D4DA3"/>
                </a:solidFill>
                <a:latin typeface="Times New Roman"/>
              </a:rPr>
              <a:t> +0%</a:t>
            </a:r>
          </a:p>
        </p:txBody>
      </p:sp>
      <p:sp>
        <p:nvSpPr>
          <p:cNvPr id="110" name="Rectangle 109"/>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0D4DA3"/>
                </a:solidFill>
                <a:latin typeface="Times New Roman"/>
              </a:rPr>
              <a:t>.143 (+32%)</a:t>
            </a:r>
            <a:r>
              <a:rPr sz="2200" b="0" i="0">
                <a:solidFill>
                  <a:srgbClr val="1F1F1F"/>
                </a:solidFill>
                <a:latin typeface="Times New Roman"/>
              </a:rPr>
              <a:t>; with exact reranking the lead carries over, .198 → </a:t>
            </a:r>
            <a:r>
              <a:rPr sz="2200" b="1" i="0">
                <a:solidFill>
                  <a:srgbClr val="0D4DA3"/>
                </a:solidFill>
                <a:latin typeface="Times New Roman"/>
              </a:rPr>
              <a:t>.277 (+40%)</a:t>
            </a:r>
            <a:r>
              <a:rPr sz="2200" b="0" i="0">
                <a:solidFill>
                  <a:srgbClr val="1F1F1F"/>
                </a:solidFill>
                <a:latin typeface="Times New Roman"/>
              </a:rPr>
              <a:t>. Exact rescoring cannot rescue Vanilla — it only re-scores what the corrupted codes already retrieved.</a:t>
            </a:r>
          </a:p>
        </p:txBody>
      </p:sp>
      <p:pic>
        <p:nvPicPr>
          <p:cNvPr id="112" name="Picture 111"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3" name="TextBox 112"/>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4" name="TextBox 113"/>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5" name="Rectangle 114"/>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17" name="TextBox 116"/>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18" name="TextBox 117"/>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19" name="TextBox 118"/>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0" name="Rectangle 119"/>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2" name="TextBox 121"/>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3" name="TextBox 122"/>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.64</a:t>
            </a:r>
          </a:p>
        </p:txBody>
      </p:sp>
      <p:sp>
        <p:nvSpPr>
          <p:cNvPr id="124" name="Rectangle 123"/>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6" name="TextBox 125"/>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7" name="TextBox 126"/>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0D4DA3"/>
                </a:solidFill>
                <a:latin typeface="Times New Roman"/>
              </a:rPr>
              <a:t>.63</a:t>
            </a:r>
          </a:p>
        </p:txBody>
      </p:sp>
      <p:sp>
        <p:nvSpPr>
          <p:cNvPr id="128" name="Rectangle 127"/>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0" name="TextBox 129"/>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0D4DA3"/>
                </a:solidFill>
                <a:latin typeface="Times New Roman"/>
              </a:rPr>
              <a:t>.58</a:t>
            </a:r>
          </a:p>
        </p:txBody>
      </p:sp>
      <p:sp>
        <p:nvSpPr>
          <p:cNvPr id="131" name="TextBox 130"/>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0D4DA3"/>
                </a:solidFill>
                <a:latin typeface="Times New Roman"/>
              </a:rPr>
              <a:t>.69</a:t>
            </a:r>
          </a:p>
        </p:txBody>
      </p:sp>
      <p:sp>
        <p:nvSpPr>
          <p:cNvPr id="132" name="Rectangle 131"/>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4" name="TextBox 133"/>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0D4DA3"/>
                </a:solidFill>
                <a:latin typeface="Times New Roman"/>
              </a:rPr>
              <a:t>.64</a:t>
            </a:r>
          </a:p>
        </p:txBody>
      </p:sp>
      <p:sp>
        <p:nvSpPr>
          <p:cNvPr id="135" name="TextBox 134"/>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0D4DA3"/>
                </a:solidFill>
                <a:latin typeface="Times New Roman"/>
              </a:rPr>
              <a:t>.75</a:t>
            </a:r>
          </a:p>
        </p:txBody>
      </p:sp>
      <p:sp>
        <p:nvSpPr>
          <p:cNvPr id="136" name="Rectangle 135"/>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38" name="TextBox 137"/>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39" name="Rectangle 138"/>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2" name="TextBox 141"/>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3" name="Rectangle 142"/>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6" name="TextBox 145"/>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47" name="Rectangle 146"/>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50" name="TextBox 149"/>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1" name="Rectangle 150"/>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4" name="TextBox 153"/>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5" name="TextBox 154"/>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6" name="Rectangle 155"/>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58" name="Rectangle 157"/>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0" name="Picture 159"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1" name="TextBox 160"/>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2" name="TextBox 161"/>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