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784" cy="4280306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0275784" cy="42803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sset_ielab.png"/>
          <p:cNvPicPr>
            <a:picLocks noChangeAspect="1"/>
          </p:cNvPicPr>
          <p:nvPr/>
        </p:nvPicPr>
        <p:blipFill>
          <a:blip r:embed="rId2"/>
          <a:stretch>
            <a:fillRect/>
          </a:stretch>
        </p:blipFill>
        <p:spPr>
          <a:xfrm>
            <a:off x="26877050" y="594360"/>
            <a:ext cx="2621494" cy="1051560"/>
          </a:xfrm>
          <a:prstGeom prst="rect">
            <a:avLst/>
          </a:prstGeom>
        </p:spPr>
      </p:pic>
      <p:pic>
        <p:nvPicPr>
          <p:cNvPr id="4" name="Picture 3" descr="asset_ku.jpg"/>
          <p:cNvPicPr>
            <a:picLocks noChangeAspect="1"/>
          </p:cNvPicPr>
          <p:nvPr/>
        </p:nvPicPr>
        <p:blipFill>
          <a:blip r:embed="rId3"/>
          <a:stretch>
            <a:fillRect/>
          </a:stretch>
        </p:blipFill>
        <p:spPr>
          <a:xfrm>
            <a:off x="23050566" y="594360"/>
            <a:ext cx="3369284" cy="1051560"/>
          </a:xfrm>
          <a:prstGeom prst="rect">
            <a:avLst/>
          </a:prstGeom>
        </p:spPr>
      </p:pic>
      <p:pic>
        <p:nvPicPr>
          <p:cNvPr id="5" name="Picture 4" descr="asset_qr.png"/>
          <p:cNvPicPr>
            <a:picLocks noChangeAspect="1"/>
          </p:cNvPicPr>
          <p:nvPr/>
        </p:nvPicPr>
        <p:blipFill>
          <a:blip r:embed="rId4"/>
          <a:stretch>
            <a:fillRect/>
          </a:stretch>
        </p:blipFill>
        <p:spPr>
          <a:xfrm>
            <a:off x="27624025" y="2011680"/>
            <a:ext cx="1874519" cy="1874519"/>
          </a:xfrm>
          <a:prstGeom prst="rect">
            <a:avLst/>
          </a:prstGeom>
        </p:spPr>
      </p:pic>
      <p:sp>
        <p:nvSpPr>
          <p:cNvPr id="6" name="TextBox 5"/>
          <p:cNvSpPr txBox="1"/>
          <p:nvPr/>
        </p:nvSpPr>
        <p:spPr>
          <a:xfrm>
            <a:off x="23554944" y="3977639"/>
            <a:ext cx="5943600" cy="411480"/>
          </a:xfrm>
          <a:prstGeom prst="rect">
            <a:avLst/>
          </a:prstGeom>
          <a:noFill/>
        </p:spPr>
        <p:txBody>
          <a:bodyPr wrap="none" anchor="ctr" lIns="0" rIns="0" tIns="0" bIns="0">
            <a:spAutoFit/>
          </a:bodyPr>
          <a:lstStyle/>
          <a:p>
            <a:pPr algn="r"/>
            <a:r>
              <a:rPr sz="1700" b="0" i="0">
                <a:solidFill>
                  <a:srgbClr val="6F6F6F"/>
                </a:solidFill>
                <a:latin typeface="Times New Roman"/>
              </a:rPr>
              <a:t>Paper + code:  github.com/sehoon787/PMC</a:t>
            </a:r>
          </a:p>
        </p:txBody>
      </p:sp>
      <p:sp>
        <p:nvSpPr>
          <p:cNvPr id="7" name="TextBox 6"/>
          <p:cNvSpPr txBox="1"/>
          <p:nvPr/>
        </p:nvSpPr>
        <p:spPr>
          <a:xfrm>
            <a:off x="777240" y="658368"/>
            <a:ext cx="20491704" cy="1844040"/>
          </a:xfrm>
          <a:prstGeom prst="rect">
            <a:avLst/>
          </a:prstGeom>
          <a:noFill/>
        </p:spPr>
        <p:txBody>
          <a:bodyPr wrap="square" lIns="0" rIns="0" tIns="0" bIns="0">
            <a:spAutoFit/>
          </a:bodyPr>
          <a:lstStyle/>
          <a:p>
            <a:pPr algn="l">
              <a:lnSpc>
                <a:spcPct val="110000"/>
              </a:lnSpc>
              <a:spcAft>
                <a:spcPts val="0"/>
              </a:spcAft>
            </a:pPr>
            <a:r>
              <a:rPr sz="5500" b="1" i="0">
                <a:solidFill>
                  <a:srgbClr val="8B0029"/>
                </a:solidFill>
                <a:latin typeface="Times New Roman"/>
              </a:rPr>
              <a:t>PMC: Build-Time Per-Modality Centroid Correction</a:t>
            </a:r>
          </a:p>
          <a:p>
            <a:pPr algn="l">
              <a:lnSpc>
                <a:spcPct val="110000"/>
              </a:lnSpc>
              <a:spcAft>
                <a:spcPts val="0"/>
              </a:spcAft>
            </a:pPr>
            <a:r>
              <a:rPr sz="5500" b="1" i="0">
                <a:solidFill>
                  <a:srgbClr val="8B0029"/>
                </a:solidFill>
                <a:latin typeface="Times New Roman"/>
              </a:rPr>
              <a:t>for Cross-Modal Binary-Quantized Retrieval</a:t>
            </a:r>
          </a:p>
        </p:txBody>
      </p:sp>
      <p:sp>
        <p:nvSpPr>
          <p:cNvPr id="8" name="TextBox 7"/>
          <p:cNvSpPr txBox="1"/>
          <p:nvPr/>
        </p:nvSpPr>
        <p:spPr>
          <a:xfrm>
            <a:off x="777240" y="2740152"/>
            <a:ext cx="20491704" cy="557784"/>
          </a:xfrm>
          <a:prstGeom prst="rect">
            <a:avLst/>
          </a:prstGeom>
          <a:noFill/>
        </p:spPr>
        <p:txBody>
          <a:bodyPr wrap="square" lIns="0" rIns="0" tIns="0" bIns="0">
            <a:spAutoFit/>
          </a:bodyPr>
          <a:lstStyle/>
          <a:p>
            <a:pPr algn="l">
              <a:lnSpc>
                <a:spcPct val="122000"/>
              </a:lnSpc>
              <a:spcAft>
                <a:spcPts val="0"/>
              </a:spcAft>
            </a:pPr>
            <a:r>
              <a:rPr sz="3000" b="0" i="0">
                <a:solidFill>
                  <a:srgbClr val="1F1F1F"/>
                </a:solidFill>
                <a:latin typeface="Times New Roman"/>
              </a:rPr>
              <a:t>Se Hoon Kim,   Jun Hyung Lee,   Soonyoung Jung*</a:t>
            </a:r>
          </a:p>
        </p:txBody>
      </p:sp>
      <p:sp>
        <p:nvSpPr>
          <p:cNvPr id="9" name="TextBox 8"/>
          <p:cNvSpPr txBox="1"/>
          <p:nvPr/>
        </p:nvSpPr>
        <p:spPr>
          <a:xfrm>
            <a:off x="777240" y="3371088"/>
            <a:ext cx="20491704" cy="409041"/>
          </a:xfrm>
          <a:prstGeom prst="rect">
            <a:avLst/>
          </a:prstGeom>
          <a:noFill/>
        </p:spPr>
        <p:txBody>
          <a:bodyPr wrap="square" lIns="0" rIns="0" tIns="0" bIns="0">
            <a:spAutoFit/>
          </a:bodyPr>
          <a:lstStyle/>
          <a:p>
            <a:pPr algn="l">
              <a:lnSpc>
                <a:spcPct val="122000"/>
              </a:lnSpc>
              <a:spcAft>
                <a:spcPts val="0"/>
              </a:spcAft>
            </a:pPr>
            <a:r>
              <a:rPr sz="2200" b="0" i="0">
                <a:solidFill>
                  <a:srgbClr val="6F6F6F"/>
                </a:solidFill>
                <a:latin typeface="Times New Roman"/>
              </a:rPr>
              <a:t>Department of Computer Science and Engineering, Korea University  ·  Intelligence Engineering Lab</a:t>
            </a:r>
          </a:p>
        </p:txBody>
      </p:sp>
      <p:sp>
        <p:nvSpPr>
          <p:cNvPr id="10" name="Rectangle 9"/>
          <p:cNvSpPr/>
          <p:nvPr/>
        </p:nvSpPr>
        <p:spPr>
          <a:xfrm>
            <a:off x="777240" y="4800600"/>
            <a:ext cx="2872130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184648"/>
            <a:ext cx="28721304" cy="3218281"/>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5422392"/>
            <a:ext cx="28245816" cy="2742793"/>
          </a:xfrm>
          <a:prstGeom prst="rect">
            <a:avLst/>
          </a:prstGeom>
          <a:noFill/>
        </p:spPr>
        <p:txBody>
          <a:bodyPr wrap="square" lIns="0" rIns="0" tIns="0" bIns="0">
            <a:spAutoFit/>
          </a:bodyPr>
          <a:lstStyle/>
          <a:p>
            <a:pPr algn="l">
              <a:lnSpc>
                <a:spcPct val="128000"/>
              </a:lnSpc>
              <a:spcAft>
                <a:spcPts val="400"/>
              </a:spcAft>
            </a:pPr>
            <a:r>
              <a:rPr sz="2300" b="1" i="0">
                <a:solidFill>
                  <a:srgbClr val="8B0029"/>
                </a:solidFill>
                <a:latin typeface="Times New Roman"/>
              </a:rPr>
              <a:t>Abstract.  </a:t>
            </a:r>
            <a:r>
              <a:rPr sz="2300" b="0" i="0">
                <a:solidFill>
                  <a:srgbClr val="1F1F1F"/>
                </a:solidFill>
                <a:latin typeface="Times New Roman"/>
              </a:rPr>
              <a:t>Approximate nearest neighbor search is a core operator in large-scale retrieval, where vector quantization is widely used to reduce memory cost. Binary quantization methods encode each dimension as a single bit, but they assume queries and database vectors share a common centroid. This assumption fails in cross-modal retrieval, where each modality clusters around a different centroid, producing a modality gap that corrupts the centroid's dual role as inverted-file routing pivot and sign-bit decision boundary. We propose Per-Modality Centroid Correction (PMC), which shifts database vectors toward the query centroid at build time, rewriting routing and code boundaries at the source rather than merely adjusting queries at serving time. A selective variant confirms that concentrated gap energy in a few dimensions drives most recall loss. PMC adds no index memory or serving overhead; at α=1, the correction is fully absorbed into the index with zero query-time cost. Experiments on five cross-modal benchmarks, three encoders, and four binary-quantized index types show gains over uncorrected and query-shifted baselines that scale with modality-gap magnitude, up to a 400M-vector deployment.</a:t>
            </a:r>
          </a:p>
        </p:txBody>
      </p:sp>
      <p:sp>
        <p:nvSpPr>
          <p:cNvPr id="13" name="Rectangle 12"/>
          <p:cNvSpPr/>
          <p:nvPr/>
        </p:nvSpPr>
        <p:spPr>
          <a:xfrm>
            <a:off x="10244328" y="8786977"/>
            <a:ext cx="12700" cy="31867248"/>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0031456" y="8786977"/>
            <a:ext cx="12700" cy="31867248"/>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8896705"/>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1.  Background</a:t>
            </a:r>
          </a:p>
        </p:txBody>
      </p:sp>
      <p:sp>
        <p:nvSpPr>
          <p:cNvPr id="16" name="Rectangle 15"/>
          <p:cNvSpPr/>
          <p:nvPr/>
        </p:nvSpPr>
        <p:spPr>
          <a:xfrm>
            <a:off x="777240" y="9447631"/>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9527895"/>
            <a:ext cx="9147048" cy="1234846"/>
          </a:xfrm>
          <a:prstGeom prst="rect">
            <a:avLst/>
          </a:prstGeom>
          <a:noFill/>
        </p:spPr>
        <p:txBody>
          <a:bodyPr wrap="square" lIns="0" rIns="0" tIns="0" bIns="0">
            <a:spAutoFit/>
          </a:bodyPr>
          <a:lstStyle/>
          <a:p>
            <a:pPr algn="l">
              <a:lnSpc>
                <a:spcPct val="122000"/>
              </a:lnSpc>
              <a:spcAft>
                <a:spcPts val="500"/>
              </a:spcAft>
            </a:pPr>
            <a:r>
              <a:rPr sz="2100" b="0" i="0">
                <a:solidFill>
                  <a:srgbClr val="1F1F1F"/>
                </a:solidFill>
                <a:latin typeface="Times New Roman"/>
              </a:rPr>
              <a:t>CLIP and ImageBind map images, text and audio into one shared vector space, so a text query can retrieve an image directly. At deployment the index, not the model, is the bottleneck: 407M float32 vectors of 512 dimensions occupy 833 GB.</a:t>
            </a:r>
          </a:p>
        </p:txBody>
      </p:sp>
      <p:sp>
        <p:nvSpPr>
          <p:cNvPr id="18" name="Rectangle 17"/>
          <p:cNvSpPr/>
          <p:nvPr/>
        </p:nvSpPr>
        <p:spPr>
          <a:xfrm>
            <a:off x="804672" y="10927333"/>
            <a:ext cx="146304" cy="146304"/>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24712" y="10817605"/>
            <a:ext cx="8799576" cy="768096"/>
          </a:xfrm>
          <a:prstGeom prst="rect">
            <a:avLst/>
          </a:prstGeom>
          <a:noFill/>
        </p:spPr>
        <p:txBody>
          <a:bodyPr wrap="square" lIns="0" rIns="0" tIns="0" bIns="0">
            <a:spAutoFit/>
          </a:bodyPr>
          <a:lstStyle/>
          <a:p>
            <a:pPr algn="l">
              <a:lnSpc>
                <a:spcPct val="120000"/>
              </a:lnSpc>
              <a:spcAft>
                <a:spcPts val="0"/>
              </a:spcAft>
            </a:pPr>
            <a:r>
              <a:rPr sz="2100" b="1" i="0">
                <a:solidFill>
                  <a:srgbClr val="1F1F1F"/>
                </a:solidFill>
                <a:latin typeface="Times New Roman"/>
              </a:rPr>
              <a:t>Vector quantization </a:t>
            </a:r>
            <a:r>
              <a:rPr sz="2100" b="0" i="0">
                <a:solidFill>
                  <a:srgbClr val="1F1F1F"/>
                </a:solidFill>
                <a:latin typeface="Times New Roman"/>
              </a:rPr>
              <a:t>compresses each vector to a few bytes so the index fits in memory.</a:t>
            </a:r>
          </a:p>
        </p:txBody>
      </p:sp>
      <p:sp>
        <p:nvSpPr>
          <p:cNvPr id="20" name="Rectangle 19"/>
          <p:cNvSpPr/>
          <p:nvPr/>
        </p:nvSpPr>
        <p:spPr>
          <a:xfrm>
            <a:off x="804672" y="11777725"/>
            <a:ext cx="146304" cy="146304"/>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24712" y="11667997"/>
            <a:ext cx="8799576" cy="768096"/>
          </a:xfrm>
          <a:prstGeom prst="rect">
            <a:avLst/>
          </a:prstGeom>
          <a:noFill/>
        </p:spPr>
        <p:txBody>
          <a:bodyPr wrap="square" lIns="0" rIns="0" tIns="0" bIns="0">
            <a:spAutoFit/>
          </a:bodyPr>
          <a:lstStyle/>
          <a:p>
            <a:pPr algn="l">
              <a:lnSpc>
                <a:spcPct val="120000"/>
              </a:lnSpc>
              <a:spcAft>
                <a:spcPts val="0"/>
              </a:spcAft>
            </a:pPr>
            <a:r>
              <a:rPr sz="2100" b="1" i="0">
                <a:solidFill>
                  <a:srgbClr val="1F1F1F"/>
                </a:solidFill>
                <a:latin typeface="Times New Roman"/>
              </a:rPr>
              <a:t>Binary quantization (BQ) </a:t>
            </a:r>
            <a:r>
              <a:rPr sz="2100" b="0" i="0">
                <a:solidFill>
                  <a:srgbClr val="1F1F1F"/>
                </a:solidFill>
                <a:latin typeface="Times New Roman"/>
              </a:rPr>
              <a:t>is the extreme point — one sign bit per dimension, 32× smaller. RaBitQ bounds its distortion; Lucene ships it as BBQ.</a:t>
            </a:r>
          </a:p>
        </p:txBody>
      </p:sp>
      <p:sp>
        <p:nvSpPr>
          <p:cNvPr id="22" name="Rectangle 21"/>
          <p:cNvSpPr/>
          <p:nvPr/>
        </p:nvSpPr>
        <p:spPr>
          <a:xfrm>
            <a:off x="804672" y="12628117"/>
            <a:ext cx="146304" cy="146304"/>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4712" y="12518389"/>
            <a:ext cx="8799576" cy="768096"/>
          </a:xfrm>
          <a:prstGeom prst="rect">
            <a:avLst/>
          </a:prstGeom>
          <a:noFill/>
        </p:spPr>
        <p:txBody>
          <a:bodyPr wrap="square" lIns="0" rIns="0" tIns="0" bIns="0">
            <a:spAutoFit/>
          </a:bodyPr>
          <a:lstStyle/>
          <a:p>
            <a:pPr algn="l">
              <a:lnSpc>
                <a:spcPct val="120000"/>
              </a:lnSpc>
              <a:spcAft>
                <a:spcPts val="0"/>
              </a:spcAft>
            </a:pPr>
            <a:r>
              <a:rPr sz="2100" b="0" i="0">
                <a:solidFill>
                  <a:srgbClr val="1F1F1F"/>
                </a:solidFill>
                <a:latin typeface="Times New Roman"/>
              </a:rPr>
              <a:t>Every BQ method encodes </a:t>
            </a:r>
            <a:r>
              <a:rPr sz="2100" b="1" i="0">
                <a:solidFill>
                  <a:srgbClr val="0D4DA3"/>
                </a:solidFill>
                <a:latin typeface="Times New Roman"/>
              </a:rPr>
              <a:t>sign(x − c)</a:t>
            </a:r>
            <a:r>
              <a:rPr sz="2100" b="0" i="0">
                <a:solidFill>
                  <a:srgbClr val="1F1F1F"/>
                </a:solidFill>
                <a:latin typeface="Times New Roman"/>
              </a:rPr>
              <a:t> against a centroid c — also the pivot routing a query to inverted lists.</a:t>
            </a:r>
          </a:p>
        </p:txBody>
      </p:sp>
      <p:sp>
        <p:nvSpPr>
          <p:cNvPr id="24" name="TextBox 23"/>
          <p:cNvSpPr txBox="1"/>
          <p:nvPr/>
        </p:nvSpPr>
        <p:spPr>
          <a:xfrm>
            <a:off x="777240" y="13478509"/>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2.  The problem: the modality gap</a:t>
            </a:r>
          </a:p>
        </p:txBody>
      </p:sp>
      <p:sp>
        <p:nvSpPr>
          <p:cNvPr id="25" name="Rectangle 24"/>
          <p:cNvSpPr/>
          <p:nvPr/>
        </p:nvSpPr>
        <p:spPr>
          <a:xfrm>
            <a:off x="777240" y="14029435"/>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14109699"/>
            <a:ext cx="9147048" cy="1625295"/>
          </a:xfrm>
          <a:prstGeom prst="rect">
            <a:avLst/>
          </a:prstGeom>
          <a:noFill/>
        </p:spPr>
        <p:txBody>
          <a:bodyPr wrap="square" lIns="0" rIns="0" tIns="0" bIns="0">
            <a:spAutoFit/>
          </a:bodyPr>
          <a:lstStyle/>
          <a:p>
            <a:pPr algn="l">
              <a:lnSpc>
                <a:spcPct val="122000"/>
              </a:lnSpc>
              <a:spcAft>
                <a:spcPts val="500"/>
              </a:spcAft>
            </a:pPr>
            <a:r>
              <a:rPr sz="2100" b="0" i="0">
                <a:solidFill>
                  <a:srgbClr val="1F1F1F"/>
                </a:solidFill>
                <a:latin typeface="Times New Roman"/>
              </a:rPr>
              <a:t>BQ assumes queries and database vectors share that centroid. In cross-modal retrieval they do not — each modality clusters around its own centre, an offset known as the </a:t>
            </a:r>
            <a:r>
              <a:rPr sz="2100" b="1" i="0">
                <a:solidFill>
                  <a:srgbClr val="8B0029"/>
                </a:solidFill>
                <a:latin typeface="Times New Roman"/>
              </a:rPr>
              <a:t>modality gap</a:t>
            </a:r>
            <a:r>
              <a:rPr sz="2100" b="0" i="0">
                <a:solidFill>
                  <a:srgbClr val="1F1F1F"/>
                </a:solidFill>
                <a:latin typeface="Times New Roman"/>
              </a:rPr>
              <a:t>.  g = μ</a:t>
            </a:r>
            <a:r>
              <a:rPr sz="1512" b="0" i="0" baseline="-25000">
                <a:solidFill>
                  <a:srgbClr val="1F1F1F"/>
                </a:solidFill>
                <a:latin typeface="Times New Roman"/>
              </a:rPr>
              <a:t>q</a:t>
            </a:r>
            <a:r>
              <a:rPr sz="2100" b="0" i="0">
                <a:solidFill>
                  <a:srgbClr val="1F1F1F"/>
                </a:solidFill>
                <a:latin typeface="Times New Roman"/>
              </a:rPr>
              <a:t> − μ</a:t>
            </a:r>
            <a:r>
              <a:rPr sz="1512" b="0" i="0" baseline="-25000">
                <a:solidFill>
                  <a:srgbClr val="1F1F1F"/>
                </a:solidFill>
                <a:latin typeface="Times New Roman"/>
              </a:rPr>
              <a:t>x</a:t>
            </a:r>
            <a:r>
              <a:rPr sz="2100" b="0" i="0">
                <a:solidFill>
                  <a:srgbClr val="1F1F1F"/>
                </a:solidFill>
                <a:latin typeface="Times New Roman"/>
              </a:rPr>
              <a:t> is stable and large: ‖g‖ = .61–.82 on our benchmarks.</a:t>
            </a:r>
          </a:p>
        </p:txBody>
      </p:sp>
      <p:pic>
        <p:nvPicPr>
          <p:cNvPr id="27" name="Picture 26" descr="asset_fig1.png"/>
          <p:cNvPicPr>
            <a:picLocks noChangeAspect="1"/>
          </p:cNvPicPr>
          <p:nvPr/>
        </p:nvPicPr>
        <p:blipFill>
          <a:blip r:embed="rId5"/>
          <a:stretch>
            <a:fillRect/>
          </a:stretch>
        </p:blipFill>
        <p:spPr>
          <a:xfrm>
            <a:off x="1691945" y="15826434"/>
            <a:ext cx="7317638" cy="3637475"/>
          </a:xfrm>
          <a:prstGeom prst="rect">
            <a:avLst/>
          </a:prstGeom>
        </p:spPr>
      </p:pic>
      <p:sp>
        <p:nvSpPr>
          <p:cNvPr id="28" name="TextBox 27"/>
          <p:cNvSpPr txBox="1"/>
          <p:nvPr/>
        </p:nvSpPr>
        <p:spPr>
          <a:xfrm>
            <a:off x="777240" y="19518773"/>
            <a:ext cx="9147048" cy="630936"/>
          </a:xfrm>
          <a:prstGeom prst="rect">
            <a:avLst/>
          </a:prstGeom>
          <a:noFill/>
        </p:spPr>
        <p:txBody>
          <a:bodyPr wrap="square" lIns="0" rIns="0" tIns="0" bIns="0">
            <a:spAutoFit/>
          </a:bodyPr>
          <a:lstStyle/>
          <a:p>
            <a:pPr algn="l">
              <a:lnSpc>
                <a:spcPct val="115000"/>
              </a:lnSpc>
              <a:spcAft>
                <a:spcPts val="0"/>
              </a:spcAft>
            </a:pPr>
            <a:r>
              <a:rPr sz="1800" b="0" i="1">
                <a:solidFill>
                  <a:srgbClr val="6F6F6F"/>
                </a:solidFill>
                <a:latin typeface="Times New Roman"/>
              </a:rPr>
              <a:t>t-SNE of ImageBind embeddings: (a) each modality forms its own cluster; (b) after PMC the pairs overlap.</a:t>
            </a:r>
          </a:p>
        </p:txBody>
      </p:sp>
      <p:sp>
        <p:nvSpPr>
          <p:cNvPr id="29" name="TextBox 28"/>
          <p:cNvSpPr txBox="1"/>
          <p:nvPr/>
        </p:nvSpPr>
        <p:spPr>
          <a:xfrm>
            <a:off x="777240" y="20332589"/>
            <a:ext cx="9147048" cy="539191"/>
          </a:xfrm>
          <a:prstGeom prst="rect">
            <a:avLst/>
          </a:prstGeom>
          <a:noFill/>
        </p:spPr>
        <p:txBody>
          <a:bodyPr wrap="square" lIns="0" rIns="0" tIns="0" bIns="0">
            <a:spAutoFit/>
          </a:bodyPr>
          <a:lstStyle/>
          <a:p>
            <a:pPr algn="l">
              <a:lnSpc>
                <a:spcPct val="122000"/>
              </a:lnSpc>
              <a:spcAft>
                <a:spcPts val="0"/>
              </a:spcAft>
            </a:pPr>
            <a:r>
              <a:rPr sz="2900" b="1" i="0">
                <a:solidFill>
                  <a:srgbClr val="8B0029"/>
                </a:solidFill>
                <a:latin typeface="Times New Roman"/>
              </a:rPr>
              <a:t>One gap, two failures</a:t>
            </a:r>
          </a:p>
        </p:txBody>
      </p:sp>
      <p:sp>
        <p:nvSpPr>
          <p:cNvPr id="30" name="Rectangle 29"/>
          <p:cNvSpPr/>
          <p:nvPr/>
        </p:nvSpPr>
        <p:spPr>
          <a:xfrm>
            <a:off x="804672" y="21127812"/>
            <a:ext cx="146304" cy="146304"/>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24712" y="21018084"/>
            <a:ext cx="8799576" cy="768096"/>
          </a:xfrm>
          <a:prstGeom prst="rect">
            <a:avLst/>
          </a:prstGeom>
          <a:noFill/>
        </p:spPr>
        <p:txBody>
          <a:bodyPr wrap="square" lIns="0" rIns="0" tIns="0" bIns="0">
            <a:spAutoFit/>
          </a:bodyPr>
          <a:lstStyle/>
          <a:p>
            <a:pPr algn="l">
              <a:lnSpc>
                <a:spcPct val="120000"/>
              </a:lnSpc>
              <a:spcAft>
                <a:spcPts val="0"/>
              </a:spcAft>
            </a:pPr>
            <a:r>
              <a:rPr sz="2100" b="1" i="0">
                <a:solidFill>
                  <a:srgbClr val="1F1F1F"/>
                </a:solidFill>
                <a:latin typeface="Times New Roman"/>
              </a:rPr>
              <a:t>IVF routing. </a:t>
            </a:r>
            <a:r>
              <a:rPr sz="2100" b="0" i="0">
                <a:solidFill>
                  <a:srgbClr val="1F1F1F"/>
                </a:solidFill>
                <a:latin typeface="Times New Roman"/>
              </a:rPr>
              <a:t>The shifted centroid steers queries into the wrong inverted lists, so the true neighbours are never scanned.</a:t>
            </a:r>
          </a:p>
        </p:txBody>
      </p:sp>
      <p:sp>
        <p:nvSpPr>
          <p:cNvPr id="32" name="Rectangle 31"/>
          <p:cNvSpPr/>
          <p:nvPr/>
        </p:nvSpPr>
        <p:spPr>
          <a:xfrm>
            <a:off x="804672" y="21978204"/>
            <a:ext cx="146304" cy="146304"/>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24712" y="21868476"/>
            <a:ext cx="8799576" cy="768096"/>
          </a:xfrm>
          <a:prstGeom prst="rect">
            <a:avLst/>
          </a:prstGeom>
          <a:noFill/>
        </p:spPr>
        <p:txBody>
          <a:bodyPr wrap="square" lIns="0" rIns="0" tIns="0" bIns="0">
            <a:spAutoFit/>
          </a:bodyPr>
          <a:lstStyle/>
          <a:p>
            <a:pPr algn="l">
              <a:lnSpc>
                <a:spcPct val="120000"/>
              </a:lnSpc>
              <a:spcAft>
                <a:spcPts val="0"/>
              </a:spcAft>
            </a:pPr>
            <a:r>
              <a:rPr sz="2100" b="1" i="0">
                <a:solidFill>
                  <a:srgbClr val="1F1F1F"/>
                </a:solidFill>
                <a:latin typeface="Times New Roman"/>
              </a:rPr>
              <a:t>Binary codes. </a:t>
            </a:r>
            <a:r>
              <a:rPr sz="2100" b="0" i="0">
                <a:solidFill>
                  <a:srgbClr val="1F1F1F"/>
                </a:solidFill>
                <a:latin typeface="Times New Roman"/>
              </a:rPr>
              <a:t>With one bit the decision boundary passes exactly through c with zero error margin, so any systematic offset flips the bits nearest it.</a:t>
            </a:r>
          </a:p>
        </p:txBody>
      </p:sp>
      <p:sp>
        <p:nvSpPr>
          <p:cNvPr id="34" name="Rectangle 33"/>
          <p:cNvSpPr/>
          <p:nvPr/>
        </p:nvSpPr>
        <p:spPr>
          <a:xfrm>
            <a:off x="777240" y="22755444"/>
            <a:ext cx="9147048" cy="2353868"/>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23011476"/>
            <a:ext cx="8634984" cy="1841804"/>
          </a:xfrm>
          <a:prstGeom prst="rect">
            <a:avLst/>
          </a:prstGeom>
          <a:noFill/>
        </p:spPr>
        <p:txBody>
          <a:bodyPr wrap="square" lIns="0" rIns="0" tIns="0" bIns="0">
            <a:spAutoFit/>
          </a:bodyPr>
          <a:lstStyle/>
          <a:p>
            <a:pPr algn="l">
              <a:lnSpc>
                <a:spcPct val="128000"/>
              </a:lnSpc>
              <a:spcAft>
                <a:spcPts val="400"/>
              </a:spcAft>
            </a:pPr>
            <a:r>
              <a:rPr sz="2100" b="1" i="0">
                <a:solidFill>
                  <a:srgbClr val="1F1F1F"/>
                </a:solidFill>
                <a:latin typeface="Times New Roman"/>
              </a:rPr>
              <a:t>Oracle test — MSCOCO, CLIP-L, RaBitQ</a:t>
            </a:r>
          </a:p>
          <a:p>
            <a:pPr algn="l">
              <a:lnSpc>
                <a:spcPct val="128000"/>
              </a:lnSpc>
              <a:spcAft>
                <a:spcPts val="400"/>
              </a:spcAft>
            </a:pPr>
            <a:r>
              <a:rPr sz="2200" b="0" i="0">
                <a:solidFill>
                  <a:srgbClr val="1F1F1F"/>
                </a:solidFill>
                <a:latin typeface="Times New Roman"/>
              </a:rPr>
              <a:t>same-modality  (‖g‖ = 0)           R@100 = 0.71</a:t>
            </a:r>
          </a:p>
          <a:p>
            <a:pPr algn="l">
              <a:lnSpc>
                <a:spcPct val="128000"/>
              </a:lnSpc>
              <a:spcAft>
                <a:spcPts val="400"/>
              </a:spcAft>
            </a:pPr>
            <a:r>
              <a:rPr sz="2200" b="1" i="0">
                <a:solidFill>
                  <a:srgbClr val="8B0029"/>
                </a:solidFill>
                <a:latin typeface="Times New Roman"/>
              </a:rPr>
              <a:t>cross-modal  (‖g‖ = .82)           R@100 = 0.54</a:t>
            </a:r>
          </a:p>
          <a:p>
            <a:pPr algn="l">
              <a:lnSpc>
                <a:spcPct val="128000"/>
              </a:lnSpc>
              <a:spcAft>
                <a:spcPts val="400"/>
              </a:spcAft>
            </a:pPr>
            <a:r>
              <a:rPr sz="1900" b="0" i="1">
                <a:solidFill>
                  <a:srgbClr val="6F6F6F"/>
                </a:solidFill>
                <a:latin typeface="Times New Roman"/>
              </a:rPr>
              <a:t>Removing the gap alone recovers 17 points: the loss is the gap, not the quantizer.</a:t>
            </a:r>
          </a:p>
        </p:txBody>
      </p:sp>
      <p:sp>
        <p:nvSpPr>
          <p:cNvPr id="36" name="TextBox 35"/>
          <p:cNvSpPr txBox="1"/>
          <p:nvPr/>
        </p:nvSpPr>
        <p:spPr>
          <a:xfrm>
            <a:off x="777240" y="25255616"/>
            <a:ext cx="9147048" cy="2015744"/>
          </a:xfrm>
          <a:prstGeom prst="rect">
            <a:avLst/>
          </a:prstGeom>
          <a:noFill/>
        </p:spPr>
        <p:txBody>
          <a:bodyPr wrap="square" lIns="0" rIns="0" tIns="0" bIns="0">
            <a:spAutoFit/>
          </a:bodyPr>
          <a:lstStyle/>
          <a:p>
            <a:pPr algn="l">
              <a:lnSpc>
                <a:spcPct val="122000"/>
              </a:lnSpc>
              <a:spcAft>
                <a:spcPts val="500"/>
              </a:spcAft>
            </a:pPr>
            <a:r>
              <a:rPr sz="2100" b="1" i="0">
                <a:solidFill>
                  <a:srgbClr val="1F1F1F"/>
                </a:solidFill>
                <a:latin typeface="Times New Roman"/>
              </a:rPr>
              <a:t>The corruption is structured, not random. </a:t>
            </a:r>
            <a:r>
              <a:rPr sz="2100" b="0" i="0">
                <a:solidFill>
                  <a:srgbClr val="1F1F1F"/>
                </a:solidFill>
                <a:latin typeface="Times New Roman"/>
              </a:rPr>
              <a:t>On CLIP-L the top 10% of dimensions carry ≈90% of ‖g‖², and a first-order expansion gives the expected number of flipped bits as a density-weighted ℓ₁ norm of the gap, E[F] ≈ α Σᵢ pᵢ(0)·|gᵢ|. Flip risk therefore grows with |gᵢ|, so a few dimensions dominate both the damage and the repair — and Hamming distances are biased systematically rather than noisily.</a:t>
            </a:r>
          </a:p>
        </p:txBody>
      </p:sp>
      <p:sp>
        <p:nvSpPr>
          <p:cNvPr id="37" name="TextBox 36"/>
          <p:cNvSpPr txBox="1"/>
          <p:nvPr/>
        </p:nvSpPr>
        <p:spPr>
          <a:xfrm>
            <a:off x="777240" y="27381088"/>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3.  Every binary index has the same wound</a:t>
            </a:r>
          </a:p>
        </p:txBody>
      </p:sp>
      <p:sp>
        <p:nvSpPr>
          <p:cNvPr id="38" name="Rectangle 37"/>
          <p:cNvSpPr/>
          <p:nvPr/>
        </p:nvSpPr>
        <p:spPr>
          <a:xfrm>
            <a:off x="777240" y="27932014"/>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 y="28012278"/>
            <a:ext cx="9147048" cy="1179068"/>
          </a:xfrm>
          <a:prstGeom prst="rect">
            <a:avLst/>
          </a:prstGeom>
          <a:noFill/>
        </p:spPr>
        <p:txBody>
          <a:bodyPr wrap="square" lIns="0" rIns="0" tIns="0" bIns="0">
            <a:spAutoFit/>
          </a:bodyPr>
          <a:lstStyle/>
          <a:p>
            <a:pPr algn="l">
              <a:lnSpc>
                <a:spcPct val="122000"/>
              </a:lnSpc>
              <a:spcAft>
                <a:spcPts val="500"/>
              </a:spcAft>
            </a:pPr>
            <a:r>
              <a:rPr sz="2000" b="0" i="0">
                <a:solidFill>
                  <a:srgbClr val="1F1F1F"/>
                </a:solidFill>
                <a:latin typeface="Times New Roman"/>
              </a:rPr>
              <a:t>R@100, Vanilla → PMC, at one operating point. Rotation (BBQ-style) spreads the concentrated gap energy across all bits, so RotatedBinary collapses without correction — and gains most from it.</a:t>
            </a:r>
          </a:p>
        </p:txBody>
      </p:sp>
      <p:sp>
        <p:nvSpPr>
          <p:cNvPr id="40" name="TextBox 39"/>
          <p:cNvSpPr txBox="1"/>
          <p:nvPr/>
        </p:nvSpPr>
        <p:spPr>
          <a:xfrm>
            <a:off x="777240" y="29301074"/>
            <a:ext cx="2148840" cy="420624"/>
          </a:xfrm>
          <a:prstGeom prst="rect">
            <a:avLst/>
          </a:prstGeom>
          <a:noFill/>
        </p:spPr>
        <p:txBody>
          <a:bodyPr wrap="none" anchor="ctr" lIns="0" rIns="0" tIns="0" bIns="0">
            <a:spAutoFit/>
          </a:bodyPr>
          <a:lstStyle/>
          <a:p>
            <a:pPr algn="l"/>
            <a:r>
              <a:rPr sz="1900" b="1" i="0">
                <a:solidFill>
                  <a:srgbClr val="6F6F6F"/>
                </a:solidFill>
                <a:latin typeface="Times New Roman"/>
              </a:rPr>
              <a:t>Method</a:t>
            </a:r>
          </a:p>
        </p:txBody>
      </p:sp>
      <p:sp>
        <p:nvSpPr>
          <p:cNvPr id="41" name="TextBox 40"/>
          <p:cNvSpPr txBox="1"/>
          <p:nvPr/>
        </p:nvSpPr>
        <p:spPr>
          <a:xfrm>
            <a:off x="2926080" y="29301074"/>
            <a:ext cx="3499104" cy="420624"/>
          </a:xfrm>
          <a:prstGeom prst="rect">
            <a:avLst/>
          </a:prstGeom>
          <a:noFill/>
        </p:spPr>
        <p:txBody>
          <a:bodyPr wrap="none" anchor="ctr" lIns="0" rIns="0" tIns="0" bIns="0">
            <a:spAutoFit/>
          </a:bodyPr>
          <a:lstStyle/>
          <a:p>
            <a:pPr algn="r"/>
            <a:r>
              <a:rPr sz="1900" b="1" i="0">
                <a:solidFill>
                  <a:srgbClr val="6F6F6F"/>
                </a:solidFill>
                <a:latin typeface="Times New Roman"/>
              </a:rPr>
              <a:t>MSCOCO t→i</a:t>
            </a:r>
          </a:p>
        </p:txBody>
      </p:sp>
      <p:sp>
        <p:nvSpPr>
          <p:cNvPr id="42" name="TextBox 41"/>
          <p:cNvSpPr txBox="1"/>
          <p:nvPr/>
        </p:nvSpPr>
        <p:spPr>
          <a:xfrm>
            <a:off x="6425184" y="29301074"/>
            <a:ext cx="3499104" cy="420624"/>
          </a:xfrm>
          <a:prstGeom prst="rect">
            <a:avLst/>
          </a:prstGeom>
          <a:noFill/>
        </p:spPr>
        <p:txBody>
          <a:bodyPr wrap="none" anchor="ctr" lIns="0" rIns="0" tIns="0" bIns="0">
            <a:spAutoFit/>
          </a:bodyPr>
          <a:lstStyle/>
          <a:p>
            <a:pPr algn="r"/>
            <a:r>
              <a:rPr sz="1900" b="1" i="0">
                <a:solidFill>
                  <a:srgbClr val="6F6F6F"/>
                </a:solidFill>
                <a:latin typeface="Times New Roman"/>
              </a:rPr>
              <a:t>AudioCaps a→t</a:t>
            </a:r>
          </a:p>
        </p:txBody>
      </p:sp>
      <p:sp>
        <p:nvSpPr>
          <p:cNvPr id="43" name="Rectangle 42"/>
          <p:cNvSpPr/>
          <p:nvPr/>
        </p:nvSpPr>
        <p:spPr>
          <a:xfrm>
            <a:off x="777240" y="29758274"/>
            <a:ext cx="9147048"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29795612"/>
            <a:ext cx="2148840" cy="512064"/>
          </a:xfrm>
          <a:prstGeom prst="rect">
            <a:avLst/>
          </a:prstGeom>
          <a:noFill/>
        </p:spPr>
        <p:txBody>
          <a:bodyPr wrap="none" anchor="ctr" lIns="0" rIns="0" tIns="0" bIns="0">
            <a:spAutoFit/>
          </a:bodyPr>
          <a:lstStyle/>
          <a:p>
            <a:pPr algn="l"/>
            <a:r>
              <a:rPr sz="2000" b="0" i="0">
                <a:solidFill>
                  <a:srgbClr val="1F1F1F"/>
                </a:solidFill>
                <a:latin typeface="Times New Roman"/>
              </a:rPr>
              <a:t>BinaryFlat</a:t>
            </a:r>
          </a:p>
        </p:txBody>
      </p:sp>
      <p:sp>
        <p:nvSpPr>
          <p:cNvPr id="45" name="TextBox 44"/>
          <p:cNvSpPr txBox="1"/>
          <p:nvPr/>
        </p:nvSpPr>
        <p:spPr>
          <a:xfrm>
            <a:off x="2926080" y="29795612"/>
            <a:ext cx="3499104" cy="512064"/>
          </a:xfrm>
          <a:prstGeom prst="rect">
            <a:avLst/>
          </a:prstGeom>
          <a:noFill/>
        </p:spPr>
        <p:txBody>
          <a:bodyPr wrap="none" anchor="ctr" lIns="0" rIns="0" tIns="0" bIns="0">
            <a:spAutoFit/>
          </a:bodyPr>
          <a:lstStyle/>
          <a:p>
            <a:pPr algn="r"/>
            <a:r>
              <a:rPr sz="1900" b="0" i="0">
                <a:solidFill>
                  <a:srgbClr val="6F6F6F"/>
                </a:solidFill>
                <a:latin typeface="Times New Roman"/>
              </a:rPr>
              <a:t>.51 → </a:t>
            </a:r>
            <a:r>
              <a:rPr sz="2100" b="1" i="0">
                <a:solidFill>
                  <a:srgbClr val="0D4DA3"/>
                </a:solidFill>
                <a:latin typeface="Times New Roman"/>
              </a:rPr>
              <a:t>.57</a:t>
            </a:r>
          </a:p>
        </p:txBody>
      </p:sp>
      <p:sp>
        <p:nvSpPr>
          <p:cNvPr id="46" name="TextBox 45"/>
          <p:cNvSpPr txBox="1"/>
          <p:nvPr/>
        </p:nvSpPr>
        <p:spPr>
          <a:xfrm>
            <a:off x="6425184" y="29795612"/>
            <a:ext cx="3499104" cy="512064"/>
          </a:xfrm>
          <a:prstGeom prst="rect">
            <a:avLst/>
          </a:prstGeom>
          <a:noFill/>
        </p:spPr>
        <p:txBody>
          <a:bodyPr wrap="none" anchor="ctr" lIns="0" rIns="0" tIns="0" bIns="0">
            <a:spAutoFit/>
          </a:bodyPr>
          <a:lstStyle/>
          <a:p>
            <a:pPr algn="r"/>
            <a:r>
              <a:rPr sz="1900" b="0" i="0">
                <a:solidFill>
                  <a:srgbClr val="6F6F6F"/>
                </a:solidFill>
                <a:latin typeface="Times New Roman"/>
              </a:rPr>
              <a:t>.51 → </a:t>
            </a:r>
            <a:r>
              <a:rPr sz="2100" b="1" i="0">
                <a:solidFill>
                  <a:srgbClr val="0D4DA3"/>
                </a:solidFill>
                <a:latin typeface="Times New Roman"/>
              </a:rPr>
              <a:t>.64</a:t>
            </a:r>
          </a:p>
        </p:txBody>
      </p:sp>
      <p:sp>
        <p:nvSpPr>
          <p:cNvPr id="47" name="Rectangle 46"/>
          <p:cNvSpPr/>
          <p:nvPr/>
        </p:nvSpPr>
        <p:spPr>
          <a:xfrm>
            <a:off x="777240" y="30307676"/>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77240" y="30307676"/>
            <a:ext cx="2148840" cy="512064"/>
          </a:xfrm>
          <a:prstGeom prst="rect">
            <a:avLst/>
          </a:prstGeom>
          <a:noFill/>
        </p:spPr>
        <p:txBody>
          <a:bodyPr wrap="none" anchor="ctr" lIns="0" rIns="0" tIns="0" bIns="0">
            <a:spAutoFit/>
          </a:bodyPr>
          <a:lstStyle/>
          <a:p>
            <a:pPr algn="l"/>
            <a:r>
              <a:rPr sz="2000" b="0" i="0">
                <a:solidFill>
                  <a:srgbClr val="1F1F1F"/>
                </a:solidFill>
                <a:latin typeface="Times New Roman"/>
              </a:rPr>
              <a:t>BinaryIVF</a:t>
            </a:r>
          </a:p>
        </p:txBody>
      </p:sp>
      <p:sp>
        <p:nvSpPr>
          <p:cNvPr id="49" name="TextBox 48"/>
          <p:cNvSpPr txBox="1"/>
          <p:nvPr/>
        </p:nvSpPr>
        <p:spPr>
          <a:xfrm>
            <a:off x="2926080" y="30307676"/>
            <a:ext cx="3499104" cy="512064"/>
          </a:xfrm>
          <a:prstGeom prst="rect">
            <a:avLst/>
          </a:prstGeom>
          <a:noFill/>
        </p:spPr>
        <p:txBody>
          <a:bodyPr wrap="none" anchor="ctr" lIns="0" rIns="0" tIns="0" bIns="0">
            <a:spAutoFit/>
          </a:bodyPr>
          <a:lstStyle/>
          <a:p>
            <a:pPr algn="r"/>
            <a:r>
              <a:rPr sz="1900" b="0" i="0">
                <a:solidFill>
                  <a:srgbClr val="6F6F6F"/>
                </a:solidFill>
                <a:latin typeface="Times New Roman"/>
              </a:rPr>
              <a:t>.51 → </a:t>
            </a:r>
            <a:r>
              <a:rPr sz="2100" b="1" i="0">
                <a:solidFill>
                  <a:srgbClr val="0D4DA3"/>
                </a:solidFill>
                <a:latin typeface="Times New Roman"/>
              </a:rPr>
              <a:t>.57</a:t>
            </a:r>
          </a:p>
        </p:txBody>
      </p:sp>
      <p:sp>
        <p:nvSpPr>
          <p:cNvPr id="50" name="TextBox 49"/>
          <p:cNvSpPr txBox="1"/>
          <p:nvPr/>
        </p:nvSpPr>
        <p:spPr>
          <a:xfrm>
            <a:off x="6425184" y="30307676"/>
            <a:ext cx="3499104" cy="512064"/>
          </a:xfrm>
          <a:prstGeom prst="rect">
            <a:avLst/>
          </a:prstGeom>
          <a:noFill/>
        </p:spPr>
        <p:txBody>
          <a:bodyPr wrap="none" anchor="ctr" lIns="0" rIns="0" tIns="0" bIns="0">
            <a:spAutoFit/>
          </a:bodyPr>
          <a:lstStyle/>
          <a:p>
            <a:pPr algn="r"/>
            <a:r>
              <a:rPr sz="1900" b="0" i="0">
                <a:solidFill>
                  <a:srgbClr val="6F6F6F"/>
                </a:solidFill>
                <a:latin typeface="Times New Roman"/>
              </a:rPr>
              <a:t>.50 → </a:t>
            </a:r>
            <a:r>
              <a:rPr sz="2100" b="1" i="0">
                <a:solidFill>
                  <a:srgbClr val="0D4DA3"/>
                </a:solidFill>
                <a:latin typeface="Times New Roman"/>
              </a:rPr>
              <a:t>.63</a:t>
            </a:r>
          </a:p>
        </p:txBody>
      </p:sp>
      <p:sp>
        <p:nvSpPr>
          <p:cNvPr id="51" name="Rectangle 50"/>
          <p:cNvSpPr/>
          <p:nvPr/>
        </p:nvSpPr>
        <p:spPr>
          <a:xfrm>
            <a:off x="777240" y="30819740"/>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77240" y="30819740"/>
            <a:ext cx="2148840" cy="512064"/>
          </a:xfrm>
          <a:prstGeom prst="rect">
            <a:avLst/>
          </a:prstGeom>
          <a:noFill/>
        </p:spPr>
        <p:txBody>
          <a:bodyPr wrap="none" anchor="ctr" lIns="0" rIns="0" tIns="0" bIns="0">
            <a:spAutoFit/>
          </a:bodyPr>
          <a:lstStyle/>
          <a:p>
            <a:pPr algn="l"/>
            <a:r>
              <a:rPr sz="2000" b="0" i="0">
                <a:solidFill>
                  <a:srgbClr val="1F1F1F"/>
                </a:solidFill>
                <a:latin typeface="Times New Roman"/>
              </a:rPr>
              <a:t>RotatedBinary</a:t>
            </a:r>
          </a:p>
        </p:txBody>
      </p:sp>
      <p:sp>
        <p:nvSpPr>
          <p:cNvPr id="53" name="TextBox 52"/>
          <p:cNvSpPr txBox="1"/>
          <p:nvPr/>
        </p:nvSpPr>
        <p:spPr>
          <a:xfrm>
            <a:off x="2926080" y="30819740"/>
            <a:ext cx="3499104" cy="512064"/>
          </a:xfrm>
          <a:prstGeom prst="rect">
            <a:avLst/>
          </a:prstGeom>
          <a:noFill/>
        </p:spPr>
        <p:txBody>
          <a:bodyPr wrap="none" anchor="ctr" lIns="0" rIns="0" tIns="0" bIns="0">
            <a:spAutoFit/>
          </a:bodyPr>
          <a:lstStyle/>
          <a:p>
            <a:pPr algn="r"/>
            <a:r>
              <a:rPr sz="1900" b="0" i="0">
                <a:solidFill>
                  <a:srgbClr val="6F6F6F"/>
                </a:solidFill>
                <a:latin typeface="Times New Roman"/>
              </a:rPr>
              <a:t>.29 → </a:t>
            </a:r>
            <a:r>
              <a:rPr sz="2100" b="1" i="0">
                <a:solidFill>
                  <a:srgbClr val="0D4DA3"/>
                </a:solidFill>
                <a:latin typeface="Times New Roman"/>
              </a:rPr>
              <a:t>.58</a:t>
            </a:r>
          </a:p>
        </p:txBody>
      </p:sp>
      <p:sp>
        <p:nvSpPr>
          <p:cNvPr id="54" name="TextBox 53"/>
          <p:cNvSpPr txBox="1"/>
          <p:nvPr/>
        </p:nvSpPr>
        <p:spPr>
          <a:xfrm>
            <a:off x="6425184" y="30819740"/>
            <a:ext cx="3499104" cy="512064"/>
          </a:xfrm>
          <a:prstGeom prst="rect">
            <a:avLst/>
          </a:prstGeom>
          <a:noFill/>
        </p:spPr>
        <p:txBody>
          <a:bodyPr wrap="none" anchor="ctr" lIns="0" rIns="0" tIns="0" bIns="0">
            <a:spAutoFit/>
          </a:bodyPr>
          <a:lstStyle/>
          <a:p>
            <a:pPr algn="r"/>
            <a:r>
              <a:rPr sz="1900" b="0" i="0">
                <a:solidFill>
                  <a:srgbClr val="6F6F6F"/>
                </a:solidFill>
                <a:latin typeface="Times New Roman"/>
              </a:rPr>
              <a:t>.63 → </a:t>
            </a:r>
            <a:r>
              <a:rPr sz="2100" b="1" i="0">
                <a:solidFill>
                  <a:srgbClr val="0D4DA3"/>
                </a:solidFill>
                <a:latin typeface="Times New Roman"/>
              </a:rPr>
              <a:t>.69</a:t>
            </a:r>
          </a:p>
        </p:txBody>
      </p:sp>
      <p:sp>
        <p:nvSpPr>
          <p:cNvPr id="55" name="Rectangle 54"/>
          <p:cNvSpPr/>
          <p:nvPr/>
        </p:nvSpPr>
        <p:spPr>
          <a:xfrm>
            <a:off x="777240" y="31331804"/>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77240" y="31331804"/>
            <a:ext cx="2148840" cy="512064"/>
          </a:xfrm>
          <a:prstGeom prst="rect">
            <a:avLst/>
          </a:prstGeom>
          <a:noFill/>
        </p:spPr>
        <p:txBody>
          <a:bodyPr wrap="none" anchor="ctr" lIns="0" rIns="0" tIns="0" bIns="0">
            <a:spAutoFit/>
          </a:bodyPr>
          <a:lstStyle/>
          <a:p>
            <a:pPr algn="l"/>
            <a:r>
              <a:rPr sz="2000" b="0" i="0">
                <a:solidFill>
                  <a:srgbClr val="1F1F1F"/>
                </a:solidFill>
                <a:latin typeface="Times New Roman"/>
              </a:rPr>
              <a:t>RaBitQ</a:t>
            </a:r>
          </a:p>
        </p:txBody>
      </p:sp>
      <p:sp>
        <p:nvSpPr>
          <p:cNvPr id="57" name="TextBox 56"/>
          <p:cNvSpPr txBox="1"/>
          <p:nvPr/>
        </p:nvSpPr>
        <p:spPr>
          <a:xfrm>
            <a:off x="2926080" y="31331804"/>
            <a:ext cx="3499104" cy="512064"/>
          </a:xfrm>
          <a:prstGeom prst="rect">
            <a:avLst/>
          </a:prstGeom>
          <a:noFill/>
        </p:spPr>
        <p:txBody>
          <a:bodyPr wrap="none" anchor="ctr" lIns="0" rIns="0" tIns="0" bIns="0">
            <a:spAutoFit/>
          </a:bodyPr>
          <a:lstStyle/>
          <a:p>
            <a:pPr algn="r"/>
            <a:r>
              <a:rPr sz="1900" b="0" i="0">
                <a:solidFill>
                  <a:srgbClr val="6F6F6F"/>
                </a:solidFill>
                <a:latin typeface="Times New Roman"/>
              </a:rPr>
              <a:t>.58 → </a:t>
            </a:r>
            <a:r>
              <a:rPr sz="2100" b="1" i="0">
                <a:solidFill>
                  <a:srgbClr val="0D4DA3"/>
                </a:solidFill>
                <a:latin typeface="Times New Roman"/>
              </a:rPr>
              <a:t>.64</a:t>
            </a:r>
          </a:p>
        </p:txBody>
      </p:sp>
      <p:sp>
        <p:nvSpPr>
          <p:cNvPr id="58" name="TextBox 57"/>
          <p:cNvSpPr txBox="1"/>
          <p:nvPr/>
        </p:nvSpPr>
        <p:spPr>
          <a:xfrm>
            <a:off x="6425184" y="31331804"/>
            <a:ext cx="3499104" cy="512064"/>
          </a:xfrm>
          <a:prstGeom prst="rect">
            <a:avLst/>
          </a:prstGeom>
          <a:noFill/>
        </p:spPr>
        <p:txBody>
          <a:bodyPr wrap="none" anchor="ctr" lIns="0" rIns="0" tIns="0" bIns="0">
            <a:spAutoFit/>
          </a:bodyPr>
          <a:lstStyle/>
          <a:p>
            <a:pPr algn="r"/>
            <a:r>
              <a:rPr sz="1900" b="0" i="0">
                <a:solidFill>
                  <a:srgbClr val="6F6F6F"/>
                </a:solidFill>
                <a:latin typeface="Times New Roman"/>
              </a:rPr>
              <a:t>.67 → </a:t>
            </a:r>
            <a:r>
              <a:rPr sz="2100" b="1" i="0">
                <a:solidFill>
                  <a:srgbClr val="0D4DA3"/>
                </a:solidFill>
                <a:latin typeface="Times New Roman"/>
              </a:rPr>
              <a:t>.75</a:t>
            </a:r>
          </a:p>
        </p:txBody>
      </p:sp>
      <p:sp>
        <p:nvSpPr>
          <p:cNvPr id="59" name="Rectangle 58"/>
          <p:cNvSpPr/>
          <p:nvPr/>
        </p:nvSpPr>
        <p:spPr>
          <a:xfrm>
            <a:off x="777240" y="31843868"/>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77240" y="32008460"/>
            <a:ext cx="9147048" cy="1179068"/>
          </a:xfrm>
          <a:prstGeom prst="rect">
            <a:avLst/>
          </a:prstGeom>
          <a:noFill/>
        </p:spPr>
        <p:txBody>
          <a:bodyPr wrap="square" lIns="0" rIns="0" tIns="0" bIns="0">
            <a:spAutoFit/>
          </a:bodyPr>
          <a:lstStyle/>
          <a:p>
            <a:pPr algn="l">
              <a:lnSpc>
                <a:spcPct val="122000"/>
              </a:lnSpc>
              <a:spcAft>
                <a:spcPts val="500"/>
              </a:spcAft>
            </a:pPr>
            <a:r>
              <a:rPr sz="2000" b="0" i="0">
                <a:solidFill>
                  <a:srgbClr val="1F1F1F"/>
                </a:solidFill>
                <a:latin typeface="Times New Roman"/>
              </a:rPr>
              <a:t>PMC improves or matches R@100 in all 16 method × direction configurations. The wound is in the centroid, not in any one codec, so the same one-line fix applies to every sign(·−c) method and to schemes such as LSH.</a:t>
            </a:r>
          </a:p>
        </p:txBody>
      </p:sp>
      <p:sp>
        <p:nvSpPr>
          <p:cNvPr id="61" name="TextBox 60"/>
          <p:cNvSpPr txBox="1"/>
          <p:nvPr/>
        </p:nvSpPr>
        <p:spPr>
          <a:xfrm>
            <a:off x="777240" y="33297256"/>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4.  How PMC differs from prior work</a:t>
            </a:r>
          </a:p>
        </p:txBody>
      </p:sp>
      <p:sp>
        <p:nvSpPr>
          <p:cNvPr id="62" name="Rectangle 61"/>
          <p:cNvSpPr/>
          <p:nvPr/>
        </p:nvSpPr>
        <p:spPr>
          <a:xfrm>
            <a:off x="777240" y="33848182"/>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804672" y="34038174"/>
            <a:ext cx="146304" cy="146304"/>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124712" y="33928446"/>
            <a:ext cx="8799576" cy="731519"/>
          </a:xfrm>
          <a:prstGeom prst="rect">
            <a:avLst/>
          </a:prstGeom>
          <a:noFill/>
        </p:spPr>
        <p:txBody>
          <a:bodyPr wrap="square" lIns="0" rIns="0" tIns="0" bIns="0">
            <a:spAutoFit/>
          </a:bodyPr>
          <a:lstStyle/>
          <a:p>
            <a:pPr algn="l">
              <a:lnSpc>
                <a:spcPct val="120000"/>
              </a:lnSpc>
              <a:spcAft>
                <a:spcPts val="0"/>
              </a:spcAft>
            </a:pPr>
            <a:r>
              <a:rPr sz="2000" b="1" i="0">
                <a:solidFill>
                  <a:srgbClr val="1F1F1F"/>
                </a:solidFill>
                <a:latin typeface="Times New Roman"/>
              </a:rPr>
              <a:t>Graph-side methods </a:t>
            </a:r>
            <a:r>
              <a:rPr sz="2000" b="0" i="0">
                <a:solidFill>
                  <a:srgbClr val="1F1F1F"/>
                </a:solidFill>
                <a:latin typeface="Times New Roman"/>
              </a:rPr>
              <a:t>(OOD-DiskANN, RoarGraph, DEG) rewire connectivity for distribution shift, but assume uncompressed vectors.</a:t>
            </a:r>
          </a:p>
        </p:txBody>
      </p:sp>
      <p:sp>
        <p:nvSpPr>
          <p:cNvPr id="65" name="Rectangle 64"/>
          <p:cNvSpPr/>
          <p:nvPr/>
        </p:nvSpPr>
        <p:spPr>
          <a:xfrm>
            <a:off x="804672" y="34851989"/>
            <a:ext cx="146304" cy="146304"/>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124712" y="34742261"/>
            <a:ext cx="8799576" cy="731519"/>
          </a:xfrm>
          <a:prstGeom prst="rect">
            <a:avLst/>
          </a:prstGeom>
          <a:noFill/>
        </p:spPr>
        <p:txBody>
          <a:bodyPr wrap="square" lIns="0" rIns="0" tIns="0" bIns="0">
            <a:spAutoFit/>
          </a:bodyPr>
          <a:lstStyle/>
          <a:p>
            <a:pPr algn="l">
              <a:lnSpc>
                <a:spcPct val="120000"/>
              </a:lnSpc>
              <a:spcAft>
                <a:spcPts val="0"/>
              </a:spcAft>
            </a:pPr>
            <a:r>
              <a:rPr sz="2000" b="1" i="0">
                <a:solidFill>
                  <a:srgbClr val="1F1F1F"/>
                </a:solidFill>
                <a:latin typeface="Times New Roman"/>
              </a:rPr>
              <a:t>Drift adaptation </a:t>
            </a:r>
            <a:r>
              <a:rPr sz="2000" b="0" i="0">
                <a:solidFill>
                  <a:srgbClr val="1F1F1F"/>
                </a:solidFill>
                <a:latin typeface="Times New Roman"/>
              </a:rPr>
              <a:t>(DeDrift, TCR) retrains or adapts at test time — an online cost PMC does not pay.</a:t>
            </a:r>
          </a:p>
        </p:txBody>
      </p:sp>
      <p:sp>
        <p:nvSpPr>
          <p:cNvPr id="67" name="Rectangle 66"/>
          <p:cNvSpPr/>
          <p:nvPr/>
        </p:nvSpPr>
        <p:spPr>
          <a:xfrm>
            <a:off x="804672" y="35665804"/>
            <a:ext cx="146304" cy="146304"/>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124712" y="35556076"/>
            <a:ext cx="8799576" cy="731519"/>
          </a:xfrm>
          <a:prstGeom prst="rect">
            <a:avLst/>
          </a:prstGeom>
          <a:noFill/>
        </p:spPr>
        <p:txBody>
          <a:bodyPr wrap="square" lIns="0" rIns="0" tIns="0" bIns="0">
            <a:spAutoFit/>
          </a:bodyPr>
          <a:lstStyle/>
          <a:p>
            <a:pPr algn="l">
              <a:lnSpc>
                <a:spcPct val="120000"/>
              </a:lnSpc>
              <a:spcAft>
                <a:spcPts val="0"/>
              </a:spcAft>
            </a:pPr>
            <a:r>
              <a:rPr sz="2000" b="1" i="0">
                <a:solidFill>
                  <a:srgbClr val="1F1F1F"/>
                </a:solidFill>
                <a:latin typeface="Times New Roman"/>
              </a:rPr>
              <a:t>Gap-aware calibration </a:t>
            </a:r>
            <a:r>
              <a:rPr sz="2000" b="0" i="0">
                <a:solidFill>
                  <a:srgbClr val="1F1F1F"/>
                </a:solidFill>
                <a:latin typeface="Times New Roman"/>
              </a:rPr>
              <a:t>rescales scores for mixed-modality ranking, but never enters code formation and still shifts the query at serving time.</a:t>
            </a:r>
          </a:p>
        </p:txBody>
      </p:sp>
      <p:sp>
        <p:nvSpPr>
          <p:cNvPr id="69" name="TextBox 68"/>
          <p:cNvSpPr txBox="1"/>
          <p:nvPr/>
        </p:nvSpPr>
        <p:spPr>
          <a:xfrm>
            <a:off x="777240" y="36388179"/>
            <a:ext cx="9147048" cy="807211"/>
          </a:xfrm>
          <a:prstGeom prst="rect">
            <a:avLst/>
          </a:prstGeom>
          <a:noFill/>
        </p:spPr>
        <p:txBody>
          <a:bodyPr wrap="square" lIns="0" rIns="0" tIns="0" bIns="0">
            <a:spAutoFit/>
          </a:bodyPr>
          <a:lstStyle/>
          <a:p>
            <a:pPr algn="l">
              <a:lnSpc>
                <a:spcPct val="122000"/>
              </a:lnSpc>
              <a:spcAft>
                <a:spcPts val="500"/>
              </a:spcAft>
            </a:pPr>
            <a:r>
              <a:rPr sz="2000" b="0" i="0">
                <a:solidFill>
                  <a:srgbClr val="1F1F1F"/>
                </a:solidFill>
                <a:latin typeface="Times New Roman"/>
              </a:rPr>
              <a:t>No prior work addresses how the modality gap degrades </a:t>
            </a:r>
            <a:r>
              <a:rPr sz="2000" b="1" i="0">
                <a:solidFill>
                  <a:srgbClr val="8B0029"/>
                </a:solidFill>
                <a:latin typeface="Times New Roman"/>
              </a:rPr>
              <a:t>compressed</a:t>
            </a:r>
            <a:r>
              <a:rPr sz="2000" b="0" i="0">
                <a:solidFill>
                  <a:srgbClr val="1F1F1F"/>
                </a:solidFill>
                <a:latin typeface="Times New Roman"/>
              </a:rPr>
              <a:t> ANN indexes, where centroid misalignment corrupts routing and codes at once.</a:t>
            </a:r>
          </a:p>
        </p:txBody>
      </p:sp>
      <p:sp>
        <p:nvSpPr>
          <p:cNvPr id="70" name="TextBox 69"/>
          <p:cNvSpPr txBox="1"/>
          <p:nvPr/>
        </p:nvSpPr>
        <p:spPr>
          <a:xfrm>
            <a:off x="777240" y="37305118"/>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5.  Contributions</a:t>
            </a:r>
          </a:p>
        </p:txBody>
      </p:sp>
      <p:sp>
        <p:nvSpPr>
          <p:cNvPr id="71" name="Rectangle 70"/>
          <p:cNvSpPr/>
          <p:nvPr/>
        </p:nvSpPr>
        <p:spPr>
          <a:xfrm>
            <a:off x="777240" y="37856044"/>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804672" y="38046036"/>
            <a:ext cx="146304" cy="146304"/>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124712" y="37936308"/>
            <a:ext cx="8799576" cy="768096"/>
          </a:xfrm>
          <a:prstGeom prst="rect">
            <a:avLst/>
          </a:prstGeom>
          <a:noFill/>
        </p:spPr>
        <p:txBody>
          <a:bodyPr wrap="square" lIns="0" rIns="0" tIns="0" bIns="0">
            <a:spAutoFit/>
          </a:bodyPr>
          <a:lstStyle/>
          <a:p>
            <a:pPr algn="l">
              <a:lnSpc>
                <a:spcPct val="120000"/>
              </a:lnSpc>
              <a:spcAft>
                <a:spcPts val="0"/>
              </a:spcAft>
            </a:pPr>
            <a:r>
              <a:rPr sz="2100" b="0" i="0">
                <a:solidFill>
                  <a:srgbClr val="1F1F1F"/>
                </a:solidFill>
                <a:latin typeface="Times New Roman"/>
              </a:rPr>
              <a:t>We show the modality gap corrupts IVF routing and binary codes together, with recall loss scaling with gap magnitude.</a:t>
            </a:r>
          </a:p>
        </p:txBody>
      </p:sp>
      <p:sp>
        <p:nvSpPr>
          <p:cNvPr id="74" name="Rectangle 73"/>
          <p:cNvSpPr/>
          <p:nvPr/>
        </p:nvSpPr>
        <p:spPr>
          <a:xfrm>
            <a:off x="804672" y="38896428"/>
            <a:ext cx="146304" cy="146304"/>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124712" y="38786700"/>
            <a:ext cx="8799576" cy="768096"/>
          </a:xfrm>
          <a:prstGeom prst="rect">
            <a:avLst/>
          </a:prstGeom>
          <a:noFill/>
        </p:spPr>
        <p:txBody>
          <a:bodyPr wrap="square" lIns="0" rIns="0" tIns="0" bIns="0">
            <a:spAutoFit/>
          </a:bodyPr>
          <a:lstStyle/>
          <a:p>
            <a:pPr algn="l">
              <a:lnSpc>
                <a:spcPct val="120000"/>
              </a:lnSpc>
              <a:spcAft>
                <a:spcPts val="0"/>
              </a:spcAft>
            </a:pPr>
            <a:r>
              <a:rPr sz="2100" b="0" i="0">
                <a:solidFill>
                  <a:srgbClr val="1F1F1F"/>
                </a:solidFill>
                <a:latin typeface="Times New Roman"/>
              </a:rPr>
              <a:t>We find the corruption concentrates in a few high-|gᵢ| dimensions; correcting only those recovers most of the loss.</a:t>
            </a:r>
          </a:p>
        </p:txBody>
      </p:sp>
      <p:sp>
        <p:nvSpPr>
          <p:cNvPr id="76" name="Rectangle 75"/>
          <p:cNvSpPr/>
          <p:nvPr/>
        </p:nvSpPr>
        <p:spPr>
          <a:xfrm>
            <a:off x="804672" y="39746820"/>
            <a:ext cx="146304" cy="146304"/>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124712" y="39637092"/>
            <a:ext cx="8799576" cy="768096"/>
          </a:xfrm>
          <a:prstGeom prst="rect">
            <a:avLst/>
          </a:prstGeom>
          <a:noFill/>
        </p:spPr>
        <p:txBody>
          <a:bodyPr wrap="square" lIns="0" rIns="0" tIns="0" bIns="0">
            <a:spAutoFit/>
          </a:bodyPr>
          <a:lstStyle/>
          <a:p>
            <a:pPr algn="l">
              <a:lnSpc>
                <a:spcPct val="120000"/>
              </a:lnSpc>
              <a:spcAft>
                <a:spcPts val="0"/>
              </a:spcAft>
            </a:pPr>
            <a:r>
              <a:rPr sz="2100" b="0" i="0">
                <a:solidFill>
                  <a:srgbClr val="1F1F1F"/>
                </a:solidFill>
                <a:latin typeface="Times New Roman"/>
              </a:rPr>
              <a:t>We propose PMC, a zero-cost build-time correction at α = 1; the ablation confirms database-side over query-side correction.</a:t>
            </a:r>
          </a:p>
        </p:txBody>
      </p:sp>
      <p:sp>
        <p:nvSpPr>
          <p:cNvPr id="78" name="TextBox 77"/>
          <p:cNvSpPr txBox="1"/>
          <p:nvPr/>
        </p:nvSpPr>
        <p:spPr>
          <a:xfrm>
            <a:off x="10564368" y="8896705"/>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6.  PMC — correct at the source</a:t>
            </a:r>
          </a:p>
        </p:txBody>
      </p:sp>
      <p:sp>
        <p:nvSpPr>
          <p:cNvPr id="79" name="Rectangle 78"/>
          <p:cNvSpPr/>
          <p:nvPr/>
        </p:nvSpPr>
        <p:spPr>
          <a:xfrm>
            <a:off x="10564368" y="9447631"/>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0911840" y="9573615"/>
            <a:ext cx="8763000" cy="564591"/>
          </a:xfrm>
          <a:prstGeom prst="rect">
            <a:avLst/>
          </a:prstGeom>
          <a:noFill/>
        </p:spPr>
        <p:txBody>
          <a:bodyPr wrap="square" lIns="0" rIns="0" tIns="0" bIns="0">
            <a:spAutoFit/>
          </a:bodyPr>
          <a:lstStyle/>
          <a:p>
            <a:pPr algn="l">
              <a:lnSpc>
                <a:spcPct val="122000"/>
              </a:lnSpc>
              <a:spcAft>
                <a:spcPts val="200"/>
              </a:spcAft>
            </a:pPr>
            <a:r>
              <a:rPr sz="2900" b="1" i="0">
                <a:solidFill>
                  <a:srgbClr val="0D4DA3"/>
                </a:solidFill>
                <a:latin typeface="Times New Roman"/>
              </a:rPr>
              <a:t>1    </a:t>
            </a:r>
            <a:r>
              <a:rPr sz="2900" b="1" i="0">
                <a:solidFill>
                  <a:srgbClr val="1F1F1F"/>
                </a:solidFill>
                <a:latin typeface="Times New Roman"/>
              </a:rPr>
              <a:t>Calibrate</a:t>
            </a:r>
          </a:p>
        </p:txBody>
      </p:sp>
      <p:sp>
        <p:nvSpPr>
          <p:cNvPr id="81" name="TextBox 80"/>
          <p:cNvSpPr txBox="1"/>
          <p:nvPr/>
        </p:nvSpPr>
        <p:spPr>
          <a:xfrm>
            <a:off x="10911840" y="10138206"/>
            <a:ext cx="8763000" cy="385063"/>
          </a:xfrm>
          <a:prstGeom prst="rect">
            <a:avLst/>
          </a:prstGeom>
          <a:noFill/>
        </p:spPr>
        <p:txBody>
          <a:bodyPr wrap="square" lIns="0" rIns="0" tIns="0" bIns="0">
            <a:spAutoFit/>
          </a:bodyPr>
          <a:lstStyle/>
          <a:p>
            <a:pPr algn="l">
              <a:lnSpc>
                <a:spcPct val="118000"/>
              </a:lnSpc>
              <a:spcAft>
                <a:spcPts val="200"/>
              </a:spcAft>
            </a:pPr>
            <a:r>
              <a:rPr sz="2000" b="0" i="0">
                <a:solidFill>
                  <a:srgbClr val="6F6F6F"/>
                </a:solidFill>
                <a:latin typeface="Times New Roman"/>
              </a:rPr>
              <a:t>estimate the gap from a small paired sample</a:t>
            </a:r>
          </a:p>
        </p:txBody>
      </p:sp>
      <p:sp>
        <p:nvSpPr>
          <p:cNvPr id="82" name="TextBox 81"/>
          <p:cNvSpPr txBox="1"/>
          <p:nvPr/>
        </p:nvSpPr>
        <p:spPr>
          <a:xfrm>
            <a:off x="10911840" y="10523269"/>
            <a:ext cx="8763000" cy="464820"/>
          </a:xfrm>
          <a:prstGeom prst="rect">
            <a:avLst/>
          </a:prstGeom>
          <a:noFill/>
        </p:spPr>
        <p:txBody>
          <a:bodyPr wrap="square" lIns="0" rIns="0" tIns="0" bIns="0">
            <a:spAutoFit/>
          </a:bodyPr>
          <a:lstStyle/>
          <a:p>
            <a:pPr algn="l">
              <a:lnSpc>
                <a:spcPct val="122000"/>
              </a:lnSpc>
              <a:spcAft>
                <a:spcPts val="0"/>
              </a:spcAft>
            </a:pPr>
            <a:r>
              <a:rPr sz="2500" b="1" i="0">
                <a:solidFill>
                  <a:srgbClr val="1F1F1F"/>
                </a:solidFill>
                <a:latin typeface="Times New Roman"/>
              </a:rPr>
              <a:t>g  =  μ</a:t>
            </a:r>
            <a:r>
              <a:rPr sz="1800" b="1" i="0" baseline="-25000">
                <a:solidFill>
                  <a:srgbClr val="1F1F1F"/>
                </a:solidFill>
                <a:latin typeface="Times New Roman"/>
              </a:rPr>
              <a:t>q</a:t>
            </a:r>
            <a:r>
              <a:rPr sz="2500" b="1" i="0">
                <a:solidFill>
                  <a:srgbClr val="1F1F1F"/>
                </a:solidFill>
                <a:latin typeface="Times New Roman"/>
              </a:rPr>
              <a:t> − μ</a:t>
            </a:r>
            <a:r>
              <a:rPr sz="1800" b="1" i="0" baseline="-25000">
                <a:solidFill>
                  <a:srgbClr val="1F1F1F"/>
                </a:solidFill>
                <a:latin typeface="Times New Roman"/>
              </a:rPr>
              <a:t>x</a:t>
            </a:r>
            <a:r>
              <a:rPr sz="1800" b="0" i="0">
                <a:solidFill>
                  <a:srgbClr val="6F6F6F"/>
                </a:solidFill>
                <a:latin typeface="Times New Roman"/>
              </a:rPr>
              <a:t>      25 samples suffice</a:t>
            </a:r>
          </a:p>
        </p:txBody>
      </p:sp>
      <p:sp>
        <p:nvSpPr>
          <p:cNvPr id="83" name="Rectangle 82"/>
          <p:cNvSpPr/>
          <p:nvPr/>
        </p:nvSpPr>
        <p:spPr>
          <a:xfrm>
            <a:off x="10564368" y="9527895"/>
            <a:ext cx="57150" cy="1542490"/>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Down Arrow 83"/>
          <p:cNvSpPr/>
          <p:nvPr/>
        </p:nvSpPr>
        <p:spPr>
          <a:xfrm>
            <a:off x="14753844" y="11106961"/>
            <a:ext cx="768096" cy="502920"/>
          </a:xfrm>
          <a:prstGeom prst="downArrow">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0911840" y="11774473"/>
            <a:ext cx="8763000" cy="564591"/>
          </a:xfrm>
          <a:prstGeom prst="rect">
            <a:avLst/>
          </a:prstGeom>
          <a:noFill/>
        </p:spPr>
        <p:txBody>
          <a:bodyPr wrap="square" lIns="0" rIns="0" tIns="0" bIns="0">
            <a:spAutoFit/>
          </a:bodyPr>
          <a:lstStyle/>
          <a:p>
            <a:pPr algn="l">
              <a:lnSpc>
                <a:spcPct val="122000"/>
              </a:lnSpc>
              <a:spcAft>
                <a:spcPts val="200"/>
              </a:spcAft>
            </a:pPr>
            <a:r>
              <a:rPr sz="2900" b="1" i="0">
                <a:solidFill>
                  <a:srgbClr val="0D4DA3"/>
                </a:solidFill>
                <a:latin typeface="Times New Roman"/>
              </a:rPr>
              <a:t>2    </a:t>
            </a:r>
            <a:r>
              <a:rPr sz="2900" b="1" i="0">
                <a:solidFill>
                  <a:srgbClr val="1F1F1F"/>
                </a:solidFill>
                <a:latin typeface="Times New Roman"/>
              </a:rPr>
              <a:t>Build  (offline)</a:t>
            </a:r>
          </a:p>
        </p:txBody>
      </p:sp>
      <p:sp>
        <p:nvSpPr>
          <p:cNvPr id="86" name="TextBox 85"/>
          <p:cNvSpPr txBox="1"/>
          <p:nvPr/>
        </p:nvSpPr>
        <p:spPr>
          <a:xfrm>
            <a:off x="10911840" y="12339064"/>
            <a:ext cx="8763000" cy="385063"/>
          </a:xfrm>
          <a:prstGeom prst="rect">
            <a:avLst/>
          </a:prstGeom>
          <a:noFill/>
        </p:spPr>
        <p:txBody>
          <a:bodyPr wrap="square" lIns="0" rIns="0" tIns="0" bIns="0">
            <a:spAutoFit/>
          </a:bodyPr>
          <a:lstStyle/>
          <a:p>
            <a:pPr algn="l">
              <a:lnSpc>
                <a:spcPct val="118000"/>
              </a:lnSpc>
              <a:spcAft>
                <a:spcPts val="200"/>
              </a:spcAft>
            </a:pPr>
            <a:r>
              <a:rPr sz="2000" b="0" i="0">
                <a:solidFill>
                  <a:srgbClr val="6F6F6F"/>
                </a:solidFill>
                <a:latin typeface="Times New Roman"/>
              </a:rPr>
              <a:t>shift every database vector, renormalize, then build the index exactly as before</a:t>
            </a:r>
          </a:p>
        </p:txBody>
      </p:sp>
      <p:sp>
        <p:nvSpPr>
          <p:cNvPr id="87" name="TextBox 86"/>
          <p:cNvSpPr txBox="1"/>
          <p:nvPr/>
        </p:nvSpPr>
        <p:spPr>
          <a:xfrm>
            <a:off x="10911840" y="12724127"/>
            <a:ext cx="8763000" cy="464820"/>
          </a:xfrm>
          <a:prstGeom prst="rect">
            <a:avLst/>
          </a:prstGeom>
          <a:noFill/>
        </p:spPr>
        <p:txBody>
          <a:bodyPr wrap="square" lIns="0" rIns="0" tIns="0" bIns="0">
            <a:spAutoFit/>
          </a:bodyPr>
          <a:lstStyle/>
          <a:p>
            <a:pPr algn="l">
              <a:lnSpc>
                <a:spcPct val="122000"/>
              </a:lnSpc>
              <a:spcAft>
                <a:spcPts val="0"/>
              </a:spcAft>
            </a:pPr>
            <a:r>
              <a:rPr sz="2500" b="1" i="0">
                <a:solidFill>
                  <a:srgbClr val="1F1F1F"/>
                </a:solidFill>
                <a:latin typeface="Times New Roman"/>
              </a:rPr>
              <a:t>x′  =  (x + α g) / ‖x + α g‖</a:t>
            </a:r>
            <a:r>
              <a:rPr sz="1800" b="0" i="0">
                <a:solidFill>
                  <a:srgbClr val="6F6F6F"/>
                </a:solidFill>
                <a:latin typeface="Times New Roman"/>
              </a:rPr>
              <a:t>      IVF-RaBitQ · BBQ · BinaryFlat</a:t>
            </a:r>
          </a:p>
        </p:txBody>
      </p:sp>
      <p:sp>
        <p:nvSpPr>
          <p:cNvPr id="88" name="Rectangle 87"/>
          <p:cNvSpPr/>
          <p:nvPr/>
        </p:nvSpPr>
        <p:spPr>
          <a:xfrm>
            <a:off x="10564368" y="11728753"/>
            <a:ext cx="57150" cy="1542490"/>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Down Arrow 88"/>
          <p:cNvSpPr/>
          <p:nvPr/>
        </p:nvSpPr>
        <p:spPr>
          <a:xfrm>
            <a:off x="14753844" y="13307819"/>
            <a:ext cx="768096" cy="502920"/>
          </a:xfrm>
          <a:prstGeom prst="downArrow">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0911840" y="13975331"/>
            <a:ext cx="8763000" cy="564591"/>
          </a:xfrm>
          <a:prstGeom prst="rect">
            <a:avLst/>
          </a:prstGeom>
          <a:noFill/>
        </p:spPr>
        <p:txBody>
          <a:bodyPr wrap="square" lIns="0" rIns="0" tIns="0" bIns="0">
            <a:spAutoFit/>
          </a:bodyPr>
          <a:lstStyle/>
          <a:p>
            <a:pPr algn="l">
              <a:lnSpc>
                <a:spcPct val="122000"/>
              </a:lnSpc>
              <a:spcAft>
                <a:spcPts val="200"/>
              </a:spcAft>
            </a:pPr>
            <a:r>
              <a:rPr sz="2900" b="1" i="0">
                <a:solidFill>
                  <a:srgbClr val="0D4DA3"/>
                </a:solidFill>
                <a:latin typeface="Times New Roman"/>
              </a:rPr>
              <a:t>3    </a:t>
            </a:r>
            <a:r>
              <a:rPr sz="2900" b="1" i="0">
                <a:solidFill>
                  <a:srgbClr val="1F1F1F"/>
                </a:solidFill>
                <a:latin typeface="Times New Roman"/>
              </a:rPr>
              <a:t>Serve  (online)</a:t>
            </a:r>
          </a:p>
        </p:txBody>
      </p:sp>
      <p:sp>
        <p:nvSpPr>
          <p:cNvPr id="91" name="TextBox 90"/>
          <p:cNvSpPr txBox="1"/>
          <p:nvPr/>
        </p:nvSpPr>
        <p:spPr>
          <a:xfrm>
            <a:off x="10911840" y="14539922"/>
            <a:ext cx="8763000" cy="385063"/>
          </a:xfrm>
          <a:prstGeom prst="rect">
            <a:avLst/>
          </a:prstGeom>
          <a:noFill/>
        </p:spPr>
        <p:txBody>
          <a:bodyPr wrap="square" lIns="0" rIns="0" tIns="0" bIns="0">
            <a:spAutoFit/>
          </a:bodyPr>
          <a:lstStyle/>
          <a:p>
            <a:pPr algn="l">
              <a:lnSpc>
                <a:spcPct val="118000"/>
              </a:lnSpc>
              <a:spcAft>
                <a:spcPts val="200"/>
              </a:spcAft>
            </a:pPr>
            <a:r>
              <a:rPr sz="2000" b="0" i="0">
                <a:solidFill>
                  <a:srgbClr val="6F6F6F"/>
                </a:solidFill>
                <a:latin typeface="Times New Roman"/>
              </a:rPr>
              <a:t>search the corrected index — the query is untouched</a:t>
            </a:r>
          </a:p>
        </p:txBody>
      </p:sp>
      <p:sp>
        <p:nvSpPr>
          <p:cNvPr id="92" name="TextBox 91"/>
          <p:cNvSpPr txBox="1"/>
          <p:nvPr/>
        </p:nvSpPr>
        <p:spPr>
          <a:xfrm>
            <a:off x="10911840" y="14924985"/>
            <a:ext cx="8763000" cy="464820"/>
          </a:xfrm>
          <a:prstGeom prst="rect">
            <a:avLst/>
          </a:prstGeom>
          <a:noFill/>
        </p:spPr>
        <p:txBody>
          <a:bodyPr wrap="square" lIns="0" rIns="0" tIns="0" bIns="0">
            <a:spAutoFit/>
          </a:bodyPr>
          <a:lstStyle/>
          <a:p>
            <a:pPr algn="l">
              <a:lnSpc>
                <a:spcPct val="122000"/>
              </a:lnSpc>
              <a:spcAft>
                <a:spcPts val="0"/>
              </a:spcAft>
            </a:pPr>
            <a:r>
              <a:rPr sz="2500" b="1" i="0">
                <a:solidFill>
                  <a:srgbClr val="1F1F1F"/>
                </a:solidFill>
                <a:latin typeface="Times New Roman"/>
              </a:rPr>
              <a:t>q′  =  q</a:t>
            </a:r>
            <a:r>
              <a:rPr sz="1800" b="0" i="0">
                <a:solidFill>
                  <a:srgbClr val="6F6F6F"/>
                </a:solidFill>
                <a:latin typeface="Times New Roman"/>
              </a:rPr>
              <a:t>      at α = 1</a:t>
            </a:r>
          </a:p>
        </p:txBody>
      </p:sp>
      <p:sp>
        <p:nvSpPr>
          <p:cNvPr id="93" name="Rectangle 92"/>
          <p:cNvSpPr/>
          <p:nvPr/>
        </p:nvSpPr>
        <p:spPr>
          <a:xfrm>
            <a:off x="10564368" y="13929611"/>
            <a:ext cx="57150" cy="1542490"/>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0564368" y="15563541"/>
            <a:ext cx="9147048" cy="1513433"/>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0802112" y="15801285"/>
            <a:ext cx="8671560" cy="1037945"/>
          </a:xfrm>
          <a:prstGeom prst="rect">
            <a:avLst/>
          </a:prstGeom>
          <a:noFill/>
        </p:spPr>
        <p:txBody>
          <a:bodyPr wrap="square" lIns="0" rIns="0" tIns="0" bIns="0">
            <a:spAutoFit/>
          </a:bodyPr>
          <a:lstStyle/>
          <a:p>
            <a:pPr algn="l">
              <a:lnSpc>
                <a:spcPct val="128000"/>
              </a:lnSpc>
              <a:spcAft>
                <a:spcPts val="400"/>
              </a:spcAft>
            </a:pPr>
            <a:r>
              <a:rPr sz="2400" b="1" i="0">
                <a:solidFill>
                  <a:srgbClr val="FFFFFF"/>
                </a:solidFill>
                <a:latin typeface="Times New Roman"/>
              </a:rPr>
              <a:t>At α = 1 the correction is absorbed into the index:</a:t>
            </a:r>
          </a:p>
          <a:p>
            <a:pPr algn="l">
              <a:lnSpc>
                <a:spcPct val="128000"/>
              </a:lnSpc>
              <a:spcAft>
                <a:spcPts val="400"/>
              </a:spcAft>
            </a:pPr>
            <a:r>
              <a:rPr sz="2400" b="1" i="0">
                <a:solidFill>
                  <a:srgbClr val="FFFFFF"/>
                </a:solidFill>
                <a:latin typeface="Times New Roman"/>
              </a:rPr>
              <a:t>zero query-time transform, zero extra index memory.</a:t>
            </a:r>
          </a:p>
        </p:txBody>
      </p:sp>
      <p:sp>
        <p:nvSpPr>
          <p:cNvPr id="96" name="TextBox 95"/>
          <p:cNvSpPr txBox="1"/>
          <p:nvPr/>
        </p:nvSpPr>
        <p:spPr>
          <a:xfrm>
            <a:off x="10564368" y="17223278"/>
            <a:ext cx="9147048" cy="2406192"/>
          </a:xfrm>
          <a:prstGeom prst="rect">
            <a:avLst/>
          </a:prstGeom>
          <a:noFill/>
        </p:spPr>
        <p:txBody>
          <a:bodyPr wrap="square" lIns="0" rIns="0" tIns="0" bIns="0">
            <a:spAutoFit/>
          </a:bodyPr>
          <a:lstStyle/>
          <a:p>
            <a:pPr algn="l">
              <a:lnSpc>
                <a:spcPct val="122000"/>
              </a:lnSpc>
              <a:spcAft>
                <a:spcPts val="500"/>
              </a:spcAft>
            </a:pPr>
            <a:r>
              <a:rPr sz="2100" b="0" i="0">
                <a:solidFill>
                  <a:srgbClr val="1F1F1F"/>
                </a:solidFill>
                <a:latin typeface="Times New Roman"/>
              </a:rPr>
              <a:t>The query side carries the complement, q′ = (q − (1−α) g) / ‖q − (1−α) g‖. α = 0 is query-only mean shift: it leaves the IVF centroids and the quantized codes misaligned and can lower recall. α = 1 makes q′ = q and rewrites the centroid where it plays both of its roles — routing pivot and code boundary. The α-sweep confirms α = 1 is best or near-best in every setting, and per-vector renormalization keeps the unit-norm structure the index expects.</a:t>
            </a:r>
          </a:p>
        </p:txBody>
      </p:sp>
      <p:sp>
        <p:nvSpPr>
          <p:cNvPr id="97" name="TextBox 96"/>
          <p:cNvSpPr txBox="1"/>
          <p:nvPr/>
        </p:nvSpPr>
        <p:spPr>
          <a:xfrm>
            <a:off x="10564368" y="19739198"/>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7.  Why it works: the gap is concentrated</a:t>
            </a:r>
          </a:p>
        </p:txBody>
      </p:sp>
      <p:sp>
        <p:nvSpPr>
          <p:cNvPr id="98" name="Rectangle 97"/>
          <p:cNvSpPr/>
          <p:nvPr/>
        </p:nvSpPr>
        <p:spPr>
          <a:xfrm>
            <a:off x="10564368" y="20290124"/>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9" name="Picture 98" descr="asset_fig3b.png"/>
          <p:cNvPicPr>
            <a:picLocks noChangeAspect="1"/>
          </p:cNvPicPr>
          <p:nvPr/>
        </p:nvPicPr>
        <p:blipFill>
          <a:blip r:embed="rId6"/>
          <a:stretch>
            <a:fillRect/>
          </a:stretch>
        </p:blipFill>
        <p:spPr>
          <a:xfrm>
            <a:off x="10564368" y="20370388"/>
            <a:ext cx="9147048" cy="7152868"/>
          </a:xfrm>
          <a:prstGeom prst="rect">
            <a:avLst/>
          </a:prstGeom>
        </p:spPr>
      </p:pic>
      <p:sp>
        <p:nvSpPr>
          <p:cNvPr id="100" name="TextBox 99"/>
          <p:cNvSpPr txBox="1"/>
          <p:nvPr/>
        </p:nvSpPr>
        <p:spPr>
          <a:xfrm>
            <a:off x="10564368" y="27614696"/>
            <a:ext cx="9147048" cy="464820"/>
          </a:xfrm>
          <a:prstGeom prst="rect">
            <a:avLst/>
          </a:prstGeom>
          <a:noFill/>
        </p:spPr>
        <p:txBody>
          <a:bodyPr wrap="square" lIns="0" rIns="0" tIns="0" bIns="0">
            <a:spAutoFit/>
          </a:bodyPr>
          <a:lstStyle/>
          <a:p>
            <a:pPr algn="l">
              <a:lnSpc>
                <a:spcPct val="122000"/>
              </a:lnSpc>
              <a:spcAft>
                <a:spcPts val="0"/>
              </a:spcAft>
            </a:pPr>
            <a:r>
              <a:rPr sz="2500" b="1" i="0">
                <a:solidFill>
                  <a:srgbClr val="0D4DA3"/>
                </a:solidFill>
                <a:latin typeface="Times New Roman"/>
              </a:rPr>
              <a:t>Correcting 5% of dimensions can already be enough.</a:t>
            </a:r>
          </a:p>
        </p:txBody>
      </p:sp>
      <p:sp>
        <p:nvSpPr>
          <p:cNvPr id="101" name="TextBox 100"/>
          <p:cNvSpPr txBox="1"/>
          <p:nvPr/>
        </p:nvSpPr>
        <p:spPr>
          <a:xfrm>
            <a:off x="10564368" y="28207532"/>
            <a:ext cx="9147048" cy="2015744"/>
          </a:xfrm>
          <a:prstGeom prst="rect">
            <a:avLst/>
          </a:prstGeom>
          <a:noFill/>
        </p:spPr>
        <p:txBody>
          <a:bodyPr wrap="square" lIns="0" rIns="0" tIns="0" bIns="0">
            <a:spAutoFit/>
          </a:bodyPr>
          <a:lstStyle/>
          <a:p>
            <a:pPr algn="l">
              <a:lnSpc>
                <a:spcPct val="122000"/>
              </a:lnSpc>
              <a:spcAft>
                <a:spcPts val="500"/>
              </a:spcAft>
            </a:pPr>
            <a:r>
              <a:rPr sz="2100" b="0" i="0">
                <a:solidFill>
                  <a:srgbClr val="1F1F1F"/>
                </a:solidFill>
                <a:latin typeface="Times New Roman"/>
              </a:rPr>
              <a:t>Restricting the shift to the top-P% of dimensions by |gᵢ| isolates the mechanism. On CLIP, whose gap energy is concentrated (top 10% carries 86–92%), P = 5% already reaches peak recall. ImageBind's diffuse gap (≈72%) needs the full vector — exactly what the flip-risk analysis predicts. This is the evidence that PMC repairs a structured failure rather than perturbing the codes at random.</a:t>
            </a:r>
          </a:p>
        </p:txBody>
      </p:sp>
      <p:sp>
        <p:nvSpPr>
          <p:cNvPr id="102" name="TextBox 101"/>
          <p:cNvSpPr txBox="1"/>
          <p:nvPr/>
        </p:nvSpPr>
        <p:spPr>
          <a:xfrm>
            <a:off x="10564368" y="30333004"/>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8.  Beyond one bit</a:t>
            </a:r>
          </a:p>
        </p:txBody>
      </p:sp>
      <p:sp>
        <p:nvSpPr>
          <p:cNvPr id="103" name="Rectangle 102"/>
          <p:cNvSpPr/>
          <p:nvPr/>
        </p:nvSpPr>
        <p:spPr>
          <a:xfrm>
            <a:off x="10564368" y="30883930"/>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0564368" y="30964194"/>
            <a:ext cx="9147048" cy="1179068"/>
          </a:xfrm>
          <a:prstGeom prst="rect">
            <a:avLst/>
          </a:prstGeom>
          <a:noFill/>
        </p:spPr>
        <p:txBody>
          <a:bodyPr wrap="square" lIns="0" rIns="0" tIns="0" bIns="0">
            <a:spAutoFit/>
          </a:bodyPr>
          <a:lstStyle/>
          <a:p>
            <a:pPr algn="l">
              <a:lnSpc>
                <a:spcPct val="122000"/>
              </a:lnSpc>
              <a:spcAft>
                <a:spcPts val="500"/>
              </a:spcAft>
            </a:pPr>
            <a:r>
              <a:rPr sz="2000" b="0" i="0">
                <a:solidFill>
                  <a:srgbClr val="1F1F1F"/>
                </a:solidFill>
                <a:latin typeface="Times New Roman"/>
              </a:rPr>
              <a:t>Multi-bit quantizers absorb some displacement through wider error margins, so BQ is where the wound is deepest — but the same correction still helps. R@100, Vanilla → PMC, both directions averaged.</a:t>
            </a:r>
          </a:p>
        </p:txBody>
      </p:sp>
      <p:sp>
        <p:nvSpPr>
          <p:cNvPr id="105" name="TextBox 104"/>
          <p:cNvSpPr txBox="1"/>
          <p:nvPr/>
        </p:nvSpPr>
        <p:spPr>
          <a:xfrm>
            <a:off x="10564368" y="32252990"/>
            <a:ext cx="2651760" cy="420624"/>
          </a:xfrm>
          <a:prstGeom prst="rect">
            <a:avLst/>
          </a:prstGeom>
          <a:noFill/>
        </p:spPr>
        <p:txBody>
          <a:bodyPr wrap="none" anchor="ctr" lIns="0" rIns="0" tIns="0" bIns="0">
            <a:spAutoFit/>
          </a:bodyPr>
          <a:lstStyle/>
          <a:p>
            <a:pPr algn="l"/>
            <a:r>
              <a:rPr sz="1900" b="1" i="0">
                <a:solidFill>
                  <a:srgbClr val="6F6F6F"/>
                </a:solidFill>
                <a:latin typeface="Times New Roman"/>
              </a:rPr>
              <a:t>Dataset · Enc.</a:t>
            </a:r>
          </a:p>
        </p:txBody>
      </p:sp>
      <p:sp>
        <p:nvSpPr>
          <p:cNvPr id="106" name="TextBox 105"/>
          <p:cNvSpPr txBox="1"/>
          <p:nvPr/>
        </p:nvSpPr>
        <p:spPr>
          <a:xfrm>
            <a:off x="13216128" y="32252990"/>
            <a:ext cx="3247644" cy="420624"/>
          </a:xfrm>
          <a:prstGeom prst="rect">
            <a:avLst/>
          </a:prstGeom>
          <a:noFill/>
        </p:spPr>
        <p:txBody>
          <a:bodyPr wrap="none" anchor="ctr" lIns="0" rIns="0" tIns="0" bIns="0">
            <a:spAutoFit/>
          </a:bodyPr>
          <a:lstStyle/>
          <a:p>
            <a:pPr algn="r"/>
            <a:r>
              <a:rPr sz="1900" b="1" i="0">
                <a:solidFill>
                  <a:srgbClr val="6F6F6F"/>
                </a:solidFill>
                <a:latin typeface="Times New Roman"/>
              </a:rPr>
              <a:t>IVFPQ</a:t>
            </a:r>
          </a:p>
        </p:txBody>
      </p:sp>
      <p:sp>
        <p:nvSpPr>
          <p:cNvPr id="107" name="TextBox 106"/>
          <p:cNvSpPr txBox="1"/>
          <p:nvPr/>
        </p:nvSpPr>
        <p:spPr>
          <a:xfrm>
            <a:off x="16463772" y="32252990"/>
            <a:ext cx="3247644" cy="420624"/>
          </a:xfrm>
          <a:prstGeom prst="rect">
            <a:avLst/>
          </a:prstGeom>
          <a:noFill/>
        </p:spPr>
        <p:txBody>
          <a:bodyPr wrap="none" anchor="ctr" lIns="0" rIns="0" tIns="0" bIns="0">
            <a:spAutoFit/>
          </a:bodyPr>
          <a:lstStyle/>
          <a:p>
            <a:pPr algn="r"/>
            <a:r>
              <a:rPr sz="1900" b="1" i="0">
                <a:solidFill>
                  <a:srgbClr val="6F6F6F"/>
                </a:solidFill>
                <a:latin typeface="Times New Roman"/>
              </a:rPr>
              <a:t>OPQ</a:t>
            </a:r>
          </a:p>
        </p:txBody>
      </p:sp>
      <p:sp>
        <p:nvSpPr>
          <p:cNvPr id="108" name="Rectangle 107"/>
          <p:cNvSpPr/>
          <p:nvPr/>
        </p:nvSpPr>
        <p:spPr>
          <a:xfrm>
            <a:off x="10564368" y="32710190"/>
            <a:ext cx="9147048"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0564368" y="32747528"/>
            <a:ext cx="2651760" cy="512064"/>
          </a:xfrm>
          <a:prstGeom prst="rect">
            <a:avLst/>
          </a:prstGeom>
          <a:noFill/>
        </p:spPr>
        <p:txBody>
          <a:bodyPr wrap="none" anchor="ctr" lIns="0" rIns="0" tIns="0" bIns="0">
            <a:spAutoFit/>
          </a:bodyPr>
          <a:lstStyle/>
          <a:p>
            <a:pPr algn="l"/>
            <a:r>
              <a:rPr sz="2000" b="0" i="0">
                <a:solidFill>
                  <a:srgbClr val="1F1F1F"/>
                </a:solidFill>
                <a:latin typeface="Times New Roman"/>
              </a:rPr>
              <a:t>MSCOCO CLIP</a:t>
            </a:r>
          </a:p>
        </p:txBody>
      </p:sp>
      <p:sp>
        <p:nvSpPr>
          <p:cNvPr id="110" name="TextBox 109"/>
          <p:cNvSpPr txBox="1"/>
          <p:nvPr/>
        </p:nvSpPr>
        <p:spPr>
          <a:xfrm>
            <a:off x="13216128" y="32747528"/>
            <a:ext cx="3247644" cy="512064"/>
          </a:xfrm>
          <a:prstGeom prst="rect">
            <a:avLst/>
          </a:prstGeom>
          <a:noFill/>
        </p:spPr>
        <p:txBody>
          <a:bodyPr wrap="none" anchor="ctr" lIns="0" rIns="0" tIns="0" bIns="0">
            <a:spAutoFit/>
          </a:bodyPr>
          <a:lstStyle/>
          <a:p>
            <a:pPr algn="r"/>
            <a:r>
              <a:rPr sz="1800" b="0" i="0">
                <a:solidFill>
                  <a:srgbClr val="6F6F6F"/>
                </a:solidFill>
                <a:latin typeface="Times New Roman"/>
              </a:rPr>
              <a:t>.52→</a:t>
            </a:r>
            <a:r>
              <a:rPr sz="2100" b="1" i="0">
                <a:solidFill>
                  <a:srgbClr val="0D4DA3"/>
                </a:solidFill>
                <a:latin typeface="Times New Roman"/>
              </a:rPr>
              <a:t>.64</a:t>
            </a:r>
            <a:r>
              <a:rPr sz="1800" b="1" i="0">
                <a:solidFill>
                  <a:srgbClr val="0D4DA3"/>
                </a:solidFill>
                <a:latin typeface="Times New Roman"/>
              </a:rPr>
              <a:t> +23%</a:t>
            </a:r>
          </a:p>
        </p:txBody>
      </p:sp>
      <p:sp>
        <p:nvSpPr>
          <p:cNvPr id="111" name="TextBox 110"/>
          <p:cNvSpPr txBox="1"/>
          <p:nvPr/>
        </p:nvSpPr>
        <p:spPr>
          <a:xfrm>
            <a:off x="16463772" y="32747528"/>
            <a:ext cx="3247644" cy="512064"/>
          </a:xfrm>
          <a:prstGeom prst="rect">
            <a:avLst/>
          </a:prstGeom>
          <a:noFill/>
        </p:spPr>
        <p:txBody>
          <a:bodyPr wrap="none" anchor="ctr" lIns="0" rIns="0" tIns="0" bIns="0">
            <a:spAutoFit/>
          </a:bodyPr>
          <a:lstStyle/>
          <a:p>
            <a:pPr algn="r"/>
            <a:r>
              <a:rPr sz="1800" b="0" i="0">
                <a:solidFill>
                  <a:srgbClr val="6F6F6F"/>
                </a:solidFill>
                <a:latin typeface="Times New Roman"/>
              </a:rPr>
              <a:t>.64→</a:t>
            </a:r>
            <a:r>
              <a:rPr sz="2100" b="1" i="0">
                <a:solidFill>
                  <a:srgbClr val="0D4DA3"/>
                </a:solidFill>
                <a:latin typeface="Times New Roman"/>
              </a:rPr>
              <a:t>.67</a:t>
            </a:r>
            <a:r>
              <a:rPr sz="1800" b="1" i="0">
                <a:solidFill>
                  <a:srgbClr val="0D4DA3"/>
                </a:solidFill>
                <a:latin typeface="Times New Roman"/>
              </a:rPr>
              <a:t> +4%</a:t>
            </a:r>
          </a:p>
        </p:txBody>
      </p:sp>
      <p:sp>
        <p:nvSpPr>
          <p:cNvPr id="112" name="Rectangle 111"/>
          <p:cNvSpPr/>
          <p:nvPr/>
        </p:nvSpPr>
        <p:spPr>
          <a:xfrm>
            <a:off x="10564368" y="33259592"/>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0564368" y="33259592"/>
            <a:ext cx="2651760" cy="512064"/>
          </a:xfrm>
          <a:prstGeom prst="rect">
            <a:avLst/>
          </a:prstGeom>
          <a:noFill/>
        </p:spPr>
        <p:txBody>
          <a:bodyPr wrap="none" anchor="ctr" lIns="0" rIns="0" tIns="0" bIns="0">
            <a:spAutoFit/>
          </a:bodyPr>
          <a:lstStyle/>
          <a:p>
            <a:pPr algn="l"/>
            <a:r>
              <a:rPr sz="2000" b="0" i="0">
                <a:solidFill>
                  <a:srgbClr val="1F1F1F"/>
                </a:solidFill>
                <a:latin typeface="Times New Roman"/>
              </a:rPr>
              <a:t>MSCOCO CL-L</a:t>
            </a:r>
          </a:p>
        </p:txBody>
      </p:sp>
      <p:sp>
        <p:nvSpPr>
          <p:cNvPr id="114" name="TextBox 113"/>
          <p:cNvSpPr txBox="1"/>
          <p:nvPr/>
        </p:nvSpPr>
        <p:spPr>
          <a:xfrm>
            <a:off x="13216128" y="33259592"/>
            <a:ext cx="3247644" cy="512064"/>
          </a:xfrm>
          <a:prstGeom prst="rect">
            <a:avLst/>
          </a:prstGeom>
          <a:noFill/>
        </p:spPr>
        <p:txBody>
          <a:bodyPr wrap="none" anchor="ctr" lIns="0" rIns="0" tIns="0" bIns="0">
            <a:spAutoFit/>
          </a:bodyPr>
          <a:lstStyle/>
          <a:p>
            <a:pPr algn="r"/>
            <a:r>
              <a:rPr sz="1800" b="0" i="0">
                <a:solidFill>
                  <a:srgbClr val="6F6F6F"/>
                </a:solidFill>
                <a:latin typeface="Times New Roman"/>
              </a:rPr>
              <a:t>.39→</a:t>
            </a:r>
            <a:r>
              <a:rPr sz="2100" b="1" i="0">
                <a:solidFill>
                  <a:srgbClr val="0D4DA3"/>
                </a:solidFill>
                <a:latin typeface="Times New Roman"/>
              </a:rPr>
              <a:t>.61</a:t>
            </a:r>
            <a:r>
              <a:rPr sz="1800" b="1" i="0">
                <a:solidFill>
                  <a:srgbClr val="0D4DA3"/>
                </a:solidFill>
                <a:latin typeface="Times New Roman"/>
              </a:rPr>
              <a:t> +56%</a:t>
            </a:r>
          </a:p>
        </p:txBody>
      </p:sp>
      <p:sp>
        <p:nvSpPr>
          <p:cNvPr id="115" name="TextBox 114"/>
          <p:cNvSpPr txBox="1"/>
          <p:nvPr/>
        </p:nvSpPr>
        <p:spPr>
          <a:xfrm>
            <a:off x="16463772" y="33259592"/>
            <a:ext cx="3247644" cy="512064"/>
          </a:xfrm>
          <a:prstGeom prst="rect">
            <a:avLst/>
          </a:prstGeom>
          <a:noFill/>
        </p:spPr>
        <p:txBody>
          <a:bodyPr wrap="none" anchor="ctr" lIns="0" rIns="0" tIns="0" bIns="0">
            <a:spAutoFit/>
          </a:bodyPr>
          <a:lstStyle/>
          <a:p>
            <a:pPr algn="r"/>
            <a:r>
              <a:rPr sz="1800" b="0" i="0">
                <a:solidFill>
                  <a:srgbClr val="6F6F6F"/>
                </a:solidFill>
                <a:latin typeface="Times New Roman"/>
              </a:rPr>
              <a:t>.57→</a:t>
            </a:r>
            <a:r>
              <a:rPr sz="2100" b="1" i="0">
                <a:solidFill>
                  <a:srgbClr val="0D4DA3"/>
                </a:solidFill>
                <a:latin typeface="Times New Roman"/>
              </a:rPr>
              <a:t>.67</a:t>
            </a:r>
            <a:r>
              <a:rPr sz="1800" b="1" i="0">
                <a:solidFill>
                  <a:srgbClr val="0D4DA3"/>
                </a:solidFill>
                <a:latin typeface="Times New Roman"/>
              </a:rPr>
              <a:t> +17%</a:t>
            </a:r>
          </a:p>
        </p:txBody>
      </p:sp>
      <p:sp>
        <p:nvSpPr>
          <p:cNvPr id="116" name="Rectangle 115"/>
          <p:cNvSpPr/>
          <p:nvPr/>
        </p:nvSpPr>
        <p:spPr>
          <a:xfrm>
            <a:off x="10564368" y="33771656"/>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10564368" y="33771656"/>
            <a:ext cx="2651760" cy="512064"/>
          </a:xfrm>
          <a:prstGeom prst="rect">
            <a:avLst/>
          </a:prstGeom>
          <a:noFill/>
        </p:spPr>
        <p:txBody>
          <a:bodyPr wrap="none" anchor="ctr" lIns="0" rIns="0" tIns="0" bIns="0">
            <a:spAutoFit/>
          </a:bodyPr>
          <a:lstStyle/>
          <a:p>
            <a:pPr algn="l"/>
            <a:r>
              <a:rPr sz="2000" b="0" i="0">
                <a:solidFill>
                  <a:srgbClr val="1F1F1F"/>
                </a:solidFill>
                <a:latin typeface="Times New Roman"/>
              </a:rPr>
              <a:t>MSCOCO IB</a:t>
            </a:r>
          </a:p>
        </p:txBody>
      </p:sp>
      <p:sp>
        <p:nvSpPr>
          <p:cNvPr id="118" name="TextBox 117"/>
          <p:cNvSpPr txBox="1"/>
          <p:nvPr/>
        </p:nvSpPr>
        <p:spPr>
          <a:xfrm>
            <a:off x="13216128" y="33771656"/>
            <a:ext cx="3247644" cy="512064"/>
          </a:xfrm>
          <a:prstGeom prst="rect">
            <a:avLst/>
          </a:prstGeom>
          <a:noFill/>
        </p:spPr>
        <p:txBody>
          <a:bodyPr wrap="none" anchor="ctr" lIns="0" rIns="0" tIns="0" bIns="0">
            <a:spAutoFit/>
          </a:bodyPr>
          <a:lstStyle/>
          <a:p>
            <a:pPr algn="r"/>
            <a:r>
              <a:rPr sz="1800" b="0" i="0">
                <a:solidFill>
                  <a:srgbClr val="6F6F6F"/>
                </a:solidFill>
                <a:latin typeface="Times New Roman"/>
              </a:rPr>
              <a:t>.59→</a:t>
            </a:r>
            <a:r>
              <a:rPr sz="2100" b="1" i="0">
                <a:solidFill>
                  <a:srgbClr val="0D4DA3"/>
                </a:solidFill>
                <a:latin typeface="Times New Roman"/>
              </a:rPr>
              <a:t>.69</a:t>
            </a:r>
            <a:r>
              <a:rPr sz="1800" b="1" i="0">
                <a:solidFill>
                  <a:srgbClr val="0D4DA3"/>
                </a:solidFill>
                <a:latin typeface="Times New Roman"/>
              </a:rPr>
              <a:t> +17%</a:t>
            </a:r>
          </a:p>
        </p:txBody>
      </p:sp>
      <p:sp>
        <p:nvSpPr>
          <p:cNvPr id="119" name="TextBox 118"/>
          <p:cNvSpPr txBox="1"/>
          <p:nvPr/>
        </p:nvSpPr>
        <p:spPr>
          <a:xfrm>
            <a:off x="16463772" y="33771656"/>
            <a:ext cx="3247644" cy="512064"/>
          </a:xfrm>
          <a:prstGeom prst="rect">
            <a:avLst/>
          </a:prstGeom>
          <a:noFill/>
        </p:spPr>
        <p:txBody>
          <a:bodyPr wrap="none" anchor="ctr" lIns="0" rIns="0" tIns="0" bIns="0">
            <a:spAutoFit/>
          </a:bodyPr>
          <a:lstStyle/>
          <a:p>
            <a:pPr algn="r"/>
            <a:r>
              <a:rPr sz="1800" b="0" i="0">
                <a:solidFill>
                  <a:srgbClr val="6F6F6F"/>
                </a:solidFill>
                <a:latin typeface="Times New Roman"/>
              </a:rPr>
              <a:t>.70→</a:t>
            </a:r>
            <a:r>
              <a:rPr sz="2100" b="1" i="0">
                <a:solidFill>
                  <a:srgbClr val="0D4DA3"/>
                </a:solidFill>
                <a:latin typeface="Times New Roman"/>
              </a:rPr>
              <a:t>.77</a:t>
            </a:r>
            <a:r>
              <a:rPr sz="1800" b="1" i="0">
                <a:solidFill>
                  <a:srgbClr val="0D4DA3"/>
                </a:solidFill>
                <a:latin typeface="Times New Roman"/>
              </a:rPr>
              <a:t> +9%</a:t>
            </a:r>
          </a:p>
        </p:txBody>
      </p:sp>
      <p:sp>
        <p:nvSpPr>
          <p:cNvPr id="120" name="Rectangle 119"/>
          <p:cNvSpPr/>
          <p:nvPr/>
        </p:nvSpPr>
        <p:spPr>
          <a:xfrm>
            <a:off x="10564368" y="34283720"/>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0564368" y="34283720"/>
            <a:ext cx="2651760" cy="512064"/>
          </a:xfrm>
          <a:prstGeom prst="rect">
            <a:avLst/>
          </a:prstGeom>
          <a:noFill/>
        </p:spPr>
        <p:txBody>
          <a:bodyPr wrap="none" anchor="ctr" lIns="0" rIns="0" tIns="0" bIns="0">
            <a:spAutoFit/>
          </a:bodyPr>
          <a:lstStyle/>
          <a:p>
            <a:pPr algn="l"/>
            <a:r>
              <a:rPr sz="2000" b="0" i="0">
                <a:solidFill>
                  <a:srgbClr val="1F1F1F"/>
                </a:solidFill>
                <a:latin typeface="Times New Roman"/>
              </a:rPr>
              <a:t>Flickr30K CL-L</a:t>
            </a:r>
          </a:p>
        </p:txBody>
      </p:sp>
      <p:sp>
        <p:nvSpPr>
          <p:cNvPr id="122" name="TextBox 121"/>
          <p:cNvSpPr txBox="1"/>
          <p:nvPr/>
        </p:nvSpPr>
        <p:spPr>
          <a:xfrm>
            <a:off x="13216128" y="34283720"/>
            <a:ext cx="3247644" cy="512064"/>
          </a:xfrm>
          <a:prstGeom prst="rect">
            <a:avLst/>
          </a:prstGeom>
          <a:noFill/>
        </p:spPr>
        <p:txBody>
          <a:bodyPr wrap="none" anchor="ctr" lIns="0" rIns="0" tIns="0" bIns="0">
            <a:spAutoFit/>
          </a:bodyPr>
          <a:lstStyle/>
          <a:p>
            <a:pPr algn="r"/>
            <a:r>
              <a:rPr sz="1800" b="0" i="0">
                <a:solidFill>
                  <a:srgbClr val="6F6F6F"/>
                </a:solidFill>
                <a:latin typeface="Times New Roman"/>
              </a:rPr>
              <a:t>.47→</a:t>
            </a:r>
            <a:r>
              <a:rPr sz="2100" b="1" i="0">
                <a:solidFill>
                  <a:srgbClr val="0D4DA3"/>
                </a:solidFill>
                <a:latin typeface="Times New Roman"/>
              </a:rPr>
              <a:t>.50</a:t>
            </a:r>
            <a:r>
              <a:rPr sz="1800" b="1" i="0">
                <a:solidFill>
                  <a:srgbClr val="0D4DA3"/>
                </a:solidFill>
                <a:latin typeface="Times New Roman"/>
              </a:rPr>
              <a:t> +7%</a:t>
            </a:r>
          </a:p>
        </p:txBody>
      </p:sp>
      <p:sp>
        <p:nvSpPr>
          <p:cNvPr id="123" name="TextBox 122"/>
          <p:cNvSpPr txBox="1"/>
          <p:nvPr/>
        </p:nvSpPr>
        <p:spPr>
          <a:xfrm>
            <a:off x="16463772" y="34283720"/>
            <a:ext cx="3247644" cy="512064"/>
          </a:xfrm>
          <a:prstGeom prst="rect">
            <a:avLst/>
          </a:prstGeom>
          <a:noFill/>
        </p:spPr>
        <p:txBody>
          <a:bodyPr wrap="none" anchor="ctr" lIns="0" rIns="0" tIns="0" bIns="0">
            <a:spAutoFit/>
          </a:bodyPr>
          <a:lstStyle/>
          <a:p>
            <a:pPr algn="r"/>
            <a:r>
              <a:rPr sz="1800" b="0" i="0">
                <a:solidFill>
                  <a:srgbClr val="6F6F6F"/>
                </a:solidFill>
                <a:latin typeface="Times New Roman"/>
              </a:rPr>
              <a:t>.51→</a:t>
            </a:r>
            <a:r>
              <a:rPr sz="2100" b="1" i="0">
                <a:solidFill>
                  <a:srgbClr val="0D4DA3"/>
                </a:solidFill>
                <a:latin typeface="Times New Roman"/>
              </a:rPr>
              <a:t>.52</a:t>
            </a:r>
            <a:r>
              <a:rPr sz="1800" b="1" i="0">
                <a:solidFill>
                  <a:srgbClr val="0D4DA3"/>
                </a:solidFill>
                <a:latin typeface="Times New Roman"/>
              </a:rPr>
              <a:t> +1%</a:t>
            </a:r>
          </a:p>
        </p:txBody>
      </p:sp>
      <p:sp>
        <p:nvSpPr>
          <p:cNvPr id="124" name="Rectangle 123"/>
          <p:cNvSpPr/>
          <p:nvPr/>
        </p:nvSpPr>
        <p:spPr>
          <a:xfrm>
            <a:off x="10564368" y="34795784"/>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0564368" y="34960376"/>
            <a:ext cx="9147048" cy="1179068"/>
          </a:xfrm>
          <a:prstGeom prst="rect">
            <a:avLst/>
          </a:prstGeom>
          <a:noFill/>
        </p:spPr>
        <p:txBody>
          <a:bodyPr wrap="square" lIns="0" rIns="0" tIns="0" bIns="0">
            <a:spAutoFit/>
          </a:bodyPr>
          <a:lstStyle/>
          <a:p>
            <a:pPr algn="l">
              <a:lnSpc>
                <a:spcPct val="122000"/>
              </a:lnSpc>
              <a:spcAft>
                <a:spcPts val="500"/>
              </a:spcAft>
            </a:pPr>
            <a:r>
              <a:rPr sz="2000" b="0" i="0">
                <a:solidFill>
                  <a:srgbClr val="1F1F1F"/>
                </a:solidFill>
                <a:latin typeface="Times New Roman"/>
              </a:rPr>
              <a:t>OPQ's learned rotation partly absorbs the shift, giving smaller but complementary gains; IVFPQ lacks this and benefits more. Audio is omitted here — its database is too small to train a codebook.</a:t>
            </a:r>
          </a:p>
        </p:txBody>
      </p:sp>
      <p:sp>
        <p:nvSpPr>
          <p:cNvPr id="126" name="TextBox 125"/>
          <p:cNvSpPr txBox="1"/>
          <p:nvPr/>
        </p:nvSpPr>
        <p:spPr>
          <a:xfrm>
            <a:off x="10564368" y="36249172"/>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9.  Experimental setup</a:t>
            </a:r>
          </a:p>
        </p:txBody>
      </p:sp>
      <p:sp>
        <p:nvSpPr>
          <p:cNvPr id="127" name="Rectangle 126"/>
          <p:cNvSpPr/>
          <p:nvPr/>
        </p:nvSpPr>
        <p:spPr>
          <a:xfrm>
            <a:off x="10564368" y="36800098"/>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0564368" y="36880362"/>
            <a:ext cx="9147048" cy="2294635"/>
          </a:xfrm>
          <a:prstGeom prst="rect">
            <a:avLst/>
          </a:prstGeom>
          <a:noFill/>
        </p:spPr>
        <p:txBody>
          <a:bodyPr wrap="square" lIns="0" rIns="0" tIns="0" bIns="0">
            <a:spAutoFit/>
          </a:bodyPr>
          <a:lstStyle/>
          <a:p>
            <a:pPr algn="l">
              <a:lnSpc>
                <a:spcPct val="122000"/>
              </a:lnSpc>
              <a:spcAft>
                <a:spcPts val="500"/>
              </a:spcAft>
            </a:pPr>
            <a:r>
              <a:rPr sz="2000" b="0" i="0">
                <a:solidFill>
                  <a:srgbClr val="1F1F1F"/>
                </a:solidFill>
                <a:latin typeface="Times New Roman"/>
              </a:rPr>
              <a:t>Five benchmarks — MSCOCO 5K, Flickr30K (31K), Clotho v2 (5,926), AudioCaps (884 clips / 4,415 captions) and LAION-400M (407M vectors) — three frozen encoders (CLIP-B/32, CLIP-L/14, ImageBind) and four BQ index types (BinaryFlat, BinaryIVF, BBQ-style rotated, RaBitQ). FAISS IVFRaBitQFastScan at 72–136 B/vec; n_list = ⌈√n⌉ and n_probe ≈ n_list/4, matched across methods. R@100 against exact inner-product ground truth on the original embeddings; single-thread CPU.</a:t>
            </a:r>
          </a:p>
        </p:txBody>
      </p:sp>
      <p:sp>
        <p:nvSpPr>
          <p:cNvPr id="129" name="TextBox 128"/>
          <p:cNvSpPr txBox="1"/>
          <p:nvPr/>
        </p:nvSpPr>
        <p:spPr>
          <a:xfrm>
            <a:off x="20351496" y="8896705"/>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10.  Results</a:t>
            </a:r>
          </a:p>
        </p:txBody>
      </p:sp>
      <p:sp>
        <p:nvSpPr>
          <p:cNvPr id="130" name="Rectangle 129"/>
          <p:cNvSpPr/>
          <p:nvPr/>
        </p:nvSpPr>
        <p:spPr>
          <a:xfrm>
            <a:off x="20351496" y="9447631"/>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20351496" y="9546183"/>
            <a:ext cx="9147048" cy="839723"/>
          </a:xfrm>
          <a:prstGeom prst="rect">
            <a:avLst/>
          </a:prstGeom>
          <a:noFill/>
        </p:spPr>
        <p:txBody>
          <a:bodyPr wrap="square" lIns="0" rIns="0" tIns="0" bIns="0">
            <a:spAutoFit/>
          </a:bodyPr>
          <a:lstStyle/>
          <a:p>
            <a:pPr algn="l">
              <a:lnSpc>
                <a:spcPct val="95000"/>
              </a:lnSpc>
              <a:spcAft>
                <a:spcPts val="0"/>
              </a:spcAft>
            </a:pPr>
            <a:r>
              <a:rPr sz="5800" b="1" i="0">
                <a:solidFill>
                  <a:srgbClr val="8B0029"/>
                </a:solidFill>
                <a:latin typeface="Times New Roman"/>
              </a:rPr>
              <a:t>407 M</a:t>
            </a:r>
            <a:r>
              <a:rPr sz="2400" b="0" i="0">
                <a:solidFill>
                  <a:srgbClr val="6F6F6F"/>
                </a:solidFill>
                <a:latin typeface="Times New Roman"/>
              </a:rPr>
              <a:t>  vectors</a:t>
            </a:r>
          </a:p>
        </p:txBody>
      </p:sp>
      <p:sp>
        <p:nvSpPr>
          <p:cNvPr id="132" name="TextBox 131"/>
          <p:cNvSpPr txBox="1"/>
          <p:nvPr/>
        </p:nvSpPr>
        <p:spPr>
          <a:xfrm>
            <a:off x="20351496" y="10422482"/>
            <a:ext cx="9147048" cy="371855"/>
          </a:xfrm>
          <a:prstGeom prst="rect">
            <a:avLst/>
          </a:prstGeom>
          <a:noFill/>
        </p:spPr>
        <p:txBody>
          <a:bodyPr wrap="square" lIns="0" rIns="0" tIns="0" bIns="0">
            <a:spAutoFit/>
          </a:bodyPr>
          <a:lstStyle/>
          <a:p>
            <a:pPr algn="l">
              <a:lnSpc>
                <a:spcPct val="122000"/>
              </a:lnSpc>
              <a:spcAft>
                <a:spcPts val="0"/>
              </a:spcAft>
            </a:pPr>
            <a:r>
              <a:rPr sz="2000" b="1" i="0">
                <a:solidFill>
                  <a:srgbClr val="6F6F6F"/>
                </a:solidFill>
                <a:latin typeface="Times New Roman"/>
              </a:rPr>
              <a:t>LAION-400M  ·  29.3 GB of codes at 72 B/vec  ·  28× compressed</a:t>
            </a:r>
          </a:p>
        </p:txBody>
      </p:sp>
      <p:sp>
        <p:nvSpPr>
          <p:cNvPr id="133" name="TextBox 132"/>
          <p:cNvSpPr txBox="1"/>
          <p:nvPr/>
        </p:nvSpPr>
        <p:spPr>
          <a:xfrm>
            <a:off x="20351496" y="10977217"/>
            <a:ext cx="9147048" cy="371855"/>
          </a:xfrm>
          <a:prstGeom prst="rect">
            <a:avLst/>
          </a:prstGeom>
          <a:noFill/>
        </p:spPr>
        <p:txBody>
          <a:bodyPr wrap="square" lIns="0" rIns="0" tIns="0" bIns="0">
            <a:spAutoFit/>
          </a:bodyPr>
          <a:lstStyle/>
          <a:p>
            <a:pPr algn="l">
              <a:lnSpc>
                <a:spcPct val="122000"/>
              </a:lnSpc>
              <a:spcAft>
                <a:spcPts val="0"/>
              </a:spcAft>
            </a:pPr>
            <a:r>
              <a:rPr sz="2000" b="1" i="0">
                <a:solidFill>
                  <a:srgbClr val="1F1F1F"/>
                </a:solidFill>
                <a:latin typeface="Times New Roman"/>
              </a:rPr>
              <a:t>R@100, no reranking (n_list = 80K, n_probe = 256)</a:t>
            </a:r>
          </a:p>
        </p:txBody>
      </p:sp>
      <p:sp>
        <p:nvSpPr>
          <p:cNvPr id="134" name="Rectangle 133"/>
          <p:cNvSpPr/>
          <p:nvPr/>
        </p:nvSpPr>
        <p:spPr>
          <a:xfrm>
            <a:off x="20351496" y="11477088"/>
            <a:ext cx="7821168" cy="54864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20351496" y="11477088"/>
            <a:ext cx="5906896" cy="5486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20497800" y="11477088"/>
            <a:ext cx="7546848" cy="548640"/>
          </a:xfrm>
          <a:prstGeom prst="rect">
            <a:avLst/>
          </a:prstGeom>
          <a:noFill/>
        </p:spPr>
        <p:txBody>
          <a:bodyPr wrap="none" anchor="ctr" lIns="0" rIns="0" tIns="0" bIns="0">
            <a:spAutoFit/>
          </a:bodyPr>
          <a:lstStyle/>
          <a:p>
            <a:pPr algn="l"/>
            <a:r>
              <a:rPr sz="2100" b="0" i="0">
                <a:solidFill>
                  <a:srgbClr val="FFFFFF"/>
                </a:solidFill>
                <a:latin typeface="Times New Roman"/>
              </a:rPr>
              <a:t>Vanilla</a:t>
            </a:r>
          </a:p>
        </p:txBody>
      </p:sp>
      <p:sp>
        <p:nvSpPr>
          <p:cNvPr id="137" name="TextBox 136"/>
          <p:cNvSpPr txBox="1"/>
          <p:nvPr/>
        </p:nvSpPr>
        <p:spPr>
          <a:xfrm>
            <a:off x="28282392" y="11477088"/>
            <a:ext cx="1216152" cy="548640"/>
          </a:xfrm>
          <a:prstGeom prst="rect">
            <a:avLst/>
          </a:prstGeom>
          <a:noFill/>
        </p:spPr>
        <p:txBody>
          <a:bodyPr wrap="none" anchor="ctr" lIns="0" rIns="0" tIns="0" bIns="0">
            <a:spAutoFit/>
          </a:bodyPr>
          <a:lstStyle/>
          <a:p>
            <a:pPr algn="l"/>
            <a:r>
              <a:rPr sz="2100" b="1" i="0">
                <a:solidFill>
                  <a:srgbClr val="1F1F1F"/>
                </a:solidFill>
                <a:latin typeface="Times New Roman"/>
              </a:rPr>
              <a:t>.108</a:t>
            </a:r>
          </a:p>
        </p:txBody>
      </p:sp>
      <p:sp>
        <p:nvSpPr>
          <p:cNvPr id="138" name="Rectangle 137"/>
          <p:cNvSpPr/>
          <p:nvPr/>
        </p:nvSpPr>
        <p:spPr>
          <a:xfrm>
            <a:off x="20351496" y="12108024"/>
            <a:ext cx="7821168" cy="54864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20351496" y="12108024"/>
            <a:ext cx="7821168" cy="548640"/>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20497800" y="12108024"/>
            <a:ext cx="7546848" cy="548640"/>
          </a:xfrm>
          <a:prstGeom prst="rect">
            <a:avLst/>
          </a:prstGeom>
          <a:noFill/>
        </p:spPr>
        <p:txBody>
          <a:bodyPr wrap="none" anchor="ctr" lIns="0" rIns="0" tIns="0" bIns="0">
            <a:spAutoFit/>
          </a:bodyPr>
          <a:lstStyle/>
          <a:p>
            <a:pPr algn="l"/>
            <a:r>
              <a:rPr sz="2100" b="0" i="0">
                <a:solidFill>
                  <a:srgbClr val="FFFFFF"/>
                </a:solidFill>
                <a:latin typeface="Times New Roman"/>
              </a:rPr>
              <a:t>PMC   (+32%)</a:t>
            </a:r>
          </a:p>
        </p:txBody>
      </p:sp>
      <p:sp>
        <p:nvSpPr>
          <p:cNvPr id="141" name="TextBox 140"/>
          <p:cNvSpPr txBox="1"/>
          <p:nvPr/>
        </p:nvSpPr>
        <p:spPr>
          <a:xfrm>
            <a:off x="28282392" y="12108024"/>
            <a:ext cx="1216152" cy="548640"/>
          </a:xfrm>
          <a:prstGeom prst="rect">
            <a:avLst/>
          </a:prstGeom>
          <a:noFill/>
        </p:spPr>
        <p:txBody>
          <a:bodyPr wrap="none" anchor="ctr" lIns="0" rIns="0" tIns="0" bIns="0">
            <a:spAutoFit/>
          </a:bodyPr>
          <a:lstStyle/>
          <a:p>
            <a:pPr algn="l"/>
            <a:r>
              <a:rPr sz="2100" b="1" i="0">
                <a:solidFill>
                  <a:srgbClr val="1F1F1F"/>
                </a:solidFill>
                <a:latin typeface="Times New Roman"/>
              </a:rPr>
              <a:t>.143</a:t>
            </a:r>
          </a:p>
        </p:txBody>
      </p:sp>
      <p:sp>
        <p:nvSpPr>
          <p:cNvPr id="142" name="TextBox 141"/>
          <p:cNvSpPr txBox="1"/>
          <p:nvPr/>
        </p:nvSpPr>
        <p:spPr>
          <a:xfrm>
            <a:off x="20351496" y="12757248"/>
            <a:ext cx="9147048" cy="371855"/>
          </a:xfrm>
          <a:prstGeom prst="rect">
            <a:avLst/>
          </a:prstGeom>
          <a:noFill/>
        </p:spPr>
        <p:txBody>
          <a:bodyPr wrap="square" lIns="0" rIns="0" tIns="0" bIns="0">
            <a:spAutoFit/>
          </a:bodyPr>
          <a:lstStyle/>
          <a:p>
            <a:pPr algn="l">
              <a:lnSpc>
                <a:spcPct val="122000"/>
              </a:lnSpc>
              <a:spcAft>
                <a:spcPts val="0"/>
              </a:spcAft>
            </a:pPr>
            <a:r>
              <a:rPr sz="2000" b="0" i="0">
                <a:solidFill>
                  <a:srgbClr val="1F1F1F"/>
                </a:solidFill>
                <a:latin typeface="Times New Roman"/>
              </a:rPr>
              <a:t>With exact reranking at K′ = 400 the lead carries over: </a:t>
            </a:r>
            <a:r>
              <a:rPr sz="2000" b="1" i="0">
                <a:solidFill>
                  <a:srgbClr val="0D4DA3"/>
                </a:solidFill>
                <a:latin typeface="Times New Roman"/>
              </a:rPr>
              <a:t>.198 → .277  (+40%)</a:t>
            </a:r>
          </a:p>
        </p:txBody>
      </p:sp>
      <p:sp>
        <p:nvSpPr>
          <p:cNvPr id="143" name="TextBox 142"/>
          <p:cNvSpPr txBox="1"/>
          <p:nvPr/>
        </p:nvSpPr>
        <p:spPr>
          <a:xfrm>
            <a:off x="20351496" y="13330271"/>
            <a:ext cx="9147048"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Every configuration, ordered by modality gap</a:t>
            </a:r>
          </a:p>
        </p:txBody>
      </p:sp>
      <p:sp>
        <p:nvSpPr>
          <p:cNvPr id="144" name="TextBox 143"/>
          <p:cNvSpPr txBox="1"/>
          <p:nvPr/>
        </p:nvSpPr>
        <p:spPr>
          <a:xfrm>
            <a:off x="20351496" y="13904209"/>
            <a:ext cx="694944" cy="420624"/>
          </a:xfrm>
          <a:prstGeom prst="rect">
            <a:avLst/>
          </a:prstGeom>
          <a:noFill/>
        </p:spPr>
        <p:txBody>
          <a:bodyPr wrap="none" anchor="ctr" lIns="0" rIns="0" tIns="0" bIns="0">
            <a:spAutoFit/>
          </a:bodyPr>
          <a:lstStyle/>
          <a:p>
            <a:pPr algn="l"/>
            <a:r>
              <a:rPr sz="1900" b="1" i="0">
                <a:solidFill>
                  <a:srgbClr val="6F6F6F"/>
                </a:solidFill>
                <a:latin typeface="Times New Roman"/>
              </a:rPr>
              <a:t>‖g‖</a:t>
            </a:r>
          </a:p>
        </p:txBody>
      </p:sp>
      <p:sp>
        <p:nvSpPr>
          <p:cNvPr id="145" name="TextBox 144"/>
          <p:cNvSpPr txBox="1"/>
          <p:nvPr/>
        </p:nvSpPr>
        <p:spPr>
          <a:xfrm>
            <a:off x="21046440" y="13904209"/>
            <a:ext cx="2240280" cy="420624"/>
          </a:xfrm>
          <a:prstGeom prst="rect">
            <a:avLst/>
          </a:prstGeom>
          <a:noFill/>
        </p:spPr>
        <p:txBody>
          <a:bodyPr wrap="none" anchor="ctr" lIns="0" rIns="0" tIns="0" bIns="0">
            <a:spAutoFit/>
          </a:bodyPr>
          <a:lstStyle/>
          <a:p>
            <a:pPr algn="l"/>
            <a:r>
              <a:rPr sz="1900" b="1" i="0">
                <a:solidFill>
                  <a:srgbClr val="6F6F6F"/>
                </a:solidFill>
                <a:latin typeface="Times New Roman"/>
              </a:rPr>
              <a:t>Dataset · Enc.</a:t>
            </a:r>
          </a:p>
        </p:txBody>
      </p:sp>
      <p:sp>
        <p:nvSpPr>
          <p:cNvPr id="146" name="TextBox 145"/>
          <p:cNvSpPr txBox="1"/>
          <p:nvPr/>
        </p:nvSpPr>
        <p:spPr>
          <a:xfrm>
            <a:off x="23286720" y="13904209"/>
            <a:ext cx="3105912" cy="420624"/>
          </a:xfrm>
          <a:prstGeom prst="rect">
            <a:avLst/>
          </a:prstGeom>
          <a:noFill/>
        </p:spPr>
        <p:txBody>
          <a:bodyPr wrap="none" anchor="ctr" lIns="0" rIns="0" tIns="0" bIns="0">
            <a:spAutoFit/>
          </a:bodyPr>
          <a:lstStyle/>
          <a:p>
            <a:pPr algn="r"/>
            <a:r>
              <a:rPr sz="1900" b="1" i="0">
                <a:solidFill>
                  <a:srgbClr val="6F6F6F"/>
                </a:solidFill>
                <a:latin typeface="Times New Roman"/>
              </a:rPr>
              <a:t>q→db</a:t>
            </a:r>
          </a:p>
        </p:txBody>
      </p:sp>
      <p:sp>
        <p:nvSpPr>
          <p:cNvPr id="147" name="TextBox 146"/>
          <p:cNvSpPr txBox="1"/>
          <p:nvPr/>
        </p:nvSpPr>
        <p:spPr>
          <a:xfrm>
            <a:off x="26392632" y="13904209"/>
            <a:ext cx="3105912" cy="420624"/>
          </a:xfrm>
          <a:prstGeom prst="rect">
            <a:avLst/>
          </a:prstGeom>
          <a:noFill/>
        </p:spPr>
        <p:txBody>
          <a:bodyPr wrap="none" anchor="ctr" lIns="0" rIns="0" tIns="0" bIns="0">
            <a:spAutoFit/>
          </a:bodyPr>
          <a:lstStyle/>
          <a:p>
            <a:pPr algn="r"/>
            <a:r>
              <a:rPr sz="1900" b="1" i="0">
                <a:solidFill>
                  <a:srgbClr val="6F6F6F"/>
                </a:solidFill>
                <a:latin typeface="Times New Roman"/>
              </a:rPr>
              <a:t>db→q</a:t>
            </a:r>
          </a:p>
        </p:txBody>
      </p:sp>
      <p:sp>
        <p:nvSpPr>
          <p:cNvPr id="148" name="Rectangle 147"/>
          <p:cNvSpPr/>
          <p:nvPr/>
        </p:nvSpPr>
        <p:spPr>
          <a:xfrm>
            <a:off x="20351496" y="14361409"/>
            <a:ext cx="9147048"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20351496" y="14398747"/>
            <a:ext cx="694944" cy="530352"/>
          </a:xfrm>
          <a:prstGeom prst="rect">
            <a:avLst/>
          </a:prstGeom>
          <a:noFill/>
        </p:spPr>
        <p:txBody>
          <a:bodyPr wrap="none" anchor="ctr" lIns="0" rIns="0" tIns="0" bIns="0">
            <a:spAutoFit/>
          </a:bodyPr>
          <a:lstStyle/>
          <a:p>
            <a:pPr algn="l"/>
            <a:r>
              <a:rPr sz="2100" b="1" i="0">
                <a:solidFill>
                  <a:srgbClr val="8B0029"/>
                </a:solidFill>
                <a:latin typeface="Times New Roman"/>
              </a:rPr>
              <a:t>.82</a:t>
            </a:r>
          </a:p>
        </p:txBody>
      </p:sp>
      <p:sp>
        <p:nvSpPr>
          <p:cNvPr id="150" name="TextBox 149"/>
          <p:cNvSpPr txBox="1"/>
          <p:nvPr/>
        </p:nvSpPr>
        <p:spPr>
          <a:xfrm>
            <a:off x="21046440" y="14398747"/>
            <a:ext cx="2240280" cy="530352"/>
          </a:xfrm>
          <a:prstGeom prst="rect">
            <a:avLst/>
          </a:prstGeom>
          <a:noFill/>
        </p:spPr>
        <p:txBody>
          <a:bodyPr wrap="none" anchor="ctr" lIns="0" rIns="0" tIns="0" bIns="0">
            <a:spAutoFit/>
          </a:bodyPr>
          <a:lstStyle/>
          <a:p>
            <a:pPr algn="l"/>
            <a:r>
              <a:rPr sz="2000" b="0" i="0">
                <a:solidFill>
                  <a:srgbClr val="1F1F1F"/>
                </a:solidFill>
                <a:latin typeface="Times New Roman"/>
              </a:rPr>
              <a:t>MSCOCO CL-L</a:t>
            </a:r>
          </a:p>
        </p:txBody>
      </p:sp>
      <p:sp>
        <p:nvSpPr>
          <p:cNvPr id="151" name="TextBox 150"/>
          <p:cNvSpPr txBox="1"/>
          <p:nvPr/>
        </p:nvSpPr>
        <p:spPr>
          <a:xfrm>
            <a:off x="23286720" y="14398747"/>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.55→</a:t>
            </a:r>
            <a:r>
              <a:rPr sz="2100" b="1" i="0">
                <a:solidFill>
                  <a:srgbClr val="0D4DA3"/>
                </a:solidFill>
                <a:latin typeface="Times New Roman"/>
              </a:rPr>
              <a:t>.65</a:t>
            </a:r>
            <a:r>
              <a:rPr sz="1800" b="1" i="0">
                <a:solidFill>
                  <a:srgbClr val="0D4DA3"/>
                </a:solidFill>
                <a:latin typeface="Times New Roman"/>
              </a:rPr>
              <a:t> +18%</a:t>
            </a:r>
          </a:p>
        </p:txBody>
      </p:sp>
      <p:sp>
        <p:nvSpPr>
          <p:cNvPr id="152" name="TextBox 151"/>
          <p:cNvSpPr txBox="1"/>
          <p:nvPr/>
        </p:nvSpPr>
        <p:spPr>
          <a:xfrm>
            <a:off x="26392632" y="14398747"/>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.47→</a:t>
            </a:r>
            <a:r>
              <a:rPr sz="2100" b="1" i="0">
                <a:solidFill>
                  <a:srgbClr val="0D4DA3"/>
                </a:solidFill>
                <a:latin typeface="Times New Roman"/>
              </a:rPr>
              <a:t>.63</a:t>
            </a:r>
            <a:r>
              <a:rPr sz="1800" b="1" i="0">
                <a:solidFill>
                  <a:srgbClr val="0D4DA3"/>
                </a:solidFill>
                <a:latin typeface="Times New Roman"/>
              </a:rPr>
              <a:t> +34%</a:t>
            </a:r>
          </a:p>
        </p:txBody>
      </p:sp>
      <p:sp>
        <p:nvSpPr>
          <p:cNvPr id="153" name="Rectangle 152"/>
          <p:cNvSpPr/>
          <p:nvPr/>
        </p:nvSpPr>
        <p:spPr>
          <a:xfrm>
            <a:off x="20351496" y="14929099"/>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20351496" y="14929099"/>
            <a:ext cx="694944" cy="530352"/>
          </a:xfrm>
          <a:prstGeom prst="rect">
            <a:avLst/>
          </a:prstGeom>
          <a:noFill/>
        </p:spPr>
        <p:txBody>
          <a:bodyPr wrap="none" anchor="ctr" lIns="0" rIns="0" tIns="0" bIns="0">
            <a:spAutoFit/>
          </a:bodyPr>
          <a:lstStyle/>
          <a:p>
            <a:pPr algn="l"/>
            <a:r>
              <a:rPr sz="2100" b="1" i="0">
                <a:solidFill>
                  <a:srgbClr val="8B0029"/>
                </a:solidFill>
                <a:latin typeface="Times New Roman"/>
              </a:rPr>
              <a:t>.82</a:t>
            </a:r>
          </a:p>
        </p:txBody>
      </p:sp>
      <p:sp>
        <p:nvSpPr>
          <p:cNvPr id="155" name="TextBox 154"/>
          <p:cNvSpPr txBox="1"/>
          <p:nvPr/>
        </p:nvSpPr>
        <p:spPr>
          <a:xfrm>
            <a:off x="21046440" y="14929099"/>
            <a:ext cx="2240280" cy="530352"/>
          </a:xfrm>
          <a:prstGeom prst="rect">
            <a:avLst/>
          </a:prstGeom>
          <a:noFill/>
        </p:spPr>
        <p:txBody>
          <a:bodyPr wrap="none" anchor="ctr" lIns="0" rIns="0" tIns="0" bIns="0">
            <a:spAutoFit/>
          </a:bodyPr>
          <a:lstStyle/>
          <a:p>
            <a:pPr algn="l"/>
            <a:r>
              <a:rPr sz="2000" b="0" i="0">
                <a:solidFill>
                  <a:srgbClr val="1F1F1F"/>
                </a:solidFill>
                <a:latin typeface="Times New Roman"/>
              </a:rPr>
              <a:t>MSCOCO CLIP</a:t>
            </a:r>
          </a:p>
        </p:txBody>
      </p:sp>
      <p:sp>
        <p:nvSpPr>
          <p:cNvPr id="156" name="TextBox 155"/>
          <p:cNvSpPr txBox="1"/>
          <p:nvPr/>
        </p:nvSpPr>
        <p:spPr>
          <a:xfrm>
            <a:off x="23286720" y="14929099"/>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.58→</a:t>
            </a:r>
            <a:r>
              <a:rPr sz="2100" b="1" i="0">
                <a:solidFill>
                  <a:srgbClr val="0D4DA3"/>
                </a:solidFill>
                <a:latin typeface="Times New Roman"/>
              </a:rPr>
              <a:t>.63</a:t>
            </a:r>
            <a:r>
              <a:rPr sz="1800" b="1" i="0">
                <a:solidFill>
                  <a:srgbClr val="0D4DA3"/>
                </a:solidFill>
                <a:latin typeface="Times New Roman"/>
              </a:rPr>
              <a:t> +9%</a:t>
            </a:r>
          </a:p>
        </p:txBody>
      </p:sp>
      <p:sp>
        <p:nvSpPr>
          <p:cNvPr id="157" name="TextBox 156"/>
          <p:cNvSpPr txBox="1"/>
          <p:nvPr/>
        </p:nvSpPr>
        <p:spPr>
          <a:xfrm>
            <a:off x="26392632" y="14929099"/>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.50→</a:t>
            </a:r>
            <a:r>
              <a:rPr sz="2100" b="1" i="0">
                <a:solidFill>
                  <a:srgbClr val="0D4DA3"/>
                </a:solidFill>
                <a:latin typeface="Times New Roman"/>
              </a:rPr>
              <a:t>.60</a:t>
            </a:r>
            <a:r>
              <a:rPr sz="1800" b="1" i="0">
                <a:solidFill>
                  <a:srgbClr val="0D4DA3"/>
                </a:solidFill>
                <a:latin typeface="Times New Roman"/>
              </a:rPr>
              <a:t> +20%</a:t>
            </a:r>
          </a:p>
        </p:txBody>
      </p:sp>
      <p:sp>
        <p:nvSpPr>
          <p:cNvPr id="158" name="Rectangle 157"/>
          <p:cNvSpPr/>
          <p:nvPr/>
        </p:nvSpPr>
        <p:spPr>
          <a:xfrm>
            <a:off x="20351496" y="15459451"/>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20351496" y="15459451"/>
            <a:ext cx="694944" cy="530352"/>
          </a:xfrm>
          <a:prstGeom prst="rect">
            <a:avLst/>
          </a:prstGeom>
          <a:noFill/>
        </p:spPr>
        <p:txBody>
          <a:bodyPr wrap="none" anchor="ctr" lIns="0" rIns="0" tIns="0" bIns="0">
            <a:spAutoFit/>
          </a:bodyPr>
          <a:lstStyle/>
          <a:p>
            <a:pPr algn="l"/>
            <a:r>
              <a:rPr sz="2100" b="1" i="0">
                <a:solidFill>
                  <a:srgbClr val="8B0029"/>
                </a:solidFill>
                <a:latin typeface="Times New Roman"/>
              </a:rPr>
              <a:t>.77</a:t>
            </a:r>
          </a:p>
        </p:txBody>
      </p:sp>
      <p:sp>
        <p:nvSpPr>
          <p:cNvPr id="160" name="TextBox 159"/>
          <p:cNvSpPr txBox="1"/>
          <p:nvPr/>
        </p:nvSpPr>
        <p:spPr>
          <a:xfrm>
            <a:off x="21046440" y="15459451"/>
            <a:ext cx="2240280" cy="530352"/>
          </a:xfrm>
          <a:prstGeom prst="rect">
            <a:avLst/>
          </a:prstGeom>
          <a:noFill/>
        </p:spPr>
        <p:txBody>
          <a:bodyPr wrap="none" anchor="ctr" lIns="0" rIns="0" tIns="0" bIns="0">
            <a:spAutoFit/>
          </a:bodyPr>
          <a:lstStyle/>
          <a:p>
            <a:pPr algn="l"/>
            <a:r>
              <a:rPr sz="2000" b="0" i="0">
                <a:solidFill>
                  <a:srgbClr val="1F1F1F"/>
                </a:solidFill>
                <a:latin typeface="Times New Roman"/>
              </a:rPr>
              <a:t>Flickr30K CL-L</a:t>
            </a:r>
          </a:p>
        </p:txBody>
      </p:sp>
      <p:sp>
        <p:nvSpPr>
          <p:cNvPr id="161" name="TextBox 160"/>
          <p:cNvSpPr txBox="1"/>
          <p:nvPr/>
        </p:nvSpPr>
        <p:spPr>
          <a:xfrm>
            <a:off x="23286720" y="15459451"/>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.41→</a:t>
            </a:r>
            <a:r>
              <a:rPr sz="2100" b="1" i="0">
                <a:solidFill>
                  <a:srgbClr val="0D4DA3"/>
                </a:solidFill>
                <a:latin typeface="Times New Roman"/>
              </a:rPr>
              <a:t>.48</a:t>
            </a:r>
            <a:r>
              <a:rPr sz="1800" b="1" i="0">
                <a:solidFill>
                  <a:srgbClr val="0D4DA3"/>
                </a:solidFill>
                <a:latin typeface="Times New Roman"/>
              </a:rPr>
              <a:t> +17%</a:t>
            </a:r>
          </a:p>
        </p:txBody>
      </p:sp>
      <p:sp>
        <p:nvSpPr>
          <p:cNvPr id="162" name="TextBox 161"/>
          <p:cNvSpPr txBox="1"/>
          <p:nvPr/>
        </p:nvSpPr>
        <p:spPr>
          <a:xfrm>
            <a:off x="26392632" y="15459451"/>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.33→</a:t>
            </a:r>
            <a:r>
              <a:rPr sz="2100" b="1" i="0">
                <a:solidFill>
                  <a:srgbClr val="0D4DA3"/>
                </a:solidFill>
                <a:latin typeface="Times New Roman"/>
              </a:rPr>
              <a:t>.48</a:t>
            </a:r>
            <a:r>
              <a:rPr sz="1800" b="1" i="0">
                <a:solidFill>
                  <a:srgbClr val="0D4DA3"/>
                </a:solidFill>
                <a:latin typeface="Times New Roman"/>
              </a:rPr>
              <a:t> +45%</a:t>
            </a:r>
          </a:p>
        </p:txBody>
      </p:sp>
      <p:sp>
        <p:nvSpPr>
          <p:cNvPr id="163" name="Rectangle 162"/>
          <p:cNvSpPr/>
          <p:nvPr/>
        </p:nvSpPr>
        <p:spPr>
          <a:xfrm>
            <a:off x="20351496" y="15989803"/>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20351496" y="15989803"/>
            <a:ext cx="694944" cy="530352"/>
          </a:xfrm>
          <a:prstGeom prst="rect">
            <a:avLst/>
          </a:prstGeom>
          <a:noFill/>
        </p:spPr>
        <p:txBody>
          <a:bodyPr wrap="none" anchor="ctr" lIns="0" rIns="0" tIns="0" bIns="0">
            <a:spAutoFit/>
          </a:bodyPr>
          <a:lstStyle/>
          <a:p>
            <a:pPr algn="l"/>
            <a:r>
              <a:rPr sz="2100" b="1" i="0">
                <a:solidFill>
                  <a:srgbClr val="8B0029"/>
                </a:solidFill>
                <a:latin typeface="Times New Roman"/>
              </a:rPr>
              <a:t>.72</a:t>
            </a:r>
          </a:p>
        </p:txBody>
      </p:sp>
      <p:sp>
        <p:nvSpPr>
          <p:cNvPr id="165" name="TextBox 164"/>
          <p:cNvSpPr txBox="1"/>
          <p:nvPr/>
        </p:nvSpPr>
        <p:spPr>
          <a:xfrm>
            <a:off x="21046440" y="15989803"/>
            <a:ext cx="2240280" cy="530352"/>
          </a:xfrm>
          <a:prstGeom prst="rect">
            <a:avLst/>
          </a:prstGeom>
          <a:noFill/>
        </p:spPr>
        <p:txBody>
          <a:bodyPr wrap="none" anchor="ctr" lIns="0" rIns="0" tIns="0" bIns="0">
            <a:spAutoFit/>
          </a:bodyPr>
          <a:lstStyle/>
          <a:p>
            <a:pPr algn="l"/>
            <a:r>
              <a:rPr sz="2000" b="0" i="0">
                <a:solidFill>
                  <a:srgbClr val="1F1F1F"/>
                </a:solidFill>
                <a:latin typeface="Times New Roman"/>
              </a:rPr>
              <a:t>LAION-400M CLIP</a:t>
            </a:r>
          </a:p>
        </p:txBody>
      </p:sp>
      <p:sp>
        <p:nvSpPr>
          <p:cNvPr id="166" name="TextBox 165"/>
          <p:cNvSpPr txBox="1"/>
          <p:nvPr/>
        </p:nvSpPr>
        <p:spPr>
          <a:xfrm>
            <a:off x="23286720" y="15989803"/>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.108→</a:t>
            </a:r>
            <a:r>
              <a:rPr sz="2100" b="1" i="0">
                <a:solidFill>
                  <a:srgbClr val="0D4DA3"/>
                </a:solidFill>
                <a:latin typeface="Times New Roman"/>
              </a:rPr>
              <a:t>.143</a:t>
            </a:r>
            <a:r>
              <a:rPr sz="1800" b="1" i="0">
                <a:solidFill>
                  <a:srgbClr val="0D4DA3"/>
                </a:solidFill>
                <a:latin typeface="Times New Roman"/>
              </a:rPr>
              <a:t> +32%</a:t>
            </a:r>
          </a:p>
        </p:txBody>
      </p:sp>
      <p:sp>
        <p:nvSpPr>
          <p:cNvPr id="167" name="TextBox 166"/>
          <p:cNvSpPr txBox="1"/>
          <p:nvPr/>
        </p:nvSpPr>
        <p:spPr>
          <a:xfrm>
            <a:off x="26392632" y="15989803"/>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.069→</a:t>
            </a:r>
            <a:r>
              <a:rPr sz="2100" b="1" i="0">
                <a:solidFill>
                  <a:srgbClr val="0D4DA3"/>
                </a:solidFill>
                <a:latin typeface="Times New Roman"/>
              </a:rPr>
              <a:t>.073</a:t>
            </a:r>
            <a:r>
              <a:rPr sz="1800" b="1" i="0">
                <a:solidFill>
                  <a:srgbClr val="0D4DA3"/>
                </a:solidFill>
                <a:latin typeface="Times New Roman"/>
              </a:rPr>
              <a:t> +6%</a:t>
            </a:r>
          </a:p>
        </p:txBody>
      </p:sp>
      <p:sp>
        <p:nvSpPr>
          <p:cNvPr id="168" name="Rectangle 167"/>
          <p:cNvSpPr/>
          <p:nvPr/>
        </p:nvSpPr>
        <p:spPr>
          <a:xfrm>
            <a:off x="20351496" y="16520155"/>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0351496" y="16520155"/>
            <a:ext cx="694944" cy="530352"/>
          </a:xfrm>
          <a:prstGeom prst="rect">
            <a:avLst/>
          </a:prstGeom>
          <a:noFill/>
        </p:spPr>
        <p:txBody>
          <a:bodyPr wrap="none" anchor="ctr" lIns="0" rIns="0" tIns="0" bIns="0">
            <a:spAutoFit/>
          </a:bodyPr>
          <a:lstStyle/>
          <a:p>
            <a:pPr algn="l"/>
            <a:r>
              <a:rPr sz="2100" b="1" i="0">
                <a:solidFill>
                  <a:srgbClr val="8B0029"/>
                </a:solidFill>
                <a:latin typeface="Times New Roman"/>
              </a:rPr>
              <a:t>.70</a:t>
            </a:r>
          </a:p>
        </p:txBody>
      </p:sp>
      <p:sp>
        <p:nvSpPr>
          <p:cNvPr id="170" name="TextBox 169"/>
          <p:cNvSpPr txBox="1"/>
          <p:nvPr/>
        </p:nvSpPr>
        <p:spPr>
          <a:xfrm>
            <a:off x="21046440" y="16520155"/>
            <a:ext cx="2240280" cy="530352"/>
          </a:xfrm>
          <a:prstGeom prst="rect">
            <a:avLst/>
          </a:prstGeom>
          <a:noFill/>
        </p:spPr>
        <p:txBody>
          <a:bodyPr wrap="none" anchor="ctr" lIns="0" rIns="0" tIns="0" bIns="0">
            <a:spAutoFit/>
          </a:bodyPr>
          <a:lstStyle/>
          <a:p>
            <a:pPr algn="l"/>
            <a:r>
              <a:rPr sz="2000" b="0" i="0">
                <a:solidFill>
                  <a:srgbClr val="1F1F1F"/>
                </a:solidFill>
                <a:latin typeface="Times New Roman"/>
              </a:rPr>
              <a:t>MSCOCO IB</a:t>
            </a:r>
          </a:p>
        </p:txBody>
      </p:sp>
      <p:sp>
        <p:nvSpPr>
          <p:cNvPr id="171" name="TextBox 170"/>
          <p:cNvSpPr txBox="1"/>
          <p:nvPr/>
        </p:nvSpPr>
        <p:spPr>
          <a:xfrm>
            <a:off x="23286720" y="16520155"/>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.67→</a:t>
            </a:r>
            <a:r>
              <a:rPr sz="2100" b="1" i="0">
                <a:solidFill>
                  <a:srgbClr val="0D4DA3"/>
                </a:solidFill>
                <a:latin typeface="Times New Roman"/>
              </a:rPr>
              <a:t>.75</a:t>
            </a:r>
            <a:r>
              <a:rPr sz="1800" b="1" i="0">
                <a:solidFill>
                  <a:srgbClr val="0D4DA3"/>
                </a:solidFill>
                <a:latin typeface="Times New Roman"/>
              </a:rPr>
              <a:t> +12%</a:t>
            </a:r>
          </a:p>
        </p:txBody>
      </p:sp>
      <p:sp>
        <p:nvSpPr>
          <p:cNvPr id="172" name="TextBox 171"/>
          <p:cNvSpPr txBox="1"/>
          <p:nvPr/>
        </p:nvSpPr>
        <p:spPr>
          <a:xfrm>
            <a:off x="26392632" y="16520155"/>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.71→</a:t>
            </a:r>
            <a:r>
              <a:rPr sz="2100" b="1" i="0">
                <a:solidFill>
                  <a:srgbClr val="0D4DA3"/>
                </a:solidFill>
                <a:latin typeface="Times New Roman"/>
              </a:rPr>
              <a:t>.75</a:t>
            </a:r>
            <a:r>
              <a:rPr sz="1800" b="1" i="0">
                <a:solidFill>
                  <a:srgbClr val="0D4DA3"/>
                </a:solidFill>
                <a:latin typeface="Times New Roman"/>
              </a:rPr>
              <a:t> +6%</a:t>
            </a:r>
          </a:p>
        </p:txBody>
      </p:sp>
      <p:sp>
        <p:nvSpPr>
          <p:cNvPr id="173" name="Rectangle 172"/>
          <p:cNvSpPr/>
          <p:nvPr/>
        </p:nvSpPr>
        <p:spPr>
          <a:xfrm>
            <a:off x="20351496" y="17050507"/>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20351496" y="17050507"/>
            <a:ext cx="694944" cy="530352"/>
          </a:xfrm>
          <a:prstGeom prst="rect">
            <a:avLst/>
          </a:prstGeom>
          <a:noFill/>
        </p:spPr>
        <p:txBody>
          <a:bodyPr wrap="none" anchor="ctr" lIns="0" rIns="0" tIns="0" bIns="0">
            <a:spAutoFit/>
          </a:bodyPr>
          <a:lstStyle/>
          <a:p>
            <a:pPr algn="l"/>
            <a:r>
              <a:rPr sz="2100" b="1" i="0">
                <a:solidFill>
                  <a:srgbClr val="8B0029"/>
                </a:solidFill>
                <a:latin typeface="Times New Roman"/>
              </a:rPr>
              <a:t>.61</a:t>
            </a:r>
          </a:p>
        </p:txBody>
      </p:sp>
      <p:sp>
        <p:nvSpPr>
          <p:cNvPr id="175" name="TextBox 174"/>
          <p:cNvSpPr txBox="1"/>
          <p:nvPr/>
        </p:nvSpPr>
        <p:spPr>
          <a:xfrm>
            <a:off x="21046440" y="17050507"/>
            <a:ext cx="2240280" cy="530352"/>
          </a:xfrm>
          <a:prstGeom prst="rect">
            <a:avLst/>
          </a:prstGeom>
          <a:noFill/>
        </p:spPr>
        <p:txBody>
          <a:bodyPr wrap="none" anchor="ctr" lIns="0" rIns="0" tIns="0" bIns="0">
            <a:spAutoFit/>
          </a:bodyPr>
          <a:lstStyle/>
          <a:p>
            <a:pPr algn="l"/>
            <a:r>
              <a:rPr sz="2000" b="0" i="0">
                <a:solidFill>
                  <a:srgbClr val="1F1F1F"/>
                </a:solidFill>
                <a:latin typeface="Times New Roman"/>
              </a:rPr>
              <a:t>Clotho IB</a:t>
            </a:r>
          </a:p>
        </p:txBody>
      </p:sp>
      <p:sp>
        <p:nvSpPr>
          <p:cNvPr id="176" name="TextBox 175"/>
          <p:cNvSpPr txBox="1"/>
          <p:nvPr/>
        </p:nvSpPr>
        <p:spPr>
          <a:xfrm>
            <a:off x="23286720" y="17050507"/>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.72→</a:t>
            </a:r>
            <a:r>
              <a:rPr sz="2100" b="1" i="0">
                <a:solidFill>
                  <a:srgbClr val="0D4DA3"/>
                </a:solidFill>
                <a:latin typeface="Times New Roman"/>
              </a:rPr>
              <a:t>.73</a:t>
            </a:r>
            <a:r>
              <a:rPr sz="1800" b="1" i="0">
                <a:solidFill>
                  <a:srgbClr val="0D4DA3"/>
                </a:solidFill>
                <a:latin typeface="Times New Roman"/>
              </a:rPr>
              <a:t> +1%</a:t>
            </a:r>
          </a:p>
        </p:txBody>
      </p:sp>
      <p:sp>
        <p:nvSpPr>
          <p:cNvPr id="177" name="TextBox 176"/>
          <p:cNvSpPr txBox="1"/>
          <p:nvPr/>
        </p:nvSpPr>
        <p:spPr>
          <a:xfrm>
            <a:off x="26392632" y="17050507"/>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.62→</a:t>
            </a:r>
            <a:r>
              <a:rPr sz="2100" b="1" i="0">
                <a:solidFill>
                  <a:srgbClr val="0D4DA3"/>
                </a:solidFill>
                <a:latin typeface="Times New Roman"/>
              </a:rPr>
              <a:t>.69</a:t>
            </a:r>
            <a:r>
              <a:rPr sz="1800" b="1" i="0">
                <a:solidFill>
                  <a:srgbClr val="0D4DA3"/>
                </a:solidFill>
                <a:latin typeface="Times New Roman"/>
              </a:rPr>
              <a:t> +11%</a:t>
            </a:r>
          </a:p>
        </p:txBody>
      </p:sp>
      <p:sp>
        <p:nvSpPr>
          <p:cNvPr id="178" name="Rectangle 177"/>
          <p:cNvSpPr/>
          <p:nvPr/>
        </p:nvSpPr>
        <p:spPr>
          <a:xfrm>
            <a:off x="20351496" y="17580859"/>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20351496" y="17580859"/>
            <a:ext cx="694944" cy="530352"/>
          </a:xfrm>
          <a:prstGeom prst="rect">
            <a:avLst/>
          </a:prstGeom>
          <a:noFill/>
        </p:spPr>
        <p:txBody>
          <a:bodyPr wrap="none" anchor="ctr" lIns="0" rIns="0" tIns="0" bIns="0">
            <a:spAutoFit/>
          </a:bodyPr>
          <a:lstStyle/>
          <a:p>
            <a:pPr algn="l"/>
            <a:r>
              <a:rPr sz="2100" b="1" i="0">
                <a:solidFill>
                  <a:srgbClr val="8B0029"/>
                </a:solidFill>
                <a:latin typeface="Times New Roman"/>
              </a:rPr>
              <a:t>.61</a:t>
            </a:r>
          </a:p>
        </p:txBody>
      </p:sp>
      <p:sp>
        <p:nvSpPr>
          <p:cNvPr id="180" name="TextBox 179"/>
          <p:cNvSpPr txBox="1"/>
          <p:nvPr/>
        </p:nvSpPr>
        <p:spPr>
          <a:xfrm>
            <a:off x="21046440" y="17580859"/>
            <a:ext cx="2240280" cy="530352"/>
          </a:xfrm>
          <a:prstGeom prst="rect">
            <a:avLst/>
          </a:prstGeom>
          <a:noFill/>
        </p:spPr>
        <p:txBody>
          <a:bodyPr wrap="none" anchor="ctr" lIns="0" rIns="0" tIns="0" bIns="0">
            <a:spAutoFit/>
          </a:bodyPr>
          <a:lstStyle/>
          <a:p>
            <a:pPr algn="l"/>
            <a:r>
              <a:rPr sz="2000" b="0" i="0">
                <a:solidFill>
                  <a:srgbClr val="1F1F1F"/>
                </a:solidFill>
                <a:latin typeface="Times New Roman"/>
              </a:rPr>
              <a:t>AudioCaps IB</a:t>
            </a:r>
          </a:p>
        </p:txBody>
      </p:sp>
      <p:sp>
        <p:nvSpPr>
          <p:cNvPr id="181" name="TextBox 180"/>
          <p:cNvSpPr txBox="1"/>
          <p:nvPr/>
        </p:nvSpPr>
        <p:spPr>
          <a:xfrm>
            <a:off x="23286720" y="17580859"/>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.75→</a:t>
            </a:r>
            <a:r>
              <a:rPr sz="2100" b="1" i="0">
                <a:solidFill>
                  <a:srgbClr val="0D4DA3"/>
                </a:solidFill>
                <a:latin typeface="Times New Roman"/>
              </a:rPr>
              <a:t>.78</a:t>
            </a:r>
            <a:r>
              <a:rPr sz="1800" b="1" i="0">
                <a:solidFill>
                  <a:srgbClr val="0D4DA3"/>
                </a:solidFill>
                <a:latin typeface="Times New Roman"/>
              </a:rPr>
              <a:t> +4%</a:t>
            </a:r>
          </a:p>
        </p:txBody>
      </p:sp>
      <p:sp>
        <p:nvSpPr>
          <p:cNvPr id="182" name="TextBox 181"/>
          <p:cNvSpPr txBox="1"/>
          <p:nvPr/>
        </p:nvSpPr>
        <p:spPr>
          <a:xfrm>
            <a:off x="26392632" y="17580859"/>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.83→</a:t>
            </a:r>
            <a:r>
              <a:rPr sz="2100" b="1" i="0">
                <a:solidFill>
                  <a:srgbClr val="0D4DA3"/>
                </a:solidFill>
                <a:latin typeface="Times New Roman"/>
              </a:rPr>
              <a:t>.83</a:t>
            </a:r>
            <a:r>
              <a:rPr sz="1800" b="1" i="0">
                <a:solidFill>
                  <a:srgbClr val="0D4DA3"/>
                </a:solidFill>
                <a:latin typeface="Times New Roman"/>
              </a:rPr>
              <a:t> +0%</a:t>
            </a:r>
          </a:p>
        </p:txBody>
      </p:sp>
      <p:sp>
        <p:nvSpPr>
          <p:cNvPr id="183" name="Rectangle 182"/>
          <p:cNvSpPr/>
          <p:nvPr/>
        </p:nvSpPr>
        <p:spPr>
          <a:xfrm>
            <a:off x="20351496" y="18111211"/>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20351496" y="18294091"/>
            <a:ext cx="9147048" cy="1234846"/>
          </a:xfrm>
          <a:prstGeom prst="rect">
            <a:avLst/>
          </a:prstGeom>
          <a:noFill/>
        </p:spPr>
        <p:txBody>
          <a:bodyPr wrap="square" lIns="0" rIns="0" tIns="0" bIns="0">
            <a:spAutoFit/>
          </a:bodyPr>
          <a:lstStyle/>
          <a:p>
            <a:pPr algn="l">
              <a:lnSpc>
                <a:spcPct val="122000"/>
              </a:lnSpc>
              <a:spcAft>
                <a:spcPts val="500"/>
              </a:spcAft>
            </a:pPr>
            <a:r>
              <a:rPr sz="2100" b="1" i="0">
                <a:solidFill>
                  <a:srgbClr val="8B0029"/>
                </a:solidFill>
                <a:latin typeface="Times New Roman"/>
              </a:rPr>
              <a:t>The gain tracks the gap. </a:t>
            </a:r>
            <a:r>
              <a:rPr sz="2100" b="0" i="0">
                <a:solidFill>
                  <a:srgbClr val="1F1F1F"/>
                </a:solidFill>
                <a:latin typeface="Times New Roman"/>
              </a:rPr>
              <a:t>R@100 improves or matches in all 16 BQ configurations and PMC is best in all 14 at R@10, so the benefit is not confined to deep result lists. The rows with the smallest gap gain least, exactly as the flip-risk analysis predicts.</a:t>
            </a:r>
          </a:p>
        </p:txBody>
      </p:sp>
      <p:sp>
        <p:nvSpPr>
          <p:cNvPr id="185" name="TextBox 184"/>
          <p:cNvSpPr txBox="1"/>
          <p:nvPr/>
        </p:nvSpPr>
        <p:spPr>
          <a:xfrm>
            <a:off x="20351496" y="19638665"/>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11.  Robustness under exact reranking</a:t>
            </a:r>
          </a:p>
        </p:txBody>
      </p:sp>
      <p:sp>
        <p:nvSpPr>
          <p:cNvPr id="186" name="Rectangle 185"/>
          <p:cNvSpPr/>
          <p:nvPr/>
        </p:nvSpPr>
        <p:spPr>
          <a:xfrm>
            <a:off x="20351496" y="20189591"/>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20351496" y="20269855"/>
            <a:ext cx="9147048" cy="1179068"/>
          </a:xfrm>
          <a:prstGeom prst="rect">
            <a:avLst/>
          </a:prstGeom>
          <a:noFill/>
        </p:spPr>
        <p:txBody>
          <a:bodyPr wrap="square" lIns="0" rIns="0" tIns="0" bIns="0">
            <a:spAutoFit/>
          </a:bodyPr>
          <a:lstStyle/>
          <a:p>
            <a:pPr algn="l">
              <a:lnSpc>
                <a:spcPct val="122000"/>
              </a:lnSpc>
              <a:spcAft>
                <a:spcPts val="500"/>
              </a:spcAft>
            </a:pPr>
            <a:r>
              <a:rPr sz="2000" b="0" i="0">
                <a:solidFill>
                  <a:srgbClr val="1F1F1F"/>
                </a:solidFill>
                <a:latin typeface="Times New Roman"/>
              </a:rPr>
              <a:t>Exact rescoring can only recover what the first stage retrieved, so Vanilla stays capped by what its corrupted codes admit. On MSCOCO t→i, PMC reaches .62/.80/.90/.93 at K′ = 100/200/400/500 against Vanilla's .53/.69/.81/.85 — R@100 ≥ 0.90 at a smaller budget.</a:t>
            </a:r>
          </a:p>
        </p:txBody>
      </p:sp>
      <p:sp>
        <p:nvSpPr>
          <p:cNvPr id="188" name="Rectangle 187"/>
          <p:cNvSpPr/>
          <p:nvPr/>
        </p:nvSpPr>
        <p:spPr>
          <a:xfrm>
            <a:off x="20351496" y="21503787"/>
            <a:ext cx="9147048" cy="2042566"/>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20570952" y="21723243"/>
            <a:ext cx="8708136" cy="1603654"/>
          </a:xfrm>
          <a:prstGeom prst="rect">
            <a:avLst/>
          </a:prstGeom>
          <a:noFill/>
        </p:spPr>
        <p:txBody>
          <a:bodyPr wrap="square" lIns="0" rIns="0" tIns="0" bIns="0">
            <a:spAutoFit/>
          </a:bodyPr>
          <a:lstStyle/>
          <a:p>
            <a:pPr algn="l">
              <a:lnSpc>
                <a:spcPct val="128000"/>
              </a:lnSpc>
              <a:spcAft>
                <a:spcPts val="400"/>
              </a:spcAft>
            </a:pPr>
            <a:r>
              <a:rPr sz="2000" b="1" i="0">
                <a:solidFill>
                  <a:srgbClr val="8B0029"/>
                </a:solidFill>
                <a:latin typeface="Times New Roman"/>
              </a:rPr>
              <a:t>One regime favours uncorrected codes.</a:t>
            </a:r>
          </a:p>
          <a:p>
            <a:pPr algn="l">
              <a:lnSpc>
                <a:spcPct val="128000"/>
              </a:lnSpc>
              <a:spcAft>
                <a:spcPts val="400"/>
              </a:spcAft>
            </a:pPr>
            <a:r>
              <a:rPr sz="1900" b="0" i="0">
                <a:solidFill>
                  <a:srgbClr val="1F1F1F"/>
                </a:solidFill>
                <a:latin typeface="Times New Roman"/>
              </a:rPr>
              <a:t>At 400M scale in the reverse direction, rescoring lets Vanilla overtake PMC for K′ ≥ 200: LAION probes only 0.32% of its lists, so PMC's flatter candidate pool covers fewer true positives — a scan-depth effect, not a limit of the correction.</a:t>
            </a:r>
          </a:p>
        </p:txBody>
      </p:sp>
      <p:sp>
        <p:nvSpPr>
          <p:cNvPr id="190" name="TextBox 189"/>
          <p:cNvSpPr txBox="1"/>
          <p:nvPr/>
        </p:nvSpPr>
        <p:spPr>
          <a:xfrm>
            <a:off x="20351496" y="23656081"/>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12.  Where to correct</a:t>
            </a:r>
          </a:p>
        </p:txBody>
      </p:sp>
      <p:sp>
        <p:nvSpPr>
          <p:cNvPr id="191" name="Rectangle 190"/>
          <p:cNvSpPr/>
          <p:nvPr/>
        </p:nvSpPr>
        <p:spPr>
          <a:xfrm>
            <a:off x="20351496" y="24207007"/>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20351496" y="24287271"/>
            <a:ext cx="9147048" cy="353263"/>
          </a:xfrm>
          <a:prstGeom prst="rect">
            <a:avLst/>
          </a:prstGeom>
          <a:noFill/>
        </p:spPr>
        <p:txBody>
          <a:bodyPr wrap="square" lIns="0" rIns="0" tIns="0" bIns="0">
            <a:spAutoFit/>
          </a:bodyPr>
          <a:lstStyle/>
          <a:p>
            <a:pPr algn="l">
              <a:lnSpc>
                <a:spcPct val="122000"/>
              </a:lnSpc>
              <a:spcAft>
                <a:spcPts val="0"/>
              </a:spcAft>
            </a:pPr>
            <a:r>
              <a:rPr sz="1900" b="0" i="0">
                <a:solidFill>
                  <a:srgbClr val="6F6F6F"/>
                </a:solidFill>
                <a:latin typeface="Times New Roman"/>
              </a:rPr>
              <a:t>MSCOCO · CLIP-B/32 · IVF-RaBitQ · R@100 (t→i)</a:t>
            </a:r>
          </a:p>
        </p:txBody>
      </p:sp>
      <p:sp>
        <p:nvSpPr>
          <p:cNvPr id="193" name="Rectangle 192"/>
          <p:cNvSpPr/>
          <p:nvPr/>
        </p:nvSpPr>
        <p:spPr>
          <a:xfrm>
            <a:off x="20351496" y="24768550"/>
            <a:ext cx="7821168" cy="54864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Rectangle 193"/>
          <p:cNvSpPr/>
          <p:nvPr/>
        </p:nvSpPr>
        <p:spPr>
          <a:xfrm>
            <a:off x="20351496" y="24768550"/>
            <a:ext cx="5353526" cy="5486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TextBox 194"/>
          <p:cNvSpPr txBox="1"/>
          <p:nvPr/>
        </p:nvSpPr>
        <p:spPr>
          <a:xfrm>
            <a:off x="20497800" y="24768550"/>
            <a:ext cx="7546848" cy="548640"/>
          </a:xfrm>
          <a:prstGeom prst="rect">
            <a:avLst/>
          </a:prstGeom>
          <a:noFill/>
        </p:spPr>
        <p:txBody>
          <a:bodyPr wrap="none" anchor="ctr" lIns="0" rIns="0" tIns="0" bIns="0">
            <a:spAutoFit/>
          </a:bodyPr>
          <a:lstStyle/>
          <a:p>
            <a:pPr algn="l"/>
            <a:r>
              <a:rPr sz="2100" b="0" i="0">
                <a:solidFill>
                  <a:srgbClr val="FFFFFF"/>
                </a:solidFill>
                <a:latin typeface="Times New Roman"/>
              </a:rPr>
              <a:t>Vanilla</a:t>
            </a:r>
          </a:p>
        </p:txBody>
      </p:sp>
      <p:sp>
        <p:nvSpPr>
          <p:cNvPr id="196" name="TextBox 195"/>
          <p:cNvSpPr txBox="1"/>
          <p:nvPr/>
        </p:nvSpPr>
        <p:spPr>
          <a:xfrm>
            <a:off x="28282392" y="24768550"/>
            <a:ext cx="1216152" cy="548640"/>
          </a:xfrm>
          <a:prstGeom prst="rect">
            <a:avLst/>
          </a:prstGeom>
          <a:noFill/>
        </p:spPr>
        <p:txBody>
          <a:bodyPr wrap="none" anchor="ctr" lIns="0" rIns="0" tIns="0" bIns="0">
            <a:spAutoFit/>
          </a:bodyPr>
          <a:lstStyle/>
          <a:p>
            <a:pPr algn="l"/>
            <a:r>
              <a:rPr sz="2100" b="1" i="0">
                <a:solidFill>
                  <a:srgbClr val="1F1F1F"/>
                </a:solidFill>
                <a:latin typeface="Times New Roman"/>
              </a:rPr>
              <a:t>.578</a:t>
            </a:r>
          </a:p>
        </p:txBody>
      </p:sp>
      <p:sp>
        <p:nvSpPr>
          <p:cNvPr id="197" name="Rectangle 196"/>
          <p:cNvSpPr/>
          <p:nvPr/>
        </p:nvSpPr>
        <p:spPr>
          <a:xfrm>
            <a:off x="20351496" y="25399486"/>
            <a:ext cx="7821168" cy="54864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20351496" y="25399486"/>
            <a:ext cx="3806022" cy="5486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TextBox 198"/>
          <p:cNvSpPr txBox="1"/>
          <p:nvPr/>
        </p:nvSpPr>
        <p:spPr>
          <a:xfrm>
            <a:off x="20497800" y="25399486"/>
            <a:ext cx="7546848" cy="548640"/>
          </a:xfrm>
          <a:prstGeom prst="rect">
            <a:avLst/>
          </a:prstGeom>
          <a:noFill/>
        </p:spPr>
        <p:txBody>
          <a:bodyPr wrap="none" anchor="ctr" lIns="0" rIns="0" tIns="0" bIns="0">
            <a:spAutoFit/>
          </a:bodyPr>
          <a:lstStyle/>
          <a:p>
            <a:pPr algn="l"/>
            <a:r>
              <a:rPr sz="2100" b="0" i="0">
                <a:solidFill>
                  <a:srgbClr val="FFFFFF"/>
                </a:solidFill>
                <a:latin typeface="Times New Roman"/>
              </a:rPr>
              <a:t>Query-only</a:t>
            </a:r>
          </a:p>
        </p:txBody>
      </p:sp>
      <p:sp>
        <p:nvSpPr>
          <p:cNvPr id="200" name="TextBox 199"/>
          <p:cNvSpPr txBox="1"/>
          <p:nvPr/>
        </p:nvSpPr>
        <p:spPr>
          <a:xfrm>
            <a:off x="28282392" y="25399486"/>
            <a:ext cx="1216152" cy="548640"/>
          </a:xfrm>
          <a:prstGeom prst="rect">
            <a:avLst/>
          </a:prstGeom>
          <a:noFill/>
        </p:spPr>
        <p:txBody>
          <a:bodyPr wrap="none" anchor="ctr" lIns="0" rIns="0" tIns="0" bIns="0">
            <a:spAutoFit/>
          </a:bodyPr>
          <a:lstStyle/>
          <a:p>
            <a:pPr algn="l"/>
            <a:r>
              <a:rPr sz="2100" b="1" i="0">
                <a:solidFill>
                  <a:srgbClr val="1F1F1F"/>
                </a:solidFill>
                <a:latin typeface="Times New Roman"/>
              </a:rPr>
              <a:t>.541</a:t>
            </a:r>
          </a:p>
        </p:txBody>
      </p:sp>
      <p:sp>
        <p:nvSpPr>
          <p:cNvPr id="201" name="Rectangle 200"/>
          <p:cNvSpPr/>
          <p:nvPr/>
        </p:nvSpPr>
        <p:spPr>
          <a:xfrm>
            <a:off x="20351496" y="26030422"/>
            <a:ext cx="7821168" cy="54864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20351496" y="26030422"/>
            <a:ext cx="6231839" cy="5486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TextBox 202"/>
          <p:cNvSpPr txBox="1"/>
          <p:nvPr/>
        </p:nvSpPr>
        <p:spPr>
          <a:xfrm>
            <a:off x="20497800" y="26030422"/>
            <a:ext cx="7546848" cy="548640"/>
          </a:xfrm>
          <a:prstGeom prst="rect">
            <a:avLst/>
          </a:prstGeom>
          <a:noFill/>
        </p:spPr>
        <p:txBody>
          <a:bodyPr wrap="none" anchor="ctr" lIns="0" rIns="0" tIns="0" bIns="0">
            <a:spAutoFit/>
          </a:bodyPr>
          <a:lstStyle/>
          <a:p>
            <a:pPr algn="l"/>
            <a:r>
              <a:rPr sz="2100" b="0" i="0">
                <a:solidFill>
                  <a:srgbClr val="FFFFFF"/>
                </a:solidFill>
                <a:latin typeface="Times New Roman"/>
              </a:rPr>
              <a:t>Both sides</a:t>
            </a:r>
          </a:p>
        </p:txBody>
      </p:sp>
      <p:sp>
        <p:nvSpPr>
          <p:cNvPr id="204" name="TextBox 203"/>
          <p:cNvSpPr txBox="1"/>
          <p:nvPr/>
        </p:nvSpPr>
        <p:spPr>
          <a:xfrm>
            <a:off x="28282392" y="26030422"/>
            <a:ext cx="1216152" cy="548640"/>
          </a:xfrm>
          <a:prstGeom prst="rect">
            <a:avLst/>
          </a:prstGeom>
          <a:noFill/>
        </p:spPr>
        <p:txBody>
          <a:bodyPr wrap="none" anchor="ctr" lIns="0" rIns="0" tIns="0" bIns="0">
            <a:spAutoFit/>
          </a:bodyPr>
          <a:lstStyle/>
          <a:p>
            <a:pPr algn="l"/>
            <a:r>
              <a:rPr sz="2100" b="1" i="0">
                <a:solidFill>
                  <a:srgbClr val="1F1F1F"/>
                </a:solidFill>
                <a:latin typeface="Times New Roman"/>
              </a:rPr>
              <a:t>.599</a:t>
            </a:r>
          </a:p>
        </p:txBody>
      </p:sp>
      <p:sp>
        <p:nvSpPr>
          <p:cNvPr id="205" name="Rectangle 204"/>
          <p:cNvSpPr/>
          <p:nvPr/>
        </p:nvSpPr>
        <p:spPr>
          <a:xfrm>
            <a:off x="20351496" y="26661358"/>
            <a:ext cx="7821168" cy="54864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20351496" y="26661358"/>
            <a:ext cx="7821168" cy="548640"/>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20497800" y="26661358"/>
            <a:ext cx="7546848" cy="548640"/>
          </a:xfrm>
          <a:prstGeom prst="rect">
            <a:avLst/>
          </a:prstGeom>
          <a:noFill/>
        </p:spPr>
        <p:txBody>
          <a:bodyPr wrap="none" anchor="ctr" lIns="0" rIns="0" tIns="0" bIns="0">
            <a:spAutoFit/>
          </a:bodyPr>
          <a:lstStyle/>
          <a:p>
            <a:pPr algn="l"/>
            <a:r>
              <a:rPr sz="2100" b="0" i="0">
                <a:solidFill>
                  <a:srgbClr val="FFFFFF"/>
                </a:solidFill>
                <a:latin typeface="Times New Roman"/>
              </a:rPr>
              <a:t>DB-only  (PMC)</a:t>
            </a:r>
          </a:p>
        </p:txBody>
      </p:sp>
      <p:sp>
        <p:nvSpPr>
          <p:cNvPr id="208" name="TextBox 207"/>
          <p:cNvSpPr txBox="1"/>
          <p:nvPr/>
        </p:nvSpPr>
        <p:spPr>
          <a:xfrm>
            <a:off x="28282392" y="26661358"/>
            <a:ext cx="1216152" cy="548640"/>
          </a:xfrm>
          <a:prstGeom prst="rect">
            <a:avLst/>
          </a:prstGeom>
          <a:noFill/>
        </p:spPr>
        <p:txBody>
          <a:bodyPr wrap="none" anchor="ctr" lIns="0" rIns="0" tIns="0" bIns="0">
            <a:spAutoFit/>
          </a:bodyPr>
          <a:lstStyle/>
          <a:p>
            <a:pPr algn="l"/>
            <a:r>
              <a:rPr sz="2100" b="1" i="0">
                <a:solidFill>
                  <a:srgbClr val="1F1F1F"/>
                </a:solidFill>
                <a:latin typeface="Times New Roman"/>
              </a:rPr>
              <a:t>.637</a:t>
            </a:r>
          </a:p>
        </p:txBody>
      </p:sp>
      <p:sp>
        <p:nvSpPr>
          <p:cNvPr id="209" name="TextBox 208"/>
          <p:cNvSpPr txBox="1"/>
          <p:nvPr/>
        </p:nvSpPr>
        <p:spPr>
          <a:xfrm>
            <a:off x="20351496" y="27328870"/>
            <a:ext cx="9147048" cy="844397"/>
          </a:xfrm>
          <a:prstGeom prst="rect">
            <a:avLst/>
          </a:prstGeom>
          <a:noFill/>
        </p:spPr>
        <p:txBody>
          <a:bodyPr wrap="square" lIns="0" rIns="0" tIns="0" bIns="0">
            <a:spAutoFit/>
          </a:bodyPr>
          <a:lstStyle/>
          <a:p>
            <a:pPr algn="l">
              <a:lnSpc>
                <a:spcPct val="122000"/>
              </a:lnSpc>
              <a:spcAft>
                <a:spcPts val="500"/>
              </a:spcAft>
            </a:pPr>
            <a:r>
              <a:rPr sz="2100" b="0" i="0">
                <a:solidFill>
                  <a:srgbClr val="1F1F1F"/>
                </a:solidFill>
                <a:latin typeface="Times New Roman"/>
              </a:rPr>
              <a:t>Shifting both sides re-displaces the routing pivot. </a:t>
            </a:r>
            <a:r>
              <a:rPr sz="2100" b="1" i="0">
                <a:solidFill>
                  <a:srgbClr val="8B0029"/>
                </a:solidFill>
                <a:latin typeface="Times New Roman"/>
              </a:rPr>
              <a:t>Correct the centroid where it controls both routing and code formation.</a:t>
            </a:r>
          </a:p>
        </p:txBody>
      </p:sp>
      <p:sp>
        <p:nvSpPr>
          <p:cNvPr id="210" name="TextBox 209"/>
          <p:cNvSpPr txBox="1"/>
          <p:nvPr/>
        </p:nvSpPr>
        <p:spPr>
          <a:xfrm>
            <a:off x="20351496" y="28191555"/>
            <a:ext cx="9147048" cy="1105916"/>
          </a:xfrm>
          <a:prstGeom prst="rect">
            <a:avLst/>
          </a:prstGeom>
          <a:noFill/>
        </p:spPr>
        <p:txBody>
          <a:bodyPr wrap="square" lIns="0" rIns="0" tIns="0" bIns="0">
            <a:spAutoFit/>
          </a:bodyPr>
          <a:lstStyle/>
          <a:p>
            <a:pPr algn="l">
              <a:lnSpc>
                <a:spcPct val="120000"/>
              </a:lnSpc>
              <a:spcAft>
                <a:spcPts val="500"/>
              </a:spcAft>
            </a:pPr>
            <a:r>
              <a:rPr sz="1900" b="0" i="0">
                <a:solidFill>
                  <a:srgbClr val="6F6F6F"/>
                </a:solidFill>
                <a:latin typeface="Times New Roman"/>
              </a:rPr>
              <a:t>Direction controls (t→i): a random direction of the same norm gives .562, a shuffled gap .552, a sign-flipped gap .514, an un-normalized shift .555 — all below Vanilla's .578, far below PMC's .637. The direction of g is what matters, not perturbing the codes.</a:t>
            </a:r>
          </a:p>
        </p:txBody>
      </p:sp>
      <p:sp>
        <p:nvSpPr>
          <p:cNvPr id="211" name="TextBox 210"/>
          <p:cNvSpPr txBox="1"/>
          <p:nvPr/>
        </p:nvSpPr>
        <p:spPr>
          <a:xfrm>
            <a:off x="20351496" y="29407199"/>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13.  Throughput and conclusion</a:t>
            </a:r>
          </a:p>
        </p:txBody>
      </p:sp>
      <p:sp>
        <p:nvSpPr>
          <p:cNvPr id="212" name="Rectangle 211"/>
          <p:cNvSpPr/>
          <p:nvPr/>
        </p:nvSpPr>
        <p:spPr>
          <a:xfrm>
            <a:off x="20351496" y="29958125"/>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3" name="Picture 212" descr="asset_fig3c.png"/>
          <p:cNvPicPr>
            <a:picLocks noChangeAspect="1"/>
          </p:cNvPicPr>
          <p:nvPr/>
        </p:nvPicPr>
        <p:blipFill>
          <a:blip r:embed="rId7"/>
          <a:stretch>
            <a:fillRect/>
          </a:stretch>
        </p:blipFill>
        <p:spPr>
          <a:xfrm>
            <a:off x="20808848" y="30038389"/>
            <a:ext cx="8232343" cy="6341498"/>
          </a:xfrm>
          <a:prstGeom prst="rect">
            <a:avLst/>
          </a:prstGeom>
        </p:spPr>
      </p:pic>
      <p:sp>
        <p:nvSpPr>
          <p:cNvPr id="214" name="TextBox 213"/>
          <p:cNvSpPr txBox="1"/>
          <p:nvPr/>
        </p:nvSpPr>
        <p:spPr>
          <a:xfrm>
            <a:off x="20351496" y="36434751"/>
            <a:ext cx="9147048" cy="315468"/>
          </a:xfrm>
          <a:prstGeom prst="rect">
            <a:avLst/>
          </a:prstGeom>
          <a:noFill/>
        </p:spPr>
        <p:txBody>
          <a:bodyPr wrap="square" lIns="0" rIns="0" tIns="0" bIns="0">
            <a:spAutoFit/>
          </a:bodyPr>
          <a:lstStyle/>
          <a:p>
            <a:pPr algn="l">
              <a:lnSpc>
                <a:spcPct val="115000"/>
              </a:lnSpc>
              <a:spcAft>
                <a:spcPts val="0"/>
              </a:spcAft>
            </a:pPr>
            <a:r>
              <a:rPr sz="1800" b="0" i="1">
                <a:solidFill>
                  <a:srgbClr val="6F6F6F"/>
                </a:solidFill>
                <a:latin typeface="Times New Roman"/>
              </a:rPr>
              <a:t>QPS tracks Vanilla at every n_probe — PMC adds no per-query work.</a:t>
            </a:r>
          </a:p>
        </p:txBody>
      </p:sp>
      <p:sp>
        <p:nvSpPr>
          <p:cNvPr id="215" name="Rectangle 214"/>
          <p:cNvSpPr/>
          <p:nvPr/>
        </p:nvSpPr>
        <p:spPr>
          <a:xfrm>
            <a:off x="20351496" y="36896523"/>
            <a:ext cx="9147048" cy="3088233"/>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20570952" y="37115979"/>
            <a:ext cx="8708136" cy="2649321"/>
          </a:xfrm>
          <a:prstGeom prst="rect">
            <a:avLst/>
          </a:prstGeom>
          <a:noFill/>
        </p:spPr>
        <p:txBody>
          <a:bodyPr wrap="square" lIns="0" rIns="0" tIns="0" bIns="0">
            <a:spAutoFit/>
          </a:bodyPr>
          <a:lstStyle/>
          <a:p>
            <a:pPr algn="l">
              <a:lnSpc>
                <a:spcPct val="128000"/>
              </a:lnSpc>
              <a:spcAft>
                <a:spcPts val="400"/>
              </a:spcAft>
            </a:pPr>
            <a:r>
              <a:rPr sz="2300" b="1" i="0">
                <a:solidFill>
                  <a:srgbClr val="1F1F1F"/>
                </a:solidFill>
                <a:latin typeface="Times New Roman"/>
              </a:rPr>
              <a:t>A one-time, database-side centroid correction repairs IVF routing and binary quantization together — without changing the serving path.</a:t>
            </a:r>
          </a:p>
          <a:p>
            <a:pPr algn="l">
              <a:lnSpc>
                <a:spcPct val="128000"/>
              </a:lnSpc>
              <a:spcAft>
                <a:spcPts val="400"/>
              </a:spcAft>
            </a:pPr>
            <a:r>
              <a:rPr sz="2000" b="0" i="0">
                <a:solidFill>
                  <a:srgbClr val="0D4DA3"/>
                </a:solidFill>
                <a:latin typeface="Times New Roman"/>
              </a:rPr>
              <a:t>↑ Recall, scaling with ‖g‖   ·   0 query-time transform   ·   0 extra index memory   ·   validated at 407M-vector scale</a:t>
            </a:r>
          </a:p>
          <a:p>
            <a:pPr algn="l">
              <a:lnSpc>
                <a:spcPct val="128000"/>
              </a:lnSpc>
              <a:spcAft>
                <a:spcPts val="400"/>
              </a:spcAft>
            </a:pPr>
            <a:r>
              <a:rPr sz="1900" b="0" i="0">
                <a:solidFill>
                  <a:srgbClr val="6F6F6F"/>
                </a:solidFill>
                <a:latin typeface="Times New Roman"/>
              </a:rPr>
              <a:t>Drift-adaptive α, graph-based ANN and billion-scale deployment remain future work.</a:t>
            </a:r>
          </a:p>
        </p:txBody>
      </p:sp>
      <p:sp>
        <p:nvSpPr>
          <p:cNvPr id="217" name="Rectangle 216"/>
          <p:cNvSpPr/>
          <p:nvPr/>
        </p:nvSpPr>
        <p:spPr>
          <a:xfrm>
            <a:off x="0" y="40928545"/>
            <a:ext cx="30275784" cy="1874519"/>
          </a:xfrm>
          <a:prstGeom prst="rect">
            <a:avLst/>
          </a:prstGeom>
          <a:solidFill>
            <a:srgbClr val="F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0" y="40928545"/>
            <a:ext cx="3027578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9" name="Picture 218" descr="asset_cikm.png"/>
          <p:cNvPicPr>
            <a:picLocks noChangeAspect="1"/>
          </p:cNvPicPr>
          <p:nvPr/>
        </p:nvPicPr>
        <p:blipFill>
          <a:blip r:embed="rId8"/>
          <a:stretch>
            <a:fillRect/>
          </a:stretch>
        </p:blipFill>
        <p:spPr>
          <a:xfrm>
            <a:off x="777240" y="41257729"/>
            <a:ext cx="1539792" cy="1188720"/>
          </a:xfrm>
          <a:prstGeom prst="rect">
            <a:avLst/>
          </a:prstGeom>
        </p:spPr>
      </p:pic>
      <p:sp>
        <p:nvSpPr>
          <p:cNvPr id="220" name="TextBox 219"/>
          <p:cNvSpPr txBox="1"/>
          <p:nvPr/>
        </p:nvSpPr>
        <p:spPr>
          <a:xfrm>
            <a:off x="2911392" y="41385745"/>
            <a:ext cx="26587152" cy="415848"/>
          </a:xfrm>
          <a:prstGeom prst="rect">
            <a:avLst/>
          </a:prstGeom>
          <a:noFill/>
        </p:spPr>
        <p:txBody>
          <a:bodyPr wrap="square" lIns="0" rIns="0" tIns="0" bIns="0">
            <a:spAutoFit/>
          </a:bodyPr>
          <a:lstStyle/>
          <a:p>
            <a:pPr algn="l">
              <a:lnSpc>
                <a:spcPct val="122000"/>
              </a:lnSpc>
              <a:spcAft>
                <a:spcPts val="200"/>
              </a:spcAft>
            </a:pPr>
            <a:r>
              <a:rPr sz="2100" b="1" i="0">
                <a:solidFill>
                  <a:srgbClr val="1F1F1F"/>
                </a:solidFill>
                <a:latin typeface="Times New Roman"/>
              </a:rPr>
              <a:t>The 35th ACM International Conference on Information and Knowledge Management  ·  November 07–11, 2026  ·  Rome, Italy</a:t>
            </a:r>
          </a:p>
        </p:txBody>
      </p:sp>
      <p:sp>
        <p:nvSpPr>
          <p:cNvPr id="221" name="TextBox 220"/>
          <p:cNvSpPr txBox="1"/>
          <p:nvPr/>
        </p:nvSpPr>
        <p:spPr>
          <a:xfrm>
            <a:off x="2911392" y="41801593"/>
            <a:ext cx="26587152" cy="334670"/>
          </a:xfrm>
          <a:prstGeom prst="rect">
            <a:avLst/>
          </a:prstGeom>
          <a:noFill/>
        </p:spPr>
        <p:txBody>
          <a:bodyPr wrap="square" lIns="0" rIns="0" tIns="0" bIns="0">
            <a:spAutoFit/>
          </a:bodyPr>
          <a:lstStyle/>
          <a:p>
            <a:pPr algn="l">
              <a:lnSpc>
                <a:spcPct val="122000"/>
              </a:lnSpc>
              <a:spcAft>
                <a:spcPts val="0"/>
              </a:spcAft>
            </a:pPr>
            <a:r>
              <a:rPr sz="1800" b="0" i="0">
                <a:solidFill>
                  <a:srgbClr val="6F6F6F"/>
                </a:solidFill>
                <a:latin typeface="Times New Roman"/>
              </a:rPr>
              <a:t>DOI 10.1145/3799682.3840007   ·   CC-BY 4.0   ·   Supported by the National Research Foundation of Korea (MSIT), No. 00359638   ·   Code and reproduction package: github.com/sehoon787/PMC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