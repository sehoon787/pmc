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set_ie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77050" y="594360"/>
            <a:ext cx="2621494" cy="1051560"/>
          </a:xfrm>
          <a:prstGeom prst="rect">
            <a:avLst/>
          </a:prstGeom>
        </p:spPr>
      </p:pic>
      <p:pic>
        <p:nvPicPr>
          <p:cNvPr id="4" name="Picture 3" descr="asset_k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566" y="594360"/>
            <a:ext cx="3369284" cy="1051560"/>
          </a:xfrm>
          <a:prstGeom prst="rect">
            <a:avLst/>
          </a:prstGeom>
        </p:spPr>
      </p:pic>
      <p:pic>
        <p:nvPicPr>
          <p:cNvPr id="5" name="Picture 4" descr="asset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24025" y="2011680"/>
            <a:ext cx="1874519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554944" y="3977639"/>
            <a:ext cx="5943600" cy="4114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700" b="0" i="0">
                <a:solidFill>
                  <a:srgbClr val="6F6F6F"/>
                </a:solidFill>
                <a:latin typeface="Times New Roman"/>
              </a:rPr>
              <a:t>Paper + code:  github.com/sehoon787/PMC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58368"/>
            <a:ext cx="20491704" cy="1844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500" b="1" i="0">
                <a:solidFill>
                  <a:srgbClr val="8B0029"/>
                </a:solidFill>
                <a:latin typeface="Times New Roman"/>
              </a:rPr>
              <a:t>PMC: Build-Time Per-Modality Centroid Correction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500" b="1" i="0">
                <a:solidFill>
                  <a:srgbClr val="8B0029"/>
                </a:solidFill>
                <a:latin typeface="Times New Roman"/>
              </a:rPr>
              <a:t>for Cross-Modal Binary-Quantized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0152"/>
            <a:ext cx="20491704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000" b="0" i="0">
                <a:solidFill>
                  <a:srgbClr val="1F1F1F"/>
                </a:solidFill>
                <a:latin typeface="Times New Roman"/>
              </a:rPr>
              <a:t>Se Hoon Kim,   Jun Hyung Lee,   Soonyoung Jung*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71088"/>
            <a:ext cx="20491704" cy="4090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200" b="0" i="0">
                <a:solidFill>
                  <a:srgbClr val="6F6F6F"/>
                </a:solidFill>
                <a:latin typeface="Times New Roman"/>
              </a:rPr>
              <a:t>Department of Computer Science and Engineering, Korea University  ·  Intelligence Engineering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34993"/>
            <a:ext cx="20491704" cy="3718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0" i="1">
                <a:solidFill>
                  <a:srgbClr val="6F6F6F"/>
                </a:solidFill>
                <a:latin typeface="Times New Roman"/>
              </a:rPr>
              <a:t>{sehoon787, junicus, jsy}@korea.ac.kr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00600"/>
            <a:ext cx="28721304" cy="381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5184648"/>
            <a:ext cx="28721304" cy="183530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495544"/>
            <a:ext cx="28099512" cy="12135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Times New Roman"/>
              </a:rPr>
              <a:t>The modality gap breaks binary-quantized indexes.  PMC repairs it at build time — for free.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500" b="0" i="0">
                <a:solidFill>
                  <a:srgbClr val="FFFFFF"/>
                </a:solidFill>
                <a:latin typeface="Times New Roman"/>
              </a:rPr>
              <a:t>Shift each database vector toward the query centroid before indexing: zero query-time transform, zero extra memory, recall gains that scale with the gap — validated at 407M vectors.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4328" y="7403998"/>
            <a:ext cx="12700" cy="33250227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31456" y="7403998"/>
            <a:ext cx="12700" cy="33250227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7550302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1.  Background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8174380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" y="8407298"/>
            <a:ext cx="164592" cy="164592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576" y="8270138"/>
            <a:ext cx="874471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One shared space (CLIP, ImageBind) — but 407M float vectors = </a:t>
            </a:r>
            <a:r>
              <a:rPr sz="2600" b="1" i="0">
                <a:solidFill>
                  <a:srgbClr val="1F1F1F"/>
                </a:solidFill>
                <a:latin typeface="Times New Roman"/>
              </a:rPr>
              <a:t>833 GB.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9559442"/>
            <a:ext cx="164592" cy="164592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9576" y="9422282"/>
            <a:ext cx="874471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Binary quantization: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 1 bit per dimension, 32× smaller (RaBitQ, BBQ).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" y="10711586"/>
            <a:ext cx="164592" cy="164592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9576" y="10574426"/>
            <a:ext cx="874471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Every BQ method encodes </a:t>
            </a:r>
            <a:r>
              <a:rPr sz="2600" b="1" i="0">
                <a:solidFill>
                  <a:srgbClr val="0D4DA3"/>
                </a:solidFill>
                <a:latin typeface="Times New Roman"/>
              </a:rPr>
              <a:t>sign(x − c)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 — the centroid c also routes IVF queries.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11872874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2.  The problem: the modality gap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12496952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12592710"/>
            <a:ext cx="9147048" cy="546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Queries and database vectors do </a:t>
            </a:r>
            <a:r>
              <a:rPr sz="2600" b="1" i="0">
                <a:solidFill>
                  <a:srgbClr val="8B0029"/>
                </a:solidFill>
                <a:latin typeface="Times New Roman"/>
              </a:rPr>
              <a:t>not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 share that centroid: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13249350"/>
            <a:ext cx="9147048" cy="669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3600" b="1" i="0">
                <a:solidFill>
                  <a:srgbClr val="1F1F1F"/>
                </a:solidFill>
                <a:latin typeface="Times New Roman"/>
              </a:rPr>
              <a:t>g  =  μ</a:t>
            </a:r>
            <a:r>
              <a:rPr sz="2592" b="1" i="0" baseline="-25000">
                <a:solidFill>
                  <a:srgbClr val="1F1F1F"/>
                </a:solidFill>
                <a:latin typeface="Times New Roman"/>
              </a:rPr>
              <a:t>q</a:t>
            </a:r>
            <a:r>
              <a:rPr sz="3600" b="1" i="0">
                <a:solidFill>
                  <a:srgbClr val="1F1F1F"/>
                </a:solidFill>
                <a:latin typeface="Times New Roman"/>
              </a:rPr>
              <a:t> − μ</a:t>
            </a:r>
            <a:r>
              <a:rPr sz="2592" b="1" i="0" baseline="-25000">
                <a:solidFill>
                  <a:srgbClr val="1F1F1F"/>
                </a:solidFill>
                <a:latin typeface="Times New Roman"/>
              </a:rPr>
              <a:t>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3918690"/>
            <a:ext cx="9147048" cy="390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stable and large:  ‖g‖ = .61–.82</a:t>
            </a:r>
          </a:p>
        </p:txBody>
      </p:sp>
      <p:pic>
        <p:nvPicPr>
          <p:cNvPr id="29" name="Picture 28" descr="asset_fi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4492018"/>
            <a:ext cx="9147048" cy="454684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77240" y="19130303"/>
            <a:ext cx="9147048" cy="36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Each modality forms its own cluster; after PMC the pairs overlap.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19772669"/>
            <a:ext cx="914704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000" b="1" i="0">
                <a:solidFill>
                  <a:srgbClr val="8B0029"/>
                </a:solidFill>
                <a:latin typeface="Times New Roman"/>
              </a:rPr>
              <a:t>One gap, two failures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" y="20613917"/>
            <a:ext cx="164592" cy="164592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79576" y="20476757"/>
            <a:ext cx="87447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IVF routing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  —  queries land in the wrong lists.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" y="21235709"/>
            <a:ext cx="164592" cy="164592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6" y="21098549"/>
            <a:ext cx="874471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Sign bits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  —  zero-margin boundary at c; the offset flips nearby bits: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22305557"/>
            <a:ext cx="9147048" cy="63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3400" b="1" i="0">
                <a:solidFill>
                  <a:srgbClr val="1F1F1F"/>
                </a:solidFill>
                <a:latin typeface="Times New Roman"/>
              </a:rPr>
              <a:t>E[F]  ≈  α Σᵢ pᵢ(0) · |gᵢ|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22937712"/>
            <a:ext cx="9147048" cy="36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expected bit flips — top 10% of dims carry ≈90% of ‖g‖²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23543502"/>
            <a:ext cx="9147048" cy="2605023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23817822"/>
            <a:ext cx="8598408" cy="20563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400" b="1" i="0">
                <a:solidFill>
                  <a:srgbClr val="1F1F1F"/>
                </a:solidFill>
                <a:latin typeface="Times New Roman"/>
              </a:rPr>
              <a:t>Oracle test — MSCOCO, CLIP-L, RaBitQ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same-modality  (‖g‖ = 0)         R@100 = 0.71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500" b="1" i="0">
                <a:solidFill>
                  <a:srgbClr val="8B0029"/>
                </a:solidFill>
                <a:latin typeface="Times New Roman"/>
              </a:rPr>
              <a:t>cross-modal  (‖g‖ = .82)         R@100 = 0.54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The loss is the gap, not the quantizer.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26294829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3.  Every binary index has the same wound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26918907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27014665"/>
            <a:ext cx="9147048" cy="390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R@100, Vanilla → PMC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27533129"/>
            <a:ext cx="26517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F6F6F"/>
                </a:solidFill>
                <a:latin typeface="Times New Roman"/>
              </a:rPr>
              <a:t>Method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7533129"/>
            <a:ext cx="3247644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6F6F6F"/>
                </a:solidFill>
                <a:latin typeface="Times New Roman"/>
              </a:rPr>
              <a:t>MSCOCO t→i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6644" y="27533129"/>
            <a:ext cx="3247644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6F6F6F"/>
                </a:solidFill>
                <a:latin typeface="Times New Roman"/>
              </a:rPr>
              <a:t>AudioCaps a→t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28045193"/>
            <a:ext cx="9147048" cy="1905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28082531"/>
            <a:ext cx="26517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  <a:latin typeface="Times New Roman"/>
              </a:rPr>
              <a:t>BinaryFlat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28082531"/>
            <a:ext cx="32476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0" i="0">
                <a:solidFill>
                  <a:srgbClr val="6F6F6F"/>
                </a:solidFill>
                <a:latin typeface="Times New Roman"/>
              </a:rPr>
              <a:t>.51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.57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6644" y="28082531"/>
            <a:ext cx="32476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0" i="0">
                <a:solidFill>
                  <a:srgbClr val="6F6F6F"/>
                </a:solidFill>
                <a:latin typeface="Times New Roman"/>
              </a:rPr>
              <a:t>.51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" y="28686035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28686035"/>
            <a:ext cx="26517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  <a:latin typeface="Times New Roman"/>
              </a:rPr>
              <a:t>BinaryIVF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29000" y="28686035"/>
            <a:ext cx="32476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0" i="0">
                <a:solidFill>
                  <a:srgbClr val="6F6F6F"/>
                </a:solidFill>
                <a:latin typeface="Times New Roman"/>
              </a:rPr>
              <a:t>.51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6644" y="28686035"/>
            <a:ext cx="32476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0" i="0">
                <a:solidFill>
                  <a:srgbClr val="6F6F6F"/>
                </a:solidFill>
                <a:latin typeface="Times New Roman"/>
              </a:rPr>
              <a:t>.50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29289539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29289539"/>
            <a:ext cx="26517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  <a:latin typeface="Times New Roman"/>
              </a:rPr>
              <a:t>RotatedBinary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29000" y="29289539"/>
            <a:ext cx="32476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0" i="0">
                <a:solidFill>
                  <a:srgbClr val="6F6F6F"/>
                </a:solidFill>
                <a:latin typeface="Times New Roman"/>
              </a:rPr>
              <a:t>.29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76644" y="29289539"/>
            <a:ext cx="32476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0" i="0">
                <a:solidFill>
                  <a:srgbClr val="6F6F6F"/>
                </a:solidFill>
                <a:latin typeface="Times New Roman"/>
              </a:rPr>
              <a:t>.63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7240" y="29893043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" y="29893043"/>
            <a:ext cx="26517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  <a:latin typeface="Times New Roman"/>
              </a:rPr>
              <a:t>RaBitQ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29000" y="29893043"/>
            <a:ext cx="32476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0" i="0">
                <a:solidFill>
                  <a:srgbClr val="6F6F6F"/>
                </a:solidFill>
                <a:latin typeface="Times New Roman"/>
              </a:rPr>
              <a:t>.58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76644" y="29893043"/>
            <a:ext cx="32476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0" i="0">
                <a:solidFill>
                  <a:srgbClr val="6F6F6F"/>
                </a:solidFill>
                <a:latin typeface="Times New Roman"/>
              </a:rPr>
              <a:t>.67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.75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240" y="30496547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30679427"/>
            <a:ext cx="9147048" cy="1030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Improves or matches in all 16 configs.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The wound is the centroid, not the codec.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31856056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4.  Contributions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7240" y="32480134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32713052"/>
            <a:ext cx="164592" cy="16459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79576" y="32575892"/>
            <a:ext cx="87447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The gap corrupts routing and codes </a:t>
            </a:r>
            <a:r>
              <a:rPr sz="2600" b="1" i="0">
                <a:solidFill>
                  <a:srgbClr val="1F1F1F"/>
                </a:solidFill>
                <a:latin typeface="Times New Roman"/>
              </a:rPr>
              <a:t>together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; loss scales with ‖g‖.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" y="33389708"/>
            <a:ext cx="164592" cy="16459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79576" y="33252548"/>
            <a:ext cx="87447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A few high-|gᵢ| dimensions carry most of the damage.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4672" y="34066364"/>
            <a:ext cx="164592" cy="16459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79576" y="33929204"/>
            <a:ext cx="87447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PMC: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 zero-cost, build-time, database-side correction.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7240" y="34880180"/>
            <a:ext cx="9147048" cy="2164892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4984" y="35117924"/>
            <a:ext cx="8671560" cy="16894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100" b="1" i="0">
                <a:solidFill>
                  <a:srgbClr val="1F1F1F"/>
                </a:solidFill>
                <a:latin typeface="Times New Roman"/>
              </a:rPr>
              <a:t>Setup — </a:t>
            </a:r>
            <a:r>
              <a:rPr sz="2100" b="0" i="0">
                <a:solidFill>
                  <a:srgbClr val="6F6F6F"/>
                </a:solidFill>
                <a:latin typeface="Times New Roman"/>
              </a:rPr>
              <a:t>5 benchmarks (MSCOCO, Flickr30K, Clotho, AudioCaps, LAION-400M) · 3 frozen encoders (CLIP-B/32, CLIP-L/14, ImageBind) · 4 BQ index types · FAISS, 72–136 B/vec · n_list = ⌈√n⌉ · R@100 vs exact ground truth · single-thread CPU.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64368" y="7550302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5.  PMC — correct at the source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564368" y="8174380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asset_fig2o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4368" y="8270138"/>
            <a:ext cx="9147048" cy="6094064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0564368" y="14455642"/>
            <a:ext cx="9147048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Calibrate g from ~25 paired samples · shift the database offline · serve with the query untouched.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15429478"/>
            <a:ext cx="9147048" cy="3718560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856976" y="15722086"/>
            <a:ext cx="8561832" cy="3133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Build  (offline)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x′  =  (x + α g)  /  ‖x + α g‖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Serve  (online)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q′  =  (q − (1−α) g)  /  ‖q − (1−α) g‖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700" b="1" i="0">
                <a:solidFill>
                  <a:srgbClr val="0D4DA3"/>
                </a:solidFill>
                <a:latin typeface="Times New Roman"/>
              </a:rPr>
              <a:t>→   q′ = q   at α = 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19312630"/>
            <a:ext cx="9147048" cy="159146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802112" y="19550374"/>
            <a:ext cx="8671560" cy="11159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At α = 1 the correction is absorbed into the index: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zero query-time transform, zero extra index memory.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91800" y="21224132"/>
            <a:ext cx="164592" cy="164592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966704" y="21086972"/>
            <a:ext cx="874471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α = 0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 (query-only mean shift) leaves codes misaligned — recall can drop.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91800" y="22357988"/>
            <a:ext cx="164592" cy="164592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966704" y="22220828"/>
            <a:ext cx="874471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α = 1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 rewrites the centroid in both its roles; best in the α-sweep.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64368" y="23025500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6.  Why it works: the gap is concentrated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564368" y="23649578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asset_fig3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8779" y="23745336"/>
            <a:ext cx="8598225" cy="67236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564368" y="30597048"/>
            <a:ext cx="9147048" cy="520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800" b="1" i="0">
                <a:solidFill>
                  <a:srgbClr val="0D4DA3"/>
                </a:solidFill>
                <a:latin typeface="Times New Roman"/>
              </a:rPr>
              <a:t>Correcting 5% of dimensions can already be enough.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64368" y="31227374"/>
            <a:ext cx="9147048" cy="1030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CLIP's concentrated gap peaks at P = 5%; ImageBind's diffuse gap needs all dims — just as E[F] predicts.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64368" y="32404003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7.  Beyond one bit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33028081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33123839"/>
            <a:ext cx="9147048" cy="390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R@100, Vanilla → PMC, both directions averaged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64368" y="33642303"/>
            <a:ext cx="31089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F6F6F"/>
                </a:solidFill>
                <a:latin typeface="Times New Roman"/>
              </a:rPr>
              <a:t>Dataset · Enc.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3673328" y="33642303"/>
            <a:ext cx="3019044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6F6F6F"/>
                </a:solidFill>
                <a:latin typeface="Times New Roman"/>
              </a:rPr>
              <a:t>IVFPQ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692372" y="33642303"/>
            <a:ext cx="3019044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6F6F6F"/>
                </a:solidFill>
                <a:latin typeface="Times New Roman"/>
              </a:rPr>
              <a:t>OPQ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34154367"/>
            <a:ext cx="9147048" cy="1905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564368" y="34191705"/>
            <a:ext cx="3108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  <a:latin typeface="Times New Roman"/>
              </a:rPr>
              <a:t>MSCOCO CLIP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673328" y="34191705"/>
            <a:ext cx="30190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100" b="0" i="0">
                <a:solidFill>
                  <a:srgbClr val="6F6F6F"/>
                </a:solidFill>
                <a:latin typeface="Times New Roman"/>
              </a:rPr>
              <a:t>.52→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.64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 +23%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692372" y="34191705"/>
            <a:ext cx="30190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100" b="0" i="0">
                <a:solidFill>
                  <a:srgbClr val="6F6F6F"/>
                </a:solidFill>
                <a:latin typeface="Times New Roman"/>
              </a:rPr>
              <a:t>.64→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.67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 +4%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34795209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34795209"/>
            <a:ext cx="3108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  <a:latin typeface="Times New Roman"/>
              </a:rPr>
              <a:t>MSCOCO CL-L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673328" y="34795209"/>
            <a:ext cx="30190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100" b="0" i="0">
                <a:solidFill>
                  <a:srgbClr val="6F6F6F"/>
                </a:solidFill>
                <a:latin typeface="Times New Roman"/>
              </a:rPr>
              <a:t>.39→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.61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 +56%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692372" y="34795209"/>
            <a:ext cx="30190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100" b="0" i="0">
                <a:solidFill>
                  <a:srgbClr val="6F6F6F"/>
                </a:solidFill>
                <a:latin typeface="Times New Roman"/>
              </a:rPr>
              <a:t>.57→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.67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 +17%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564368" y="35398713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564368" y="35398713"/>
            <a:ext cx="3108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  <a:latin typeface="Times New Roman"/>
              </a:rPr>
              <a:t>MSCOCO IB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3673328" y="35398713"/>
            <a:ext cx="30190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100" b="0" i="0">
                <a:solidFill>
                  <a:srgbClr val="6F6F6F"/>
                </a:solidFill>
                <a:latin typeface="Times New Roman"/>
              </a:rPr>
              <a:t>.59→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.69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 +17%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6692372" y="35398713"/>
            <a:ext cx="30190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100" b="0" i="0">
                <a:solidFill>
                  <a:srgbClr val="6F6F6F"/>
                </a:solidFill>
                <a:latin typeface="Times New Roman"/>
              </a:rPr>
              <a:t>.70→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.77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 +9%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564368" y="36002217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564368" y="36002217"/>
            <a:ext cx="3108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  <a:latin typeface="Times New Roman"/>
              </a:rPr>
              <a:t>Flickr30K CL-L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673328" y="36002217"/>
            <a:ext cx="30190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100" b="0" i="0">
                <a:solidFill>
                  <a:srgbClr val="6F6F6F"/>
                </a:solidFill>
                <a:latin typeface="Times New Roman"/>
              </a:rPr>
              <a:t>.47→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.50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 +7%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692372" y="36002217"/>
            <a:ext cx="301904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100" b="0" i="0">
                <a:solidFill>
                  <a:srgbClr val="6F6F6F"/>
                </a:solidFill>
                <a:latin typeface="Times New Roman"/>
              </a:rPr>
              <a:t>.51→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.52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 +1%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564368" y="36605721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564368" y="36788601"/>
            <a:ext cx="9147048" cy="1030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Multi-bit absorbs part of the shift — BQ is the deepest wound, but PMC still helps.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351496" y="7550302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8.  Results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0351496" y="8174380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0351496" y="8288426"/>
            <a:ext cx="9147048" cy="926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400" b="1" i="0">
                <a:solidFill>
                  <a:srgbClr val="8B0029"/>
                </a:solidFill>
                <a:latin typeface="Times New Roman"/>
              </a:rPr>
              <a:t>407 M</a:t>
            </a:r>
            <a:r>
              <a:rPr sz="2600" b="0" i="0">
                <a:solidFill>
                  <a:srgbClr val="6F6F6F"/>
                </a:solidFill>
                <a:latin typeface="Times New Roman"/>
              </a:rPr>
              <a:t>  vectors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0351496" y="9269881"/>
            <a:ext cx="9147048" cy="4090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LAION-400M · 29.3 GB of codes · 28× compressed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0351496" y="9880090"/>
            <a:ext cx="7592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0351496" y="9880090"/>
            <a:ext cx="5734247" cy="621792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0516088" y="9880090"/>
            <a:ext cx="7318248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072080" y="9880090"/>
            <a:ext cx="1426464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Times New Roman"/>
              </a:rPr>
              <a:t>.108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0351496" y="10593322"/>
            <a:ext cx="7592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0351496" y="10593322"/>
            <a:ext cx="7592568" cy="62179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0516088" y="10593322"/>
            <a:ext cx="7318248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Times New Roman"/>
              </a:rPr>
              <a:t>PMC   (+32%)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072080" y="10593322"/>
            <a:ext cx="1426464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Times New Roman"/>
              </a:rPr>
              <a:t>.143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351496" y="11306554"/>
            <a:ext cx="9147048" cy="390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R@100, no reranking · with exact reranking: </a:t>
            </a:r>
            <a:r>
              <a:rPr sz="2100" b="1" i="0">
                <a:solidFill>
                  <a:srgbClr val="0D4DA3"/>
                </a:solidFill>
                <a:latin typeface="Times New Roman"/>
              </a:rPr>
              <a:t>.198 → .277 (+40%)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351496" y="11971322"/>
            <a:ext cx="9147048" cy="5020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700" b="1" i="0">
                <a:solidFill>
                  <a:srgbClr val="1F1F1F"/>
                </a:solidFill>
                <a:latin typeface="Times New Roman"/>
              </a:rPr>
              <a:t>Every configuration, ordered by ‖g‖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351496" y="12637919"/>
            <a:ext cx="82296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F6F6F"/>
                </a:solidFill>
                <a:latin typeface="Times New Roman"/>
              </a:rPr>
              <a:t>‖g‖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174456" y="12637919"/>
            <a:ext cx="2697480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F6F6F"/>
                </a:solidFill>
                <a:latin typeface="Times New Roman"/>
              </a:rPr>
              <a:t>Dataset · Enc.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871936" y="12637919"/>
            <a:ext cx="2813304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6F6F6F"/>
                </a:solidFill>
                <a:latin typeface="Times New Roman"/>
              </a:rPr>
              <a:t>q→db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685240" y="12637919"/>
            <a:ext cx="2813304" cy="4754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200" b="1" i="0">
                <a:solidFill>
                  <a:srgbClr val="6F6F6F"/>
                </a:solidFill>
                <a:latin typeface="Times New Roman"/>
              </a:rPr>
              <a:t>db→q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0351496" y="13149983"/>
            <a:ext cx="9147048" cy="1905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0351496" y="13187321"/>
            <a:ext cx="822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0029"/>
                </a:solidFill>
                <a:latin typeface="Times New Roman"/>
              </a:rPr>
              <a:t>.82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174456" y="13187321"/>
            <a:ext cx="269748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  <a:latin typeface="Times New Roman"/>
              </a:rPr>
              <a:t>MSCOCO CL-L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871936" y="13187321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.55→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+18%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6685240" y="13187321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.47→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+34%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351496" y="13790825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0351496" y="13790825"/>
            <a:ext cx="822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0029"/>
                </a:solidFill>
                <a:latin typeface="Times New Roman"/>
              </a:rPr>
              <a:t>.82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174456" y="13790825"/>
            <a:ext cx="269748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  <a:latin typeface="Times New Roman"/>
              </a:rPr>
              <a:t>MSCOCO CLIP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3871936" y="13790825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.58→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+9%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6685240" y="13790825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.50→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.60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+20%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0351496" y="14394329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0351496" y="14394329"/>
            <a:ext cx="822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0029"/>
                </a:solidFill>
                <a:latin typeface="Times New Roman"/>
              </a:rPr>
              <a:t>.77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174456" y="14394329"/>
            <a:ext cx="269748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  <a:latin typeface="Times New Roman"/>
              </a:rPr>
              <a:t>Flickr30K CL-L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3871936" y="14394329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.41→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+17%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6685240" y="14394329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.33→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+45%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351496" y="14997833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0351496" y="14997833"/>
            <a:ext cx="822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0029"/>
                </a:solidFill>
                <a:latin typeface="Times New Roman"/>
              </a:rPr>
              <a:t>.72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174456" y="14997833"/>
            <a:ext cx="269748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  <a:latin typeface="Times New Roman"/>
              </a:rPr>
              <a:t>LAION-400M CLIP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3871936" y="14997833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.108→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.143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+32%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6685240" y="14997833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.069→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.073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+6%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0351496" y="15601337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0351496" y="15601337"/>
            <a:ext cx="822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0029"/>
                </a:solidFill>
                <a:latin typeface="Times New Roman"/>
              </a:rPr>
              <a:t>.70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174456" y="15601337"/>
            <a:ext cx="269748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  <a:latin typeface="Times New Roman"/>
              </a:rPr>
              <a:t>MSCOCO IB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3871936" y="15601337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.67→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6685240" y="15601337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.71→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+6%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351496" y="16204841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0351496" y="16204841"/>
            <a:ext cx="822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0029"/>
                </a:solidFill>
                <a:latin typeface="Times New Roman"/>
              </a:rPr>
              <a:t>.61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1174456" y="16204841"/>
            <a:ext cx="269748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  <a:latin typeface="Times New Roman"/>
              </a:rPr>
              <a:t>Clotho IB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871936" y="16204841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.72→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6685240" y="16204841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.62→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.69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+11%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0351496" y="16808345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0351496" y="16808345"/>
            <a:ext cx="82296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0029"/>
                </a:solidFill>
                <a:latin typeface="Times New Roman"/>
              </a:rPr>
              <a:t>.61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174456" y="16808345"/>
            <a:ext cx="2697480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  <a:latin typeface="Times New Roman"/>
              </a:rPr>
              <a:t>AudioCaps IB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3871936" y="16808345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.75→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+4%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6685240" y="16808345"/>
            <a:ext cx="2813304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>
                <a:solidFill>
                  <a:srgbClr val="6F6F6F"/>
                </a:solidFill>
                <a:latin typeface="Times New Roman"/>
              </a:rPr>
              <a:t>.83→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.83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+0%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351496" y="17411849"/>
            <a:ext cx="9147048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asset_gapga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80906" y="17667881"/>
            <a:ext cx="5488228" cy="3645870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20351496" y="21423479"/>
            <a:ext cx="9147048" cy="10675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i="0">
                <a:solidFill>
                  <a:srgbClr val="8B0029"/>
                </a:solidFill>
                <a:latin typeface="Times New Roman"/>
              </a:rPr>
              <a:t>The gain tracks the gap </a:t>
            </a:r>
            <a:r>
              <a:rPr sz="2700" b="0" i="0">
                <a:solidFill>
                  <a:srgbClr val="1F1F1F"/>
                </a:solidFill>
                <a:latin typeface="Times New Roman"/>
              </a:rPr>
              <a:t>— smallest gaps gain least, as E[F] predicts.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0351496" y="22637294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9.  Where to correct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0351496" y="23261372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0351496" y="23357130"/>
            <a:ext cx="9147048" cy="390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MSCOCO · CLIP-B/32 · IVF-RaBitQ · R@100 (t→i)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20351496" y="23893882"/>
            <a:ext cx="7592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0351496" y="23893882"/>
            <a:ext cx="5197051" cy="621792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0516088" y="23893882"/>
            <a:ext cx="7318248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8072080" y="23893882"/>
            <a:ext cx="1426464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Times New Roman"/>
              </a:rPr>
              <a:t>.578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0351496" y="24607114"/>
            <a:ext cx="7592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0351496" y="24607114"/>
            <a:ext cx="3694779" cy="621792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0516088" y="24607114"/>
            <a:ext cx="7318248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Times New Roman"/>
              </a:rPr>
              <a:t>Query-only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8072080" y="24607114"/>
            <a:ext cx="1426464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Times New Roman"/>
              </a:rPr>
              <a:t>.541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0351496" y="25320346"/>
            <a:ext cx="7592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0351496" y="25320346"/>
            <a:ext cx="6049693" cy="621792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0516088" y="25320346"/>
            <a:ext cx="7318248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Times New Roman"/>
              </a:rPr>
              <a:t>Both sides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8072080" y="25320346"/>
            <a:ext cx="1426464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Times New Roman"/>
              </a:rPr>
              <a:t>.599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20351496" y="26033578"/>
            <a:ext cx="7592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20351496" y="26033578"/>
            <a:ext cx="7592568" cy="62179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0516088" y="26033578"/>
            <a:ext cx="7318248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Times New Roman"/>
              </a:rPr>
              <a:t>DB-only  (PMC)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8072080" y="26033578"/>
            <a:ext cx="1426464" cy="6217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Times New Roman"/>
              </a:rPr>
              <a:t>.637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0351496" y="26819962"/>
            <a:ext cx="9147048" cy="1030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600" b="1" i="0">
                <a:solidFill>
                  <a:srgbClr val="8B0029"/>
                </a:solidFill>
                <a:latin typeface="Times New Roman"/>
              </a:rPr>
              <a:t>Correct the centroid where it controls both routing and code formation.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0351496" y="27996591"/>
            <a:ext cx="9147048" cy="5600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 i="0">
                <a:solidFill>
                  <a:srgbClr val="8B0029"/>
                </a:solidFill>
                <a:latin typeface="Times New Roman"/>
              </a:rPr>
              <a:t>10.  Throughput and conclusion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20351496" y="28620669"/>
            <a:ext cx="9147048" cy="3175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3" name="Picture 192" descr="asset_fig3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540612" y="28716427"/>
            <a:ext cx="6768815" cy="5214120"/>
          </a:xfrm>
          <a:prstGeom prst="rect">
            <a:avLst/>
          </a:prstGeom>
        </p:spPr>
      </p:pic>
      <p:sp>
        <p:nvSpPr>
          <p:cNvPr id="194" name="TextBox 193"/>
          <p:cNvSpPr txBox="1"/>
          <p:nvPr/>
        </p:nvSpPr>
        <p:spPr>
          <a:xfrm>
            <a:off x="20351496" y="34003699"/>
            <a:ext cx="9147048" cy="36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QPS tracks Vanilla at every n_probe — no per-query work.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0351496" y="34554625"/>
            <a:ext cx="9147048" cy="2522931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20625816" y="34828945"/>
            <a:ext cx="8598408" cy="19742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One build-time correction repairs IVF routing and binary quantization together.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2200" b="0" i="0">
                <a:solidFill>
                  <a:srgbClr val="0D4DA3"/>
                </a:solidFill>
                <a:latin typeface="Times New Roman"/>
              </a:rPr>
              <a:t>↑ Recall scaling with ‖g‖  ·  0 query-time cost  ·  0 extra memory  ·  407M-vector scale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0" y="40928545"/>
            <a:ext cx="30275784" cy="1874519"/>
          </a:xfrm>
          <a:prstGeom prst="rect">
            <a:avLst/>
          </a:prstGeom>
          <a:solidFill>
            <a:srgbClr val="F6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0" y="40928545"/>
            <a:ext cx="30275784" cy="381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9" name="Picture 198" descr="asset_cik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41257729"/>
            <a:ext cx="1539792" cy="1188720"/>
          </a:xfrm>
          <a:prstGeom prst="rect">
            <a:avLst/>
          </a:prstGeom>
        </p:spPr>
      </p:pic>
      <p:sp>
        <p:nvSpPr>
          <p:cNvPr id="200" name="TextBox 199"/>
          <p:cNvSpPr txBox="1"/>
          <p:nvPr/>
        </p:nvSpPr>
        <p:spPr>
          <a:xfrm>
            <a:off x="2911392" y="41385745"/>
            <a:ext cx="26587152" cy="415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2100" b="1" i="0">
                <a:solidFill>
                  <a:srgbClr val="1F1F1F"/>
                </a:solidFill>
                <a:latin typeface="Times New Roman"/>
              </a:rPr>
              <a:t>The 35th ACM International Conference on Information and Knowledge Management  ·  November 07–11, 2026  ·  Rome, Italy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911392" y="41801593"/>
            <a:ext cx="26587152" cy="334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800" b="0" i="0">
                <a:solidFill>
                  <a:srgbClr val="6F6F6F"/>
                </a:solidFill>
                <a:latin typeface="Times New Roman"/>
              </a:rPr>
              <a:t>DOI 10.1145/3799682.3840007   ·   CC-BY 4.0   ·   Supported by the National Research Foundation of Korea (MSIT), No. 00359638   ·   Code and reproduction package: github.com/sehoon787/PMC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