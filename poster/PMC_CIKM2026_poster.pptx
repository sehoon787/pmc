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584" b="0" i="0" baseline="-25000">
                <a:solidFill>
                  <a:srgbClr val="1F1F1F"/>
                </a:solidFill>
                <a:latin typeface="Times New Roman"/>
              </a:rPr>
              <a:t>i</a:t>
            </a:r>
            <a:r>
              <a:rPr sz="2200" b="0" i="0">
                <a:solidFill>
                  <a:srgbClr val="1F1F1F"/>
                </a:solidFill>
                <a:latin typeface="Times New Roman"/>
              </a:rPr>
              <a:t> = 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1943" b="1" i="0" baseline="-25000">
                <a:solidFill>
                  <a:srgbClr val="1F1F1F"/>
                </a:solidFill>
                <a:latin typeface="Times New Roman"/>
              </a:rPr>
              <a:t>i</a:t>
            </a:r>
            <a:r>
              <a:rPr sz="2700" b="1" i="0">
                <a:solidFill>
                  <a:srgbClr val="1F1F1F"/>
                </a:solidFill>
                <a:latin typeface="Times New Roman"/>
              </a:rPr>
              <a: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0 ,      i.e.,      0  &lt;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208192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3" name="TextBox 22"/>
          <p:cNvSpPr txBox="1"/>
          <p:nvPr/>
        </p:nvSpPr>
        <p:spPr>
          <a:xfrm>
            <a:off x="777240" y="22700771"/>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160" b="1" i="0" baseline="-25000">
                <a:solidFill>
                  <a:srgbClr val="1F1F1F"/>
                </a:solidFill>
                <a:latin typeface="Times New Roman"/>
              </a:rPr>
              <a:t>i</a:t>
            </a:r>
            <a:r>
              <a:rPr sz="3000" b="1" i="0">
                <a:solidFill>
                  <a:srgbClr val="1F1F1F"/>
                </a:solidFill>
                <a:latin typeface="Times New Roman"/>
              </a:rPr>
              <a:t> p</a:t>
            </a:r>
            <a:r>
              <a:rPr sz="2160" b="1" i="0" baseline="-25000">
                <a:solidFill>
                  <a:srgbClr val="1F1F1F"/>
                </a:solidFill>
                <a:latin typeface="Times New Roman"/>
              </a:rPr>
              <a:t>i</a:t>
            </a:r>
            <a:r>
              <a:rPr sz="3000" b="1" i="0">
                <a:solidFill>
                  <a:srgbClr val="1F1F1F"/>
                </a:solidFill>
                <a:latin typeface="Times New Roman"/>
              </a:rPr>
              <a:t>(0) |g</a:t>
            </a:r>
            <a:r>
              <a:rPr sz="2160" b="1" i="0" baseline="-25000">
                <a:solidFill>
                  <a:srgbClr val="1F1F1F"/>
                </a:solidFill>
                <a:latin typeface="Times New Roman"/>
              </a:rPr>
              <a:t>i</a:t>
            </a:r>
            <a:r>
              <a:rPr sz="3000" b="1" i="0">
                <a:solidFill>
                  <a:srgbClr val="1F1F1F"/>
                </a:solidFill>
                <a:latin typeface="Times New Roman"/>
              </a:rPr>
              <a:t>|</a:t>
            </a:r>
          </a:p>
        </p:txBody>
      </p:sp>
      <p:sp>
        <p:nvSpPr>
          <p:cNvPr id="24" name="TextBox 23"/>
          <p:cNvSpPr txBox="1"/>
          <p:nvPr/>
        </p:nvSpPr>
        <p:spPr>
          <a:xfrm>
            <a:off x="777240" y="2342314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58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5" name="Rectangle 24"/>
          <p:cNvSpPr/>
          <p:nvPr/>
        </p:nvSpPr>
        <p:spPr>
          <a:xfrm>
            <a:off x="777240" y="2443274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2467049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7" name="TextBox 26"/>
          <p:cNvSpPr txBox="1"/>
          <p:nvPr/>
        </p:nvSpPr>
        <p:spPr>
          <a:xfrm>
            <a:off x="777240" y="2589050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28" name="Rectangle 27"/>
          <p:cNvSpPr/>
          <p:nvPr/>
        </p:nvSpPr>
        <p:spPr>
          <a:xfrm>
            <a:off x="777240" y="2649629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657376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0" name="TextBox 29"/>
          <p:cNvSpPr txBox="1"/>
          <p:nvPr/>
        </p:nvSpPr>
        <p:spPr>
          <a:xfrm>
            <a:off x="777240" y="2760164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1" name="TextBox 30"/>
          <p:cNvSpPr txBox="1"/>
          <p:nvPr/>
        </p:nvSpPr>
        <p:spPr>
          <a:xfrm>
            <a:off x="777240" y="281036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α ∈ [0,1];  α = 1  →  q′ = q</a:t>
            </a:r>
          </a:p>
        </p:txBody>
      </p:sp>
      <p:sp>
        <p:nvSpPr>
          <p:cNvPr id="32" name="TextBox 31"/>
          <p:cNvSpPr txBox="1"/>
          <p:nvPr/>
        </p:nvSpPr>
        <p:spPr>
          <a:xfrm>
            <a:off x="777240" y="286401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3" name="Rectangle 32"/>
          <p:cNvSpPr/>
          <p:nvPr/>
        </p:nvSpPr>
        <p:spPr>
          <a:xfrm>
            <a:off x="777240" y="3007702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016846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5" name="Rectangle 34"/>
          <p:cNvSpPr/>
          <p:nvPr/>
        </p:nvSpPr>
        <p:spPr>
          <a:xfrm>
            <a:off x="777240" y="3066925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76069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512" b="0" i="0" baseline="-25000">
                <a:solidFill>
                  <a:srgbClr val="1F1F1F"/>
                </a:solidFill>
                <a:latin typeface="Times New Roman"/>
              </a:rPr>
              <a:t>q</a:t>
            </a:r>
            <a:r>
              <a:rPr sz="2100" b="0" i="0">
                <a:solidFill>
                  <a:srgbClr val="1F1F1F"/>
                </a:solidFill>
                <a:latin typeface="Times New Roman"/>
              </a:rPr>
              <a:t> ← mean(Q);   μ</a:t>
            </a:r>
            <a:r>
              <a:rPr sz="151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7" name="Rectangle 36"/>
          <p:cNvSpPr/>
          <p:nvPr/>
        </p:nvSpPr>
        <p:spPr>
          <a:xfrm>
            <a:off x="777240" y="3492121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521382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584" b="0" i="0" baseline="-25000">
                <a:solidFill>
                  <a:srgbClr val="1F1F1F"/>
                </a:solidFill>
                <a:latin typeface="Times New Roman"/>
              </a:rPr>
              <a:t>i</a:t>
            </a:r>
            <a:r>
              <a:rPr sz="2200" b="0" i="0">
                <a:solidFill>
                  <a:srgbClr val="1F1F1F"/>
                </a:solidFill>
                <a:latin typeface="Times New Roman"/>
              </a:rPr>
              <a:t>|,</a:t>
            </a:r>
          </a:p>
        </p:txBody>
      </p:sp>
      <p:sp>
        <p:nvSpPr>
          <p:cNvPr id="39" name="TextBox 38"/>
          <p:cNvSpPr txBox="1"/>
          <p:nvPr/>
        </p:nvSpPr>
        <p:spPr>
          <a:xfrm>
            <a:off x="777240" y="3583266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1800" b="1" i="0" baseline="-25000">
                <a:solidFill>
                  <a:srgbClr val="1F1F1F"/>
                </a:solidFill>
                <a:latin typeface="Times New Roman"/>
              </a:rPr>
              <a:t>sel,i</a:t>
            </a:r>
            <a:r>
              <a:rPr sz="2500" b="1" i="0">
                <a:solidFill>
                  <a:srgbClr val="1F1F1F"/>
                </a:solidFill>
                <a:latin typeface="Times New Roman"/>
              </a:rPr>
              <a:t> = g</a:t>
            </a:r>
            <a:r>
              <a:rPr sz="1800" b="1" i="0" baseline="-25000">
                <a:solidFill>
                  <a:srgbClr val="1F1F1F"/>
                </a:solidFill>
                <a:latin typeface="Times New Roman"/>
              </a:rPr>
              <a:t>i</a:t>
            </a:r>
            <a:r>
              <a:rPr sz="2500" b="1" i="0">
                <a:solidFill>
                  <a:srgbClr val="1F1F1F"/>
                </a:solidFill>
                <a:latin typeface="Times New Roman"/>
              </a:rPr>
              <a:t>  if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  0  otherwise ;      x′</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a:t>
            </a:r>
          </a:p>
        </p:txBody>
      </p:sp>
      <p:sp>
        <p:nvSpPr>
          <p:cNvPr id="40" name="TextBox 39"/>
          <p:cNvSpPr txBox="1"/>
          <p:nvPr/>
        </p:nvSpPr>
        <p:spPr>
          <a:xfrm>
            <a:off x="777240" y="36608384"/>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E(P)  =  Σ</a:t>
            </a:r>
            <a:r>
              <a:rPr sz="1800" b="1" i="0" baseline="-25000">
                <a:solidFill>
                  <a:srgbClr val="1F1F1F"/>
                </a:solidFill>
                <a:latin typeface="Times New Roman"/>
              </a:rPr>
              <a:t>i ∈ S(P)</a:t>
            </a:r>
            <a:r>
              <a:rPr sz="2500" b="1" i="0">
                <a:solidFill>
                  <a:srgbClr val="1F1F1F"/>
                </a:solidFill>
                <a:latin typeface="Times New Roman"/>
              </a:rPr>
              <a:t> g</a:t>
            </a:r>
            <a:r>
              <a:rPr sz="1800" b="1" i="0" baseline="-25000">
                <a:solidFill>
                  <a:srgbClr val="1F1F1F"/>
                </a:solidFill>
                <a:latin typeface="Times New Roman"/>
              </a:rPr>
              <a:t>i</a:t>
            </a:r>
            <a:r>
              <a:rPr sz="2500" b="1" i="0">
                <a:solidFill>
                  <a:srgbClr val="1F1F1F"/>
                </a:solidFill>
                <a:latin typeface="Times New Roman"/>
              </a:rPr>
              <a:t>²  /  ‖g‖² ,      S(P) = { i :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a:t>
            </a:r>
          </a:p>
        </p:txBody>
      </p:sp>
      <p:sp>
        <p:nvSpPr>
          <p:cNvPr id="41" name="TextBox 40"/>
          <p:cNvSpPr txBox="1"/>
          <p:nvPr/>
        </p:nvSpPr>
        <p:spPr>
          <a:xfrm>
            <a:off x="777240" y="3707320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cumulative gap energy captured by the selected dimensions</a:t>
            </a:r>
          </a:p>
        </p:txBody>
      </p:sp>
      <p:sp>
        <p:nvSpPr>
          <p:cNvPr id="42" name="TextBox 41"/>
          <p:cNvSpPr txBox="1"/>
          <p:nvPr/>
        </p:nvSpPr>
        <p:spPr>
          <a:xfrm>
            <a:off x="777240" y="3760965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58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3" name="TextBox 42"/>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4" name="Rectangle 43"/>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6" name="TextBox 45"/>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584" b="0" i="0" baseline="-25000">
                <a:solidFill>
                  <a:srgbClr val="1F1F1F"/>
                </a:solidFill>
                <a:latin typeface="Times New Roman"/>
              </a:rPr>
              <a:t>q</a:t>
            </a:r>
            <a:r>
              <a:rPr sz="2200" b="0" i="0">
                <a:solidFill>
                  <a:srgbClr val="1F1F1F"/>
                </a:solidFill>
                <a:latin typeface="Times New Roman"/>
              </a:rPr>
              <a:t>, μ</a:t>
            </a:r>
            <a:r>
              <a:rPr sz="1584" b="0" i="0" baseline="-25000">
                <a:solidFill>
                  <a:srgbClr val="1F1F1F"/>
                </a:solidFill>
                <a:latin typeface="Times New Roman"/>
              </a:rPr>
              <a:t>x</a:t>
            </a:r>
            <a:r>
              <a:rPr sz="2200" b="0" i="0">
                <a:solidFill>
                  <a:srgbClr val="1F1F1F"/>
                </a:solidFill>
                <a:latin typeface="Times New Roman"/>
              </a:rPr>
              <a:t> and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47" name="TextBox 46"/>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48" name="Rectangle 47"/>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512" b="0" i="0" baseline="-25000">
                <a:solidFill>
                  <a:srgbClr val="6F6F6F"/>
                </a:solidFill>
                <a:latin typeface="Times New Roman"/>
              </a:rPr>
              <a:t>list</a:t>
            </a:r>
            <a:r>
              <a:rPr sz="2100" b="0" i="0">
                <a:solidFill>
                  <a:srgbClr val="6F6F6F"/>
                </a:solidFill>
                <a:latin typeface="Times New Roman"/>
              </a:rPr>
              <a:t> = ⌈√n⌉, n</a:t>
            </a:r>
            <a:r>
              <a:rPr sz="1512" b="0" i="0" baseline="-25000">
                <a:solidFill>
                  <a:srgbClr val="6F6F6F"/>
                </a:solidFill>
                <a:latin typeface="Times New Roman"/>
              </a:rPr>
              <a:t>probe</a:t>
            </a:r>
            <a:r>
              <a:rPr sz="2100" b="0" i="0">
                <a:solidFill>
                  <a:srgbClr val="6F6F6F"/>
                </a:solidFill>
                <a:latin typeface="Times New Roman"/>
              </a:rPr>
              <a:t> ≈ n</a:t>
            </a:r>
            <a:r>
              <a:rPr sz="151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0" name="TextBox 49"/>
          <p:cNvSpPr txBox="1"/>
          <p:nvPr/>
        </p:nvSpPr>
        <p:spPr>
          <a:xfrm>
            <a:off x="15457932" y="17505399"/>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(R@100, Vanilla → PMC)</a:t>
            </a:r>
          </a:p>
        </p:txBody>
      </p:sp>
      <p:sp>
        <p:nvSpPr>
          <p:cNvPr id="51" name="TextBox 50"/>
          <p:cNvSpPr txBox="1"/>
          <p:nvPr/>
        </p:nvSpPr>
        <p:spPr>
          <a:xfrm>
            <a:off x="15457932" y="18079642"/>
            <a:ext cx="868680" cy="438912"/>
          </a:xfrm>
          <a:prstGeom prst="rect">
            <a:avLst/>
          </a:prstGeom>
          <a:noFill/>
        </p:spPr>
        <p:txBody>
          <a:bodyPr wrap="none" anchor="ctr" lIns="0" rIns="0" tIns="0" bIns="0">
            <a:spAutoFit/>
          </a:bodyPr>
          <a:lstStyle/>
          <a:p>
            <a:pPr algn="l"/>
            <a:r>
              <a:rPr sz="2100" b="1" i="0">
                <a:solidFill>
                  <a:srgbClr val="6F6F6F"/>
                </a:solidFill>
                <a:latin typeface="Times New Roman"/>
              </a:rPr>
              <a:t>‖g‖</a:t>
            </a:r>
          </a:p>
        </p:txBody>
      </p:sp>
      <p:sp>
        <p:nvSpPr>
          <p:cNvPr id="52" name="TextBox 51"/>
          <p:cNvSpPr txBox="1"/>
          <p:nvPr/>
        </p:nvSpPr>
        <p:spPr>
          <a:xfrm>
            <a:off x="16326612" y="18079642"/>
            <a:ext cx="3017520" cy="438912"/>
          </a:xfrm>
          <a:prstGeom prst="rect">
            <a:avLst/>
          </a:prstGeom>
          <a:noFill/>
        </p:spPr>
        <p:txBody>
          <a:bodyPr wrap="none" anchor="ctr" lIns="0" rIns="0" tIns="0" bIns="0">
            <a:spAutoFit/>
          </a:bodyPr>
          <a:lstStyle/>
          <a:p>
            <a:pPr algn="l"/>
            <a:r>
              <a:rPr sz="2100" b="1" i="0">
                <a:solidFill>
                  <a:srgbClr val="6F6F6F"/>
                </a:solidFill>
                <a:latin typeface="Times New Roman"/>
              </a:rPr>
              <a:t>Dataset · Enc.</a:t>
            </a:r>
          </a:p>
        </p:txBody>
      </p:sp>
      <p:sp>
        <p:nvSpPr>
          <p:cNvPr id="53" name="TextBox 52"/>
          <p:cNvSpPr txBox="1"/>
          <p:nvPr/>
        </p:nvSpPr>
        <p:spPr>
          <a:xfrm>
            <a:off x="19344132" y="18079642"/>
            <a:ext cx="5077206" cy="438912"/>
          </a:xfrm>
          <a:prstGeom prst="rect">
            <a:avLst/>
          </a:prstGeom>
          <a:noFill/>
        </p:spPr>
        <p:txBody>
          <a:bodyPr wrap="none" anchor="ctr" lIns="0" rIns="0" tIns="0" bIns="0">
            <a:spAutoFit/>
          </a:bodyPr>
          <a:lstStyle/>
          <a:p>
            <a:pPr algn="r"/>
            <a:r>
              <a:rPr sz="2100" b="1" i="0">
                <a:solidFill>
                  <a:srgbClr val="6F6F6F"/>
                </a:solidFill>
                <a:latin typeface="Times New Roman"/>
              </a:rPr>
              <a:t>q→db</a:t>
            </a:r>
          </a:p>
        </p:txBody>
      </p:sp>
      <p:sp>
        <p:nvSpPr>
          <p:cNvPr id="54" name="TextBox 53"/>
          <p:cNvSpPr txBox="1"/>
          <p:nvPr/>
        </p:nvSpPr>
        <p:spPr>
          <a:xfrm>
            <a:off x="24421338" y="18079642"/>
            <a:ext cx="5077206" cy="438912"/>
          </a:xfrm>
          <a:prstGeom prst="rect">
            <a:avLst/>
          </a:prstGeom>
          <a:noFill/>
        </p:spPr>
        <p:txBody>
          <a:bodyPr wrap="none" anchor="ctr" lIns="0" rIns="0" tIns="0" bIns="0">
            <a:spAutoFit/>
          </a:bodyPr>
          <a:lstStyle/>
          <a:p>
            <a:pPr algn="r"/>
            <a:r>
              <a:rPr sz="2100" b="1" i="0">
                <a:solidFill>
                  <a:srgbClr val="6F6F6F"/>
                </a:solidFill>
                <a:latin typeface="Times New Roman"/>
              </a:rPr>
              <a:t>db→q</a:t>
            </a:r>
          </a:p>
        </p:txBody>
      </p:sp>
      <p:sp>
        <p:nvSpPr>
          <p:cNvPr id="55" name="Rectangle 54"/>
          <p:cNvSpPr/>
          <p:nvPr/>
        </p:nvSpPr>
        <p:spPr>
          <a:xfrm>
            <a:off x="15457932" y="18555130"/>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5457932" y="185924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.82</a:t>
            </a:r>
          </a:p>
        </p:txBody>
      </p:sp>
      <p:sp>
        <p:nvSpPr>
          <p:cNvPr id="57" name="TextBox 56"/>
          <p:cNvSpPr txBox="1"/>
          <p:nvPr/>
        </p:nvSpPr>
        <p:spPr>
          <a:xfrm>
            <a:off x="16326612" y="185924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MSCOCO CL-L</a:t>
            </a:r>
          </a:p>
        </p:txBody>
      </p:sp>
      <p:sp>
        <p:nvSpPr>
          <p:cNvPr id="58" name="TextBox 57"/>
          <p:cNvSpPr txBox="1"/>
          <p:nvPr/>
        </p:nvSpPr>
        <p:spPr>
          <a:xfrm>
            <a:off x="19344132" y="18592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.55→</a:t>
            </a:r>
            <a:r>
              <a:rPr sz="2300" b="1" i="0">
                <a:solidFill>
                  <a:srgbClr val="0D4DA3"/>
                </a:solidFill>
                <a:latin typeface="Times New Roman"/>
              </a:rPr>
              <a:t>.65</a:t>
            </a:r>
            <a:r>
              <a:rPr sz="2000" b="1" i="0">
                <a:solidFill>
                  <a:srgbClr val="0D4DA3"/>
                </a:solidFill>
                <a:latin typeface="Times New Roman"/>
              </a:rPr>
              <a:t> +18%</a:t>
            </a:r>
          </a:p>
        </p:txBody>
      </p:sp>
      <p:sp>
        <p:nvSpPr>
          <p:cNvPr id="59" name="TextBox 58"/>
          <p:cNvSpPr txBox="1"/>
          <p:nvPr/>
        </p:nvSpPr>
        <p:spPr>
          <a:xfrm>
            <a:off x="24421338" y="18592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.47→</a:t>
            </a:r>
            <a:r>
              <a:rPr sz="2300" b="1" i="0">
                <a:solidFill>
                  <a:srgbClr val="0D4DA3"/>
                </a:solidFill>
                <a:latin typeface="Times New Roman"/>
              </a:rPr>
              <a:t>.63</a:t>
            </a:r>
            <a:r>
              <a:rPr sz="2000" b="1" i="0">
                <a:solidFill>
                  <a:srgbClr val="0D4DA3"/>
                </a:solidFill>
                <a:latin typeface="Times New Roman"/>
              </a:rPr>
              <a:t> +34%</a:t>
            </a:r>
          </a:p>
        </p:txBody>
      </p:sp>
      <p:sp>
        <p:nvSpPr>
          <p:cNvPr id="60" name="Rectangle 59"/>
          <p:cNvSpPr/>
          <p:nvPr/>
        </p:nvSpPr>
        <p:spPr>
          <a:xfrm>
            <a:off x="15457932" y="190496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5457932" y="190496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.82</a:t>
            </a:r>
          </a:p>
        </p:txBody>
      </p:sp>
      <p:sp>
        <p:nvSpPr>
          <p:cNvPr id="62" name="TextBox 61"/>
          <p:cNvSpPr txBox="1"/>
          <p:nvPr/>
        </p:nvSpPr>
        <p:spPr>
          <a:xfrm>
            <a:off x="16326612" y="190496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MSCOCO CLIP</a:t>
            </a:r>
          </a:p>
        </p:txBody>
      </p:sp>
      <p:sp>
        <p:nvSpPr>
          <p:cNvPr id="63" name="TextBox 62"/>
          <p:cNvSpPr txBox="1"/>
          <p:nvPr/>
        </p:nvSpPr>
        <p:spPr>
          <a:xfrm>
            <a:off x="19344132" y="19049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.58→</a:t>
            </a:r>
            <a:r>
              <a:rPr sz="2300" b="1" i="0">
                <a:solidFill>
                  <a:srgbClr val="0D4DA3"/>
                </a:solidFill>
                <a:latin typeface="Times New Roman"/>
              </a:rPr>
              <a:t>.63</a:t>
            </a:r>
            <a:r>
              <a:rPr sz="2000" b="1" i="0">
                <a:solidFill>
                  <a:srgbClr val="0D4DA3"/>
                </a:solidFill>
                <a:latin typeface="Times New Roman"/>
              </a:rPr>
              <a:t> +9%</a:t>
            </a:r>
          </a:p>
        </p:txBody>
      </p:sp>
      <p:sp>
        <p:nvSpPr>
          <p:cNvPr id="64" name="TextBox 63"/>
          <p:cNvSpPr txBox="1"/>
          <p:nvPr/>
        </p:nvSpPr>
        <p:spPr>
          <a:xfrm>
            <a:off x="24421338" y="19049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.50→</a:t>
            </a:r>
            <a:r>
              <a:rPr sz="2300" b="1" i="0">
                <a:solidFill>
                  <a:srgbClr val="0D4DA3"/>
                </a:solidFill>
                <a:latin typeface="Times New Roman"/>
              </a:rPr>
              <a:t>.60</a:t>
            </a:r>
            <a:r>
              <a:rPr sz="2000" b="1" i="0">
                <a:solidFill>
                  <a:srgbClr val="0D4DA3"/>
                </a:solidFill>
                <a:latin typeface="Times New Roman"/>
              </a:rPr>
              <a:t> +20%</a:t>
            </a:r>
          </a:p>
        </p:txBody>
      </p:sp>
      <p:sp>
        <p:nvSpPr>
          <p:cNvPr id="65" name="Rectangle 64"/>
          <p:cNvSpPr/>
          <p:nvPr/>
        </p:nvSpPr>
        <p:spPr>
          <a:xfrm>
            <a:off x="15457932" y="195068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457932" y="195068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.77</a:t>
            </a:r>
          </a:p>
        </p:txBody>
      </p:sp>
      <p:sp>
        <p:nvSpPr>
          <p:cNvPr id="67" name="TextBox 66"/>
          <p:cNvSpPr txBox="1"/>
          <p:nvPr/>
        </p:nvSpPr>
        <p:spPr>
          <a:xfrm>
            <a:off x="16326612" y="195068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Flickr30K CL-L</a:t>
            </a:r>
          </a:p>
        </p:txBody>
      </p:sp>
      <p:sp>
        <p:nvSpPr>
          <p:cNvPr id="68" name="TextBox 67"/>
          <p:cNvSpPr txBox="1"/>
          <p:nvPr/>
        </p:nvSpPr>
        <p:spPr>
          <a:xfrm>
            <a:off x="19344132" y="195068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.41→</a:t>
            </a:r>
            <a:r>
              <a:rPr sz="2300" b="1" i="0">
                <a:solidFill>
                  <a:srgbClr val="0D4DA3"/>
                </a:solidFill>
                <a:latin typeface="Times New Roman"/>
              </a:rPr>
              <a:t>.48</a:t>
            </a:r>
            <a:r>
              <a:rPr sz="2000" b="1" i="0">
                <a:solidFill>
                  <a:srgbClr val="0D4DA3"/>
                </a:solidFill>
                <a:latin typeface="Times New Roman"/>
              </a:rPr>
              <a:t> +17%</a:t>
            </a:r>
          </a:p>
        </p:txBody>
      </p:sp>
      <p:sp>
        <p:nvSpPr>
          <p:cNvPr id="69" name="TextBox 68"/>
          <p:cNvSpPr txBox="1"/>
          <p:nvPr/>
        </p:nvSpPr>
        <p:spPr>
          <a:xfrm>
            <a:off x="24421338" y="195068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.33→</a:t>
            </a:r>
            <a:r>
              <a:rPr sz="2300" b="1" i="0">
                <a:solidFill>
                  <a:srgbClr val="0D4DA3"/>
                </a:solidFill>
                <a:latin typeface="Times New Roman"/>
              </a:rPr>
              <a:t>.48</a:t>
            </a:r>
            <a:r>
              <a:rPr sz="2000" b="1" i="0">
                <a:solidFill>
                  <a:srgbClr val="0D4DA3"/>
                </a:solidFill>
                <a:latin typeface="Times New Roman"/>
              </a:rPr>
              <a:t> +45%</a:t>
            </a:r>
          </a:p>
        </p:txBody>
      </p:sp>
      <p:sp>
        <p:nvSpPr>
          <p:cNvPr id="70" name="Rectangle 69"/>
          <p:cNvSpPr/>
          <p:nvPr/>
        </p:nvSpPr>
        <p:spPr>
          <a:xfrm>
            <a:off x="15457932" y="199640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5457932" y="199640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.72</a:t>
            </a:r>
          </a:p>
        </p:txBody>
      </p:sp>
      <p:sp>
        <p:nvSpPr>
          <p:cNvPr id="72" name="TextBox 71"/>
          <p:cNvSpPr txBox="1"/>
          <p:nvPr/>
        </p:nvSpPr>
        <p:spPr>
          <a:xfrm>
            <a:off x="16326612" y="199640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LAION-400M CLIP</a:t>
            </a:r>
          </a:p>
        </p:txBody>
      </p:sp>
      <p:sp>
        <p:nvSpPr>
          <p:cNvPr id="73" name="TextBox 72"/>
          <p:cNvSpPr txBox="1"/>
          <p:nvPr/>
        </p:nvSpPr>
        <p:spPr>
          <a:xfrm>
            <a:off x="19344132" y="199640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.108→</a:t>
            </a:r>
            <a:r>
              <a:rPr sz="2300" b="1" i="0">
                <a:solidFill>
                  <a:srgbClr val="0D4DA3"/>
                </a:solidFill>
                <a:latin typeface="Times New Roman"/>
              </a:rPr>
              <a:t>.143</a:t>
            </a:r>
            <a:r>
              <a:rPr sz="2000" b="1" i="0">
                <a:solidFill>
                  <a:srgbClr val="0D4DA3"/>
                </a:solidFill>
                <a:latin typeface="Times New Roman"/>
              </a:rPr>
              <a:t> +32%</a:t>
            </a:r>
          </a:p>
        </p:txBody>
      </p:sp>
      <p:sp>
        <p:nvSpPr>
          <p:cNvPr id="74" name="TextBox 73"/>
          <p:cNvSpPr txBox="1"/>
          <p:nvPr/>
        </p:nvSpPr>
        <p:spPr>
          <a:xfrm>
            <a:off x="24421338" y="199640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.069→</a:t>
            </a:r>
            <a:r>
              <a:rPr sz="2300" b="1" i="0">
                <a:solidFill>
                  <a:srgbClr val="0D4DA3"/>
                </a:solidFill>
                <a:latin typeface="Times New Roman"/>
              </a:rPr>
              <a:t>.073</a:t>
            </a:r>
            <a:r>
              <a:rPr sz="2000" b="1" i="0">
                <a:solidFill>
                  <a:srgbClr val="0D4DA3"/>
                </a:solidFill>
                <a:latin typeface="Times New Roman"/>
              </a:rPr>
              <a:t> +6%</a:t>
            </a:r>
          </a:p>
        </p:txBody>
      </p:sp>
      <p:sp>
        <p:nvSpPr>
          <p:cNvPr id="75" name="Rectangle 74"/>
          <p:cNvSpPr/>
          <p:nvPr/>
        </p:nvSpPr>
        <p:spPr>
          <a:xfrm>
            <a:off x="15457932" y="204212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5457932" y="204212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.70</a:t>
            </a:r>
          </a:p>
        </p:txBody>
      </p:sp>
      <p:sp>
        <p:nvSpPr>
          <p:cNvPr id="77" name="TextBox 76"/>
          <p:cNvSpPr txBox="1"/>
          <p:nvPr/>
        </p:nvSpPr>
        <p:spPr>
          <a:xfrm>
            <a:off x="16326612" y="204212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MSCOCO IB</a:t>
            </a:r>
          </a:p>
        </p:txBody>
      </p:sp>
      <p:sp>
        <p:nvSpPr>
          <p:cNvPr id="78" name="TextBox 77"/>
          <p:cNvSpPr txBox="1"/>
          <p:nvPr/>
        </p:nvSpPr>
        <p:spPr>
          <a:xfrm>
            <a:off x="19344132" y="204212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.67→</a:t>
            </a:r>
            <a:r>
              <a:rPr sz="2300" b="1" i="0">
                <a:solidFill>
                  <a:srgbClr val="0D4DA3"/>
                </a:solidFill>
                <a:latin typeface="Times New Roman"/>
              </a:rPr>
              <a:t>.75</a:t>
            </a:r>
            <a:r>
              <a:rPr sz="2000" b="1" i="0">
                <a:solidFill>
                  <a:srgbClr val="0D4DA3"/>
                </a:solidFill>
                <a:latin typeface="Times New Roman"/>
              </a:rPr>
              <a:t> +12%</a:t>
            </a:r>
          </a:p>
        </p:txBody>
      </p:sp>
      <p:sp>
        <p:nvSpPr>
          <p:cNvPr id="79" name="TextBox 78"/>
          <p:cNvSpPr txBox="1"/>
          <p:nvPr/>
        </p:nvSpPr>
        <p:spPr>
          <a:xfrm>
            <a:off x="24421338" y="204212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.71→</a:t>
            </a:r>
            <a:r>
              <a:rPr sz="2300" b="1" i="0">
                <a:solidFill>
                  <a:srgbClr val="0D4DA3"/>
                </a:solidFill>
                <a:latin typeface="Times New Roman"/>
              </a:rPr>
              <a:t>.75</a:t>
            </a:r>
            <a:r>
              <a:rPr sz="2000" b="1" i="0">
                <a:solidFill>
                  <a:srgbClr val="0D4DA3"/>
                </a:solidFill>
                <a:latin typeface="Times New Roman"/>
              </a:rPr>
              <a:t> +6%</a:t>
            </a:r>
          </a:p>
        </p:txBody>
      </p:sp>
      <p:sp>
        <p:nvSpPr>
          <p:cNvPr id="80" name="Rectangle 79"/>
          <p:cNvSpPr/>
          <p:nvPr/>
        </p:nvSpPr>
        <p:spPr>
          <a:xfrm>
            <a:off x="15457932" y="208784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5457932" y="208784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.61</a:t>
            </a:r>
          </a:p>
        </p:txBody>
      </p:sp>
      <p:sp>
        <p:nvSpPr>
          <p:cNvPr id="82" name="TextBox 81"/>
          <p:cNvSpPr txBox="1"/>
          <p:nvPr/>
        </p:nvSpPr>
        <p:spPr>
          <a:xfrm>
            <a:off x="16326612" y="208784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Clotho IB</a:t>
            </a:r>
          </a:p>
        </p:txBody>
      </p:sp>
      <p:sp>
        <p:nvSpPr>
          <p:cNvPr id="83" name="TextBox 82"/>
          <p:cNvSpPr txBox="1"/>
          <p:nvPr/>
        </p:nvSpPr>
        <p:spPr>
          <a:xfrm>
            <a:off x="19344132" y="20878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.72→</a:t>
            </a:r>
            <a:r>
              <a:rPr sz="2300" b="1" i="0">
                <a:solidFill>
                  <a:srgbClr val="0D4DA3"/>
                </a:solidFill>
                <a:latin typeface="Times New Roman"/>
              </a:rPr>
              <a:t>.73</a:t>
            </a:r>
            <a:r>
              <a:rPr sz="2000" b="1" i="0">
                <a:solidFill>
                  <a:srgbClr val="0D4DA3"/>
                </a:solidFill>
                <a:latin typeface="Times New Roman"/>
              </a:rPr>
              <a:t> +1%</a:t>
            </a:r>
          </a:p>
        </p:txBody>
      </p:sp>
      <p:sp>
        <p:nvSpPr>
          <p:cNvPr id="84" name="TextBox 83"/>
          <p:cNvSpPr txBox="1"/>
          <p:nvPr/>
        </p:nvSpPr>
        <p:spPr>
          <a:xfrm>
            <a:off x="24421338" y="208784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.62→</a:t>
            </a:r>
            <a:r>
              <a:rPr sz="2300" b="1" i="0">
                <a:solidFill>
                  <a:srgbClr val="0D4DA3"/>
                </a:solidFill>
                <a:latin typeface="Times New Roman"/>
              </a:rPr>
              <a:t>.69</a:t>
            </a:r>
            <a:r>
              <a:rPr sz="2000" b="1" i="0">
                <a:solidFill>
                  <a:srgbClr val="0D4DA3"/>
                </a:solidFill>
                <a:latin typeface="Times New Roman"/>
              </a:rPr>
              <a:t> +11%</a:t>
            </a:r>
          </a:p>
        </p:txBody>
      </p:sp>
      <p:sp>
        <p:nvSpPr>
          <p:cNvPr id="85" name="Rectangle 84"/>
          <p:cNvSpPr/>
          <p:nvPr/>
        </p:nvSpPr>
        <p:spPr>
          <a:xfrm>
            <a:off x="15457932" y="213356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1335668"/>
            <a:ext cx="868680" cy="457200"/>
          </a:xfrm>
          <a:prstGeom prst="rect">
            <a:avLst/>
          </a:prstGeom>
          <a:noFill/>
        </p:spPr>
        <p:txBody>
          <a:bodyPr wrap="none" anchor="ctr" lIns="0" rIns="0" tIns="0" bIns="0">
            <a:spAutoFit/>
          </a:bodyPr>
          <a:lstStyle/>
          <a:p>
            <a:pPr algn="l"/>
            <a:r>
              <a:rPr sz="2300" b="1" i="0">
                <a:solidFill>
                  <a:srgbClr val="8B0029"/>
                </a:solidFill>
                <a:latin typeface="Times New Roman"/>
              </a:rPr>
              <a:t>.61</a:t>
            </a:r>
          </a:p>
        </p:txBody>
      </p:sp>
      <p:sp>
        <p:nvSpPr>
          <p:cNvPr id="87" name="TextBox 86"/>
          <p:cNvSpPr txBox="1"/>
          <p:nvPr/>
        </p:nvSpPr>
        <p:spPr>
          <a:xfrm>
            <a:off x="16326612" y="21335668"/>
            <a:ext cx="3017520" cy="457200"/>
          </a:xfrm>
          <a:prstGeom prst="rect">
            <a:avLst/>
          </a:prstGeom>
          <a:noFill/>
        </p:spPr>
        <p:txBody>
          <a:bodyPr wrap="none" anchor="ctr" lIns="0" rIns="0" tIns="0" bIns="0">
            <a:spAutoFit/>
          </a:bodyPr>
          <a:lstStyle/>
          <a:p>
            <a:pPr algn="l"/>
            <a:r>
              <a:rPr sz="2200" b="0" i="0">
                <a:solidFill>
                  <a:srgbClr val="1F1F1F"/>
                </a:solidFill>
                <a:latin typeface="Times New Roman"/>
              </a:rPr>
              <a:t>AudioCaps IB</a:t>
            </a:r>
          </a:p>
        </p:txBody>
      </p:sp>
      <p:sp>
        <p:nvSpPr>
          <p:cNvPr id="88" name="TextBox 87"/>
          <p:cNvSpPr txBox="1"/>
          <p:nvPr/>
        </p:nvSpPr>
        <p:spPr>
          <a:xfrm>
            <a:off x="19344132" y="21335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.75→</a:t>
            </a:r>
            <a:r>
              <a:rPr sz="2300" b="1" i="0">
                <a:solidFill>
                  <a:srgbClr val="0D4DA3"/>
                </a:solidFill>
                <a:latin typeface="Times New Roman"/>
              </a:rPr>
              <a:t>.78</a:t>
            </a:r>
            <a:r>
              <a:rPr sz="2000" b="1" i="0">
                <a:solidFill>
                  <a:srgbClr val="0D4DA3"/>
                </a:solidFill>
                <a:latin typeface="Times New Roman"/>
              </a:rPr>
              <a:t> +4%</a:t>
            </a:r>
          </a:p>
        </p:txBody>
      </p:sp>
      <p:sp>
        <p:nvSpPr>
          <p:cNvPr id="89" name="TextBox 88"/>
          <p:cNvSpPr txBox="1"/>
          <p:nvPr/>
        </p:nvSpPr>
        <p:spPr>
          <a:xfrm>
            <a:off x="24421338" y="21335668"/>
            <a:ext cx="5077206" cy="457200"/>
          </a:xfrm>
          <a:prstGeom prst="rect">
            <a:avLst/>
          </a:prstGeom>
          <a:noFill/>
        </p:spPr>
        <p:txBody>
          <a:bodyPr wrap="none" anchor="ctr" lIns="0" rIns="0" tIns="0" bIns="0">
            <a:spAutoFit/>
          </a:bodyPr>
          <a:lstStyle/>
          <a:p>
            <a:pPr algn="r"/>
            <a:r>
              <a:rPr sz="2000" b="0" i="0">
                <a:solidFill>
                  <a:srgbClr val="6F6F6F"/>
                </a:solidFill>
                <a:latin typeface="Times New Roman"/>
              </a:rPr>
              <a:t>.83→</a:t>
            </a:r>
            <a:r>
              <a:rPr sz="2300" b="1" i="0">
                <a:solidFill>
                  <a:srgbClr val="0D4DA3"/>
                </a:solidFill>
                <a:latin typeface="Times New Roman"/>
              </a:rPr>
              <a:t>.83</a:t>
            </a:r>
            <a:r>
              <a:rPr sz="2000" b="1" i="0">
                <a:solidFill>
                  <a:srgbClr val="0D4DA3"/>
                </a:solidFill>
                <a:latin typeface="Times New Roman"/>
              </a:rPr>
              <a:t> +0%</a:t>
            </a:r>
          </a:p>
        </p:txBody>
      </p:sp>
      <p:sp>
        <p:nvSpPr>
          <p:cNvPr id="90" name="Rectangle 89"/>
          <p:cNvSpPr/>
          <p:nvPr/>
        </p:nvSpPr>
        <p:spPr>
          <a:xfrm>
            <a:off x="15457932" y="21792868"/>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5457932" y="21939172"/>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0D4DA3"/>
                </a:solidFill>
                <a:latin typeface="Times New Roman"/>
              </a:rPr>
              <a:t>.143 (+32%)</a:t>
            </a:r>
            <a:r>
              <a:rPr sz="2200" b="0" i="0">
                <a:solidFill>
                  <a:srgbClr val="1F1F1F"/>
                </a:solidFill>
                <a:latin typeface="Times New Roman"/>
              </a:rPr>
              <a:t>; with exact reranking the lead carries over, .198 → </a:t>
            </a:r>
            <a:r>
              <a:rPr sz="2200" b="1" i="0">
                <a:solidFill>
                  <a:srgbClr val="0D4DA3"/>
                </a:solidFill>
                <a:latin typeface="Times New Roman"/>
              </a:rPr>
              <a:t>.277 (+40%)</a:t>
            </a:r>
            <a:r>
              <a:rPr sz="2200" b="0" i="0">
                <a:solidFill>
                  <a:srgbClr val="1F1F1F"/>
                </a:solidFill>
                <a:latin typeface="Times New Roman"/>
              </a:rPr>
              <a:t>. Exact rescoring cannot rescue Vanilla — it only re-scores what the corrupted codes already retrieved.</a:t>
            </a:r>
          </a:p>
        </p:txBody>
      </p:sp>
      <p:pic>
        <p:nvPicPr>
          <p:cNvPr id="92" name="Picture 91" descr="asset_fig3.png"/>
          <p:cNvPicPr>
            <a:picLocks noChangeAspect="1"/>
          </p:cNvPicPr>
          <p:nvPr/>
        </p:nvPicPr>
        <p:blipFill>
          <a:blip r:embed="rId7"/>
          <a:stretch>
            <a:fillRect/>
          </a:stretch>
        </p:blipFill>
        <p:spPr>
          <a:xfrm>
            <a:off x="15457932" y="23376100"/>
            <a:ext cx="14040612" cy="3622757"/>
          </a:xfrm>
          <a:prstGeom prst="rect">
            <a:avLst/>
          </a:prstGeom>
        </p:spPr>
      </p:pic>
      <p:sp>
        <p:nvSpPr>
          <p:cNvPr id="93" name="TextBox 92"/>
          <p:cNvSpPr txBox="1"/>
          <p:nvPr/>
        </p:nvSpPr>
        <p:spPr>
          <a:xfrm>
            <a:off x="15457932" y="27072009"/>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94" name="TextBox 93"/>
          <p:cNvSpPr txBox="1"/>
          <p:nvPr/>
        </p:nvSpPr>
        <p:spPr>
          <a:xfrm>
            <a:off x="15457932" y="28196721"/>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95" name="Rectangle 94"/>
          <p:cNvSpPr/>
          <p:nvPr/>
        </p:nvSpPr>
        <p:spPr>
          <a:xfrm>
            <a:off x="15457932" y="28802511"/>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5457932" y="28879981"/>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97" name="TextBox 96"/>
          <p:cNvSpPr txBox="1"/>
          <p:nvPr/>
        </p:nvSpPr>
        <p:spPr>
          <a:xfrm>
            <a:off x="15457932" y="29417343"/>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98" name="TextBox 97"/>
          <p:cNvSpPr txBox="1"/>
          <p:nvPr/>
        </p:nvSpPr>
        <p:spPr>
          <a:xfrm>
            <a:off x="18384012" y="29417343"/>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99" name="TextBox 98"/>
          <p:cNvSpPr txBox="1"/>
          <p:nvPr/>
        </p:nvSpPr>
        <p:spPr>
          <a:xfrm>
            <a:off x="23941278" y="29417343"/>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00" name="Rectangle 99"/>
          <p:cNvSpPr/>
          <p:nvPr/>
        </p:nvSpPr>
        <p:spPr>
          <a:xfrm>
            <a:off x="15457932" y="29892831"/>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5457932" y="29930169"/>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02" name="TextBox 101"/>
          <p:cNvSpPr txBox="1"/>
          <p:nvPr/>
        </p:nvSpPr>
        <p:spPr>
          <a:xfrm>
            <a:off x="18384012" y="299301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03" name="TextBox 102"/>
          <p:cNvSpPr txBox="1"/>
          <p:nvPr/>
        </p:nvSpPr>
        <p:spPr>
          <a:xfrm>
            <a:off x="23941278" y="299301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.64</a:t>
            </a:r>
          </a:p>
        </p:txBody>
      </p:sp>
      <p:sp>
        <p:nvSpPr>
          <p:cNvPr id="104" name="Rectangle 103"/>
          <p:cNvSpPr/>
          <p:nvPr/>
        </p:nvSpPr>
        <p:spPr>
          <a:xfrm>
            <a:off x="15457932" y="30387369"/>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5457932" y="30387369"/>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06" name="TextBox 105"/>
          <p:cNvSpPr txBox="1"/>
          <p:nvPr/>
        </p:nvSpPr>
        <p:spPr>
          <a:xfrm>
            <a:off x="18384012" y="303873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07" name="TextBox 106"/>
          <p:cNvSpPr txBox="1"/>
          <p:nvPr/>
        </p:nvSpPr>
        <p:spPr>
          <a:xfrm>
            <a:off x="23941278" y="303873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0D4DA3"/>
                </a:solidFill>
                <a:latin typeface="Times New Roman"/>
              </a:rPr>
              <a:t>.63</a:t>
            </a:r>
          </a:p>
        </p:txBody>
      </p:sp>
      <p:sp>
        <p:nvSpPr>
          <p:cNvPr id="108" name="Rectangle 107"/>
          <p:cNvSpPr/>
          <p:nvPr/>
        </p:nvSpPr>
        <p:spPr>
          <a:xfrm>
            <a:off x="15457932" y="30844569"/>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5457932" y="30844569"/>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10" name="TextBox 109"/>
          <p:cNvSpPr txBox="1"/>
          <p:nvPr/>
        </p:nvSpPr>
        <p:spPr>
          <a:xfrm>
            <a:off x="18384012" y="308445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0D4DA3"/>
                </a:solidFill>
                <a:latin typeface="Times New Roman"/>
              </a:rPr>
              <a:t>.58</a:t>
            </a:r>
          </a:p>
        </p:txBody>
      </p:sp>
      <p:sp>
        <p:nvSpPr>
          <p:cNvPr id="111" name="TextBox 110"/>
          <p:cNvSpPr txBox="1"/>
          <p:nvPr/>
        </p:nvSpPr>
        <p:spPr>
          <a:xfrm>
            <a:off x="23941278" y="308445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0D4DA3"/>
                </a:solidFill>
                <a:latin typeface="Times New Roman"/>
              </a:rPr>
              <a:t>.69</a:t>
            </a:r>
          </a:p>
        </p:txBody>
      </p:sp>
      <p:sp>
        <p:nvSpPr>
          <p:cNvPr id="112" name="Rectangle 111"/>
          <p:cNvSpPr/>
          <p:nvPr/>
        </p:nvSpPr>
        <p:spPr>
          <a:xfrm>
            <a:off x="15457932" y="31301769"/>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5457932" y="31301769"/>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14" name="TextBox 113"/>
          <p:cNvSpPr txBox="1"/>
          <p:nvPr/>
        </p:nvSpPr>
        <p:spPr>
          <a:xfrm>
            <a:off x="18384012" y="313017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0D4DA3"/>
                </a:solidFill>
                <a:latin typeface="Times New Roman"/>
              </a:rPr>
              <a:t>.64</a:t>
            </a:r>
          </a:p>
        </p:txBody>
      </p:sp>
      <p:sp>
        <p:nvSpPr>
          <p:cNvPr id="115" name="TextBox 114"/>
          <p:cNvSpPr txBox="1"/>
          <p:nvPr/>
        </p:nvSpPr>
        <p:spPr>
          <a:xfrm>
            <a:off x="23941278" y="31301769"/>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0D4DA3"/>
                </a:solidFill>
                <a:latin typeface="Times New Roman"/>
              </a:rPr>
              <a:t>.75</a:t>
            </a:r>
          </a:p>
        </p:txBody>
      </p:sp>
      <p:sp>
        <p:nvSpPr>
          <p:cNvPr id="116" name="Rectangle 115"/>
          <p:cNvSpPr/>
          <p:nvPr/>
        </p:nvSpPr>
        <p:spPr>
          <a:xfrm>
            <a:off x="15457932" y="31758969"/>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5457932" y="31886985"/>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18" name="TextBox 117"/>
          <p:cNvSpPr txBox="1"/>
          <p:nvPr/>
        </p:nvSpPr>
        <p:spPr>
          <a:xfrm>
            <a:off x="15457932" y="3375124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19" name="Rectangle 118"/>
          <p:cNvSpPr/>
          <p:nvPr/>
        </p:nvSpPr>
        <p:spPr>
          <a:xfrm>
            <a:off x="15457932" y="34325486"/>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457932" y="34325486"/>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5622524" y="34325486"/>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22" name="TextBox 121"/>
          <p:cNvSpPr txBox="1"/>
          <p:nvPr/>
        </p:nvSpPr>
        <p:spPr>
          <a:xfrm>
            <a:off x="28072080" y="34325486"/>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23" name="Rectangle 122"/>
          <p:cNvSpPr/>
          <p:nvPr/>
        </p:nvSpPr>
        <p:spPr>
          <a:xfrm>
            <a:off x="15457932" y="34874126"/>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7932" y="34874126"/>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622524" y="34874126"/>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26" name="TextBox 125"/>
          <p:cNvSpPr txBox="1"/>
          <p:nvPr/>
        </p:nvSpPr>
        <p:spPr>
          <a:xfrm>
            <a:off x="28072080" y="34874126"/>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27" name="Rectangle 126"/>
          <p:cNvSpPr/>
          <p:nvPr/>
        </p:nvSpPr>
        <p:spPr>
          <a:xfrm>
            <a:off x="15457932" y="35422766"/>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5457932" y="35422766"/>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622524" y="35422766"/>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30" name="TextBox 129"/>
          <p:cNvSpPr txBox="1"/>
          <p:nvPr/>
        </p:nvSpPr>
        <p:spPr>
          <a:xfrm>
            <a:off x="28072080" y="35422766"/>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31" name="Rectangle 130"/>
          <p:cNvSpPr/>
          <p:nvPr/>
        </p:nvSpPr>
        <p:spPr>
          <a:xfrm>
            <a:off x="15457932" y="35971406"/>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5457932" y="35971406"/>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5622524" y="35971406"/>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34" name="TextBox 133"/>
          <p:cNvSpPr txBox="1"/>
          <p:nvPr/>
        </p:nvSpPr>
        <p:spPr>
          <a:xfrm>
            <a:off x="28072080" y="35971406"/>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35" name="TextBox 134"/>
          <p:cNvSpPr txBox="1"/>
          <p:nvPr/>
        </p:nvSpPr>
        <p:spPr>
          <a:xfrm>
            <a:off x="15457932" y="365749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36" name="Rectangle 135"/>
          <p:cNvSpPr/>
          <p:nvPr/>
        </p:nvSpPr>
        <p:spPr>
          <a:xfrm>
            <a:off x="15457932" y="38048414"/>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5695676" y="38286158"/>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655"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38" name="Rectangle 137"/>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0" name="Picture 139"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41" name="TextBox 140"/>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42" name="TextBox 141"/>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