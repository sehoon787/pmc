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2181301" y="12881050"/>
            <a:ext cx="11232489" cy="5583483"/>
          </a:xfrm>
          <a:prstGeom prst="rect">
            <a:avLst/>
          </a:prstGeom>
        </p:spPr>
      </p:pic>
      <p:sp>
        <p:nvSpPr>
          <p:cNvPr id="19" name="TextBox 18"/>
          <p:cNvSpPr txBox="1"/>
          <p:nvPr/>
        </p:nvSpPr>
        <p:spPr>
          <a:xfrm>
            <a:off x="777240" y="18537685"/>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071085"/>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980" b="0" i="0" baseline="-25000">
                <a:solidFill>
                  <a:srgbClr val="1F1F1F"/>
                </a:solidFill>
                <a:latin typeface="Times New Roman"/>
              </a:rPr>
              <a:t>i</a:t>
            </a:r>
            <a:r>
              <a:rPr sz="2200" b="0" i="0">
                <a:solidFill>
                  <a:srgbClr val="1F1F1F"/>
                </a:solidFill>
                <a:latin typeface="Times New Roman"/>
              </a:rPr>
              <a:t> = 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4381382" y="20489725"/>
            <a:ext cx="5248981" cy="952500"/>
          </a:xfrm>
          <a:prstGeom prst="rect">
            <a:avLst/>
          </a:prstGeom>
          <a:noFill/>
        </p:spPr>
        <p:txBody>
          <a:bodyPr wrap="none" anchor="ctr" lIns="0" rIns="0" tIns="0" bIns="0">
            <a:spAutoFit/>
          </a:bodyPr>
          <a:lstStyle/>
          <a:p>
            <a:pPr algn="ctr"/>
            <a:r>
              <a:rPr sz="3000" b="1" i="0">
                <a:solidFill>
                  <a:srgbClr val="1F1F1F"/>
                </a:solidFill>
                <a:latin typeface="Times New Roman"/>
              </a:rPr>
              <a:t>δ</a:t>
            </a:r>
            <a:r>
              <a:rPr sz="2700" b="1" i="0" baseline="-25000">
                <a:solidFill>
                  <a:srgbClr val="1F1F1F"/>
                </a:solidFill>
                <a:latin typeface="Times New Roman"/>
              </a:rPr>
              <a:t>i</a:t>
            </a:r>
            <a:r>
              <a:rPr sz="3000" b="1" i="0">
                <a:solidFill>
                  <a:srgbClr val="1F1F1F"/>
                </a:solidFill>
                <a:latin typeface="Times New Roman"/>
              </a:rPr>
              <a: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0 ,     i.e.,     0  &lt;  </a:t>
            </a:r>
          </a:p>
        </p:txBody>
      </p:sp>
      <p:sp>
        <p:nvSpPr>
          <p:cNvPr id="22" name="TextBox 21"/>
          <p:cNvSpPr txBox="1"/>
          <p:nvPr/>
        </p:nvSpPr>
        <p:spPr>
          <a:xfrm>
            <a:off x="9630363" y="20489725"/>
            <a:ext cx="794742" cy="419100"/>
          </a:xfrm>
          <a:prstGeom prst="rect">
            <a:avLst/>
          </a:prstGeom>
          <a:noFill/>
        </p:spPr>
        <p:txBody>
          <a:bodyPr wrap="none" anchor="ctr" lIns="0" rIns="0" tIns="0" bIns="0">
            <a:spAutoFit/>
          </a:bodyPr>
          <a:lstStyle/>
          <a:p>
            <a:pPr algn="ctr"/>
            <a:r>
              <a:rPr sz="3000" b="1" i="0">
                <a:solidFill>
                  <a:srgbClr val="1F1F1F"/>
                </a:solidFill>
                <a:latin typeface="Times New Roman"/>
              </a:rPr>
              <a:t>δ</a:t>
            </a:r>
            <a:r>
              <a:rPr sz="2700" b="1" i="0" baseline="-25000">
                <a:solidFill>
                  <a:srgbClr val="1F1F1F"/>
                </a:solidFill>
                <a:latin typeface="Times New Roman"/>
              </a:rPr>
              <a:t>i</a:t>
            </a:r>
          </a:p>
        </p:txBody>
      </p:sp>
      <p:sp>
        <p:nvSpPr>
          <p:cNvPr id="23" name="Rectangle 22"/>
          <p:cNvSpPr/>
          <p:nvPr/>
        </p:nvSpPr>
        <p:spPr>
          <a:xfrm>
            <a:off x="9654205" y="20951687"/>
            <a:ext cx="747057"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30363" y="21023125"/>
            <a:ext cx="794742" cy="419100"/>
          </a:xfrm>
          <a:prstGeom prst="rect">
            <a:avLst/>
          </a:prstGeom>
          <a:noFill/>
        </p:spPr>
        <p:txBody>
          <a:bodyPr wrap="none" anchor="ctr" lIns="0" rIns="0" tIns="0" bIns="0">
            <a:spAutoFit/>
          </a:bodyPr>
          <a:lstStyle/>
          <a:p>
            <a:pPr algn="ctr"/>
            <a:r>
              <a:rPr sz="3000" b="1" i="0">
                <a:solidFill>
                  <a:srgbClr val="1F1F1F"/>
                </a:solidFill>
                <a:latin typeface="Times New Roman"/>
              </a:rPr>
              <a:t>α g</a:t>
            </a:r>
            <a:r>
              <a:rPr sz="2700" b="1" i="0" baseline="-25000">
                <a:solidFill>
                  <a:srgbClr val="1F1F1F"/>
                </a:solidFill>
                <a:latin typeface="Times New Roman"/>
              </a:rPr>
              <a:t>i</a:t>
            </a:r>
          </a:p>
        </p:txBody>
      </p:sp>
      <p:sp>
        <p:nvSpPr>
          <p:cNvPr id="25" name="TextBox 24"/>
          <p:cNvSpPr txBox="1"/>
          <p:nvPr/>
        </p:nvSpPr>
        <p:spPr>
          <a:xfrm>
            <a:off x="10425105" y="20489725"/>
            <a:ext cx="788603" cy="952500"/>
          </a:xfrm>
          <a:prstGeom prst="rect">
            <a:avLst/>
          </a:prstGeom>
          <a:noFill/>
        </p:spPr>
        <p:txBody>
          <a:bodyPr wrap="none" anchor="ctr" lIns="0" rIns="0" tIns="0" bIns="0">
            <a:spAutoFit/>
          </a:bodyPr>
          <a:lstStyle/>
          <a:p>
            <a:pPr algn="ctr"/>
            <a:r>
              <a:rPr sz="3000" b="1" i="0">
                <a:solidFill>
                  <a:srgbClr val="1F1F1F"/>
                </a:solidFill>
                <a:latin typeface="Times New Roman"/>
              </a:rPr>
              <a:t>  &lt;  1</a:t>
            </a:r>
          </a:p>
        </p:txBody>
      </p:sp>
      <p:sp>
        <p:nvSpPr>
          <p:cNvPr id="26" name="TextBox 25"/>
          <p:cNvSpPr txBox="1"/>
          <p:nvPr/>
        </p:nvSpPr>
        <p:spPr>
          <a:xfrm>
            <a:off x="777240" y="21442225"/>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δ</a:t>
            </a:r>
            <a:r>
              <a:rPr sz="1800" b="0" i="1" baseline="-25000">
                <a:solidFill>
                  <a:srgbClr val="6F6F6F"/>
                </a:solidFill>
                <a:latin typeface="Times New Roman"/>
              </a:rPr>
              <a:t>i</a:t>
            </a:r>
            <a:r>
              <a:rPr sz="2000" b="0" i="1">
                <a:solidFill>
                  <a:srgbClr val="6F6F6F"/>
                </a:solidFill>
                <a:latin typeface="Times New Roman"/>
              </a:rPr>
              <a:t>: residual x</a:t>
            </a:r>
            <a:r>
              <a:rPr sz="1800" b="0" i="1" baseline="-25000">
                <a:solidFill>
                  <a:srgbClr val="6F6F6F"/>
                </a:solidFill>
                <a:latin typeface="Times New Roman"/>
              </a:rPr>
              <a:t>i</a:t>
            </a:r>
            <a:r>
              <a:rPr sz="2000" b="0" i="1">
                <a:solidFill>
                  <a:srgbClr val="6F6F6F"/>
                </a:solidFill>
                <a:latin typeface="Times New Roman"/>
              </a:rPr>
              <a:t> − c</a:t>
            </a:r>
            <a:r>
              <a:rPr sz="1800" b="0" i="1" baseline="-25000">
                <a:solidFill>
                  <a:srgbClr val="6F6F6F"/>
                </a:solidFill>
                <a:latin typeface="Times New Roman"/>
              </a:rPr>
              <a:t>i</a:t>
            </a:r>
            <a:r>
              <a:rPr sz="2000" b="0" i="1">
                <a:solidFill>
                  <a:srgbClr val="6F6F6F"/>
                </a:solidFill>
                <a:latin typeface="Times New Roman"/>
              </a:rPr>
              <a:t>   ·   g</a:t>
            </a:r>
            <a:r>
              <a:rPr sz="1800" b="0" i="1" baseline="-25000">
                <a:solidFill>
                  <a:srgbClr val="6F6F6F"/>
                </a:solidFill>
                <a:latin typeface="Times New Roman"/>
              </a:rPr>
              <a:t>i</a:t>
            </a:r>
            <a:r>
              <a:rPr sz="2000" b="0" i="1">
                <a:solidFill>
                  <a:srgbClr val="6F6F6F"/>
                </a:solidFill>
                <a:latin typeface="Times New Roman"/>
              </a:rPr>
              <a:t>: gap component   ·   α: shift strength</a:t>
            </a:r>
          </a:p>
        </p:txBody>
      </p:sp>
      <p:sp>
        <p:nvSpPr>
          <p:cNvPr id="27" name="TextBox 26"/>
          <p:cNvSpPr txBox="1"/>
          <p:nvPr/>
        </p:nvSpPr>
        <p:spPr>
          <a:xfrm>
            <a:off x="777240" y="21942096"/>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8" name="TextBox 27"/>
          <p:cNvSpPr txBox="1"/>
          <p:nvPr/>
        </p:nvSpPr>
        <p:spPr>
          <a:xfrm>
            <a:off x="777240" y="22560941"/>
            <a:ext cx="14040612" cy="632155"/>
          </a:xfrm>
          <a:prstGeom prst="rect">
            <a:avLst/>
          </a:prstGeom>
          <a:noFill/>
        </p:spPr>
        <p:txBody>
          <a:bodyPr wrap="square" lIns="0" rIns="0" tIns="0" bIns="0">
            <a:spAutoFit/>
          </a:bodyPr>
          <a:lstStyle/>
          <a:p>
            <a:pPr algn="ctr">
              <a:lnSpc>
                <a:spcPct val="122000"/>
              </a:lnSpc>
              <a:spcAft>
                <a:spcPts val="0"/>
              </a:spcAft>
            </a:pPr>
            <a:r>
              <a:rPr sz="3400" b="1" i="0">
                <a:solidFill>
                  <a:srgbClr val="1F1F1F"/>
                </a:solidFill>
                <a:latin typeface="Times New Roman"/>
              </a:rPr>
              <a:t>E[F]  ≈  α Σ</a:t>
            </a:r>
            <a:r>
              <a:rPr sz="3060" b="1" i="0" baseline="-25000">
                <a:solidFill>
                  <a:srgbClr val="1F1F1F"/>
                </a:solidFill>
                <a:latin typeface="Times New Roman"/>
              </a:rPr>
              <a:t>i</a:t>
            </a:r>
            <a:r>
              <a:rPr sz="3400" b="1" i="0">
                <a:solidFill>
                  <a:srgbClr val="1F1F1F"/>
                </a:solidFill>
                <a:latin typeface="Times New Roman"/>
              </a:rPr>
              <a:t> p</a:t>
            </a:r>
            <a:r>
              <a:rPr sz="3060" b="1" i="0" baseline="-25000">
                <a:solidFill>
                  <a:srgbClr val="1F1F1F"/>
                </a:solidFill>
                <a:latin typeface="Times New Roman"/>
              </a:rPr>
              <a:t>i</a:t>
            </a:r>
            <a:r>
              <a:rPr sz="3400" b="1" i="0">
                <a:solidFill>
                  <a:srgbClr val="1F1F1F"/>
                </a:solidFill>
                <a:latin typeface="Times New Roman"/>
              </a:rPr>
              <a:t>(0) |g</a:t>
            </a:r>
            <a:r>
              <a:rPr sz="3060" b="1" i="0" baseline="-25000">
                <a:solidFill>
                  <a:srgbClr val="1F1F1F"/>
                </a:solidFill>
                <a:latin typeface="Times New Roman"/>
              </a:rPr>
              <a:t>i</a:t>
            </a:r>
            <a:r>
              <a:rPr sz="3400" b="1" i="0">
                <a:solidFill>
                  <a:srgbClr val="1F1F1F"/>
                </a:solidFill>
                <a:latin typeface="Times New Roman"/>
              </a:rPr>
              <a:t>|</a:t>
            </a:r>
          </a:p>
        </p:txBody>
      </p:sp>
      <p:sp>
        <p:nvSpPr>
          <p:cNvPr id="29" name="TextBox 28"/>
          <p:cNvSpPr txBox="1"/>
          <p:nvPr/>
        </p:nvSpPr>
        <p:spPr>
          <a:xfrm>
            <a:off x="777240" y="23193096"/>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E[F]: expected bit flips   ·   p</a:t>
            </a:r>
            <a:r>
              <a:rPr sz="1800" b="0" i="1" baseline="-25000">
                <a:solidFill>
                  <a:srgbClr val="6F6F6F"/>
                </a:solidFill>
                <a:latin typeface="Times New Roman"/>
              </a:rPr>
              <a:t>i</a:t>
            </a:r>
            <a:r>
              <a:rPr sz="2000" b="0" i="1">
                <a:solidFill>
                  <a:srgbClr val="6F6F6F"/>
                </a:solidFill>
                <a:latin typeface="Times New Roman"/>
              </a:rPr>
              <a:t>(0): residual density at the code boundary</a:t>
            </a:r>
          </a:p>
        </p:txBody>
      </p:sp>
      <p:sp>
        <p:nvSpPr>
          <p:cNvPr id="30" name="TextBox 29"/>
          <p:cNvSpPr txBox="1"/>
          <p:nvPr/>
        </p:nvSpPr>
        <p:spPr>
          <a:xfrm>
            <a:off x="777240" y="23729543"/>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980"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31" name="Rectangle 30"/>
          <p:cNvSpPr/>
          <p:nvPr/>
        </p:nvSpPr>
        <p:spPr>
          <a:xfrm>
            <a:off x="777240" y="24739142"/>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14984" y="24976886"/>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33" name="TextBox 32"/>
          <p:cNvSpPr txBox="1"/>
          <p:nvPr/>
        </p:nvSpPr>
        <p:spPr>
          <a:xfrm>
            <a:off x="777240" y="26196898"/>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34" name="Rectangle 33"/>
          <p:cNvSpPr/>
          <p:nvPr/>
        </p:nvSpPr>
        <p:spPr>
          <a:xfrm>
            <a:off x="777240" y="26802688"/>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26880158"/>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6" name="TextBox 35"/>
          <p:cNvSpPr txBox="1"/>
          <p:nvPr/>
        </p:nvSpPr>
        <p:spPr>
          <a:xfrm>
            <a:off x="4587044" y="27889757"/>
            <a:ext cx="895759" cy="952500"/>
          </a:xfrm>
          <a:prstGeom prst="rect">
            <a:avLst/>
          </a:prstGeom>
          <a:noFill/>
        </p:spPr>
        <p:txBody>
          <a:bodyPr wrap="none" anchor="ctr" lIns="0" rIns="0" tIns="0" bIns="0">
            <a:spAutoFit/>
          </a:bodyPr>
          <a:lstStyle/>
          <a:p>
            <a:pPr algn="ctr"/>
            <a:r>
              <a:rPr sz="3000" b="1" i="0">
                <a:solidFill>
                  <a:srgbClr val="1F1F1F"/>
                </a:solidFill>
                <a:latin typeface="Times New Roman"/>
              </a:rPr>
              <a:t>x′  =  </a:t>
            </a:r>
          </a:p>
        </p:txBody>
      </p:sp>
      <p:sp>
        <p:nvSpPr>
          <p:cNvPr id="37" name="TextBox 36"/>
          <p:cNvSpPr txBox="1"/>
          <p:nvPr/>
        </p:nvSpPr>
        <p:spPr>
          <a:xfrm>
            <a:off x="5482803" y="27889757"/>
            <a:ext cx="1534045" cy="419100"/>
          </a:xfrm>
          <a:prstGeom prst="rect">
            <a:avLst/>
          </a:prstGeom>
          <a:noFill/>
        </p:spPr>
        <p:txBody>
          <a:bodyPr wrap="none" anchor="ctr" lIns="0" rIns="0" tIns="0" bIns="0">
            <a:spAutoFit/>
          </a:bodyPr>
          <a:lstStyle/>
          <a:p>
            <a:pPr algn="ctr"/>
            <a:r>
              <a:rPr sz="3000" b="1" i="0">
                <a:solidFill>
                  <a:srgbClr val="1F1F1F"/>
                </a:solidFill>
                <a:latin typeface="Times New Roman"/>
              </a:rPr>
              <a:t>x + α g</a:t>
            </a:r>
          </a:p>
        </p:txBody>
      </p:sp>
      <p:sp>
        <p:nvSpPr>
          <p:cNvPr id="38" name="Rectangle 37"/>
          <p:cNvSpPr/>
          <p:nvPr/>
        </p:nvSpPr>
        <p:spPr>
          <a:xfrm>
            <a:off x="5528824" y="28351719"/>
            <a:ext cx="144200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2803" y="28423157"/>
            <a:ext cx="1534045" cy="419100"/>
          </a:xfrm>
          <a:prstGeom prst="rect">
            <a:avLst/>
          </a:prstGeom>
          <a:noFill/>
        </p:spPr>
        <p:txBody>
          <a:bodyPr wrap="none" anchor="ctr" lIns="0" rIns="0" tIns="0" bIns="0">
            <a:spAutoFit/>
          </a:bodyPr>
          <a:lstStyle/>
          <a:p>
            <a:pPr algn="ctr"/>
            <a:r>
              <a:rPr sz="3000" b="1" i="0">
                <a:solidFill>
                  <a:srgbClr val="1F1F1F"/>
                </a:solidFill>
                <a:latin typeface="Times New Roman"/>
              </a:rPr>
              <a:t>‖x + α g‖</a:t>
            </a:r>
          </a:p>
        </p:txBody>
      </p:sp>
      <p:sp>
        <p:nvSpPr>
          <p:cNvPr id="40" name="TextBox 39"/>
          <p:cNvSpPr txBox="1"/>
          <p:nvPr/>
        </p:nvSpPr>
        <p:spPr>
          <a:xfrm>
            <a:off x="7016848" y="27889757"/>
            <a:ext cx="1774403" cy="952500"/>
          </a:xfrm>
          <a:prstGeom prst="rect">
            <a:avLst/>
          </a:prstGeom>
          <a:noFill/>
        </p:spPr>
        <p:txBody>
          <a:bodyPr wrap="none" anchor="ctr" lIns="0" rIns="0" tIns="0" bIns="0">
            <a:spAutoFit/>
          </a:bodyPr>
          <a:lstStyle/>
          <a:p>
            <a:pPr algn="ctr"/>
            <a:r>
              <a:rPr sz="3000" b="1" i="0">
                <a:solidFill>
                  <a:srgbClr val="1F1F1F"/>
                </a:solidFill>
                <a:latin typeface="Times New Roman"/>
              </a:rPr>
              <a:t> ,       q′  =  </a:t>
            </a:r>
          </a:p>
        </p:txBody>
      </p:sp>
      <p:sp>
        <p:nvSpPr>
          <p:cNvPr id="41" name="TextBox 40"/>
          <p:cNvSpPr txBox="1"/>
          <p:nvPr/>
        </p:nvSpPr>
        <p:spPr>
          <a:xfrm>
            <a:off x="8791251" y="27889757"/>
            <a:ext cx="2216794" cy="419100"/>
          </a:xfrm>
          <a:prstGeom prst="rect">
            <a:avLst/>
          </a:prstGeom>
          <a:noFill/>
        </p:spPr>
        <p:txBody>
          <a:bodyPr wrap="none" anchor="ctr" lIns="0" rIns="0" tIns="0" bIns="0">
            <a:spAutoFit/>
          </a:bodyPr>
          <a:lstStyle/>
          <a:p>
            <a:pPr algn="ctr"/>
            <a:r>
              <a:rPr sz="3000" b="1" i="0">
                <a:solidFill>
                  <a:srgbClr val="1F1F1F"/>
                </a:solidFill>
                <a:latin typeface="Times New Roman"/>
              </a:rPr>
              <a:t>q − (1−α) g</a:t>
            </a:r>
          </a:p>
        </p:txBody>
      </p:sp>
      <p:sp>
        <p:nvSpPr>
          <p:cNvPr id="42" name="Rectangle 41"/>
          <p:cNvSpPr/>
          <p:nvPr/>
        </p:nvSpPr>
        <p:spPr>
          <a:xfrm>
            <a:off x="8857755" y="28351719"/>
            <a:ext cx="2083786"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91251" y="28423157"/>
            <a:ext cx="2216794" cy="419100"/>
          </a:xfrm>
          <a:prstGeom prst="rect">
            <a:avLst/>
          </a:prstGeom>
          <a:noFill/>
        </p:spPr>
        <p:txBody>
          <a:bodyPr wrap="none" anchor="ctr" lIns="0" rIns="0" tIns="0" bIns="0">
            <a:spAutoFit/>
          </a:bodyPr>
          <a:lstStyle/>
          <a:p>
            <a:pPr algn="ctr"/>
            <a:r>
              <a:rPr sz="3000" b="1" i="0">
                <a:solidFill>
                  <a:srgbClr val="1F1F1F"/>
                </a:solidFill>
                <a:latin typeface="Times New Roman"/>
              </a:rPr>
              <a:t>‖q − (1−α) g‖</a:t>
            </a:r>
          </a:p>
        </p:txBody>
      </p:sp>
      <p:sp>
        <p:nvSpPr>
          <p:cNvPr id="44" name="TextBox 43"/>
          <p:cNvSpPr txBox="1"/>
          <p:nvPr/>
        </p:nvSpPr>
        <p:spPr>
          <a:xfrm>
            <a:off x="777240" y="28842257"/>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x: database vector   ·   q: query   ·   g: modality gap   ·   α ∈ [0,1]: shift strength  (α = 1  →  q′ = q)</a:t>
            </a:r>
          </a:p>
        </p:txBody>
      </p:sp>
      <p:sp>
        <p:nvSpPr>
          <p:cNvPr id="45" name="TextBox 44"/>
          <p:cNvSpPr txBox="1"/>
          <p:nvPr/>
        </p:nvSpPr>
        <p:spPr>
          <a:xfrm>
            <a:off x="777240" y="29342128"/>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46" name="Rectangle 45"/>
          <p:cNvSpPr/>
          <p:nvPr/>
        </p:nvSpPr>
        <p:spPr>
          <a:xfrm>
            <a:off x="777240" y="30779056"/>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7240" y="30870496"/>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48" name="Rectangle 47"/>
          <p:cNvSpPr/>
          <p:nvPr/>
        </p:nvSpPr>
        <p:spPr>
          <a:xfrm>
            <a:off x="777240" y="31371282"/>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7240" y="31462722"/>
            <a:ext cx="14040612" cy="3914546"/>
          </a:xfrm>
          <a:prstGeom prst="rect">
            <a:avLst/>
          </a:prstGeom>
          <a:noFill/>
        </p:spPr>
        <p:txBody>
          <a:bodyPr wrap="square" lIns="0" rIns="0" tIns="0" bIns="0">
            <a:spAutoFit/>
          </a:bodyPr>
          <a:lstStyle/>
          <a:p>
            <a:pPr algn="l">
              <a:lnSpc>
                <a:spcPct val="124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24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24000"/>
              </a:lnSpc>
              <a:spcAft>
                <a:spcPts val="300"/>
              </a:spcAft>
            </a:pPr>
            <a:r>
              <a:rPr sz="2100" b="0" i="0">
                <a:solidFill>
                  <a:srgbClr val="1F1F1F"/>
                </a:solidFill>
                <a:latin typeface="Times New Roman"/>
              </a:rPr>
              <a:t>1:  μ</a:t>
            </a:r>
            <a:r>
              <a:rPr sz="1890" b="0" i="0" baseline="-25000">
                <a:solidFill>
                  <a:srgbClr val="1F1F1F"/>
                </a:solidFill>
                <a:latin typeface="Times New Roman"/>
              </a:rPr>
              <a:t>q</a:t>
            </a:r>
            <a:r>
              <a:rPr sz="2100" b="0" i="0">
                <a:solidFill>
                  <a:srgbClr val="1F1F1F"/>
                </a:solidFill>
                <a:latin typeface="Times New Roman"/>
              </a:rPr>
              <a:t> ← mean(Q);   μ</a:t>
            </a:r>
            <a:r>
              <a:rPr sz="1890" b="0" i="0" baseline="-25000">
                <a:solidFill>
                  <a:srgbClr val="1F1F1F"/>
                </a:solidFill>
                <a:latin typeface="Times New Roman"/>
              </a:rPr>
              <a:t>x</a:t>
            </a:r>
            <a:r>
              <a:rPr sz="2100" b="0" i="0">
                <a:solidFill>
                  <a:srgbClr val="1F1F1F"/>
                </a:solidFill>
                <a:latin typeface="Times New Roman"/>
              </a:rPr>
              <a:t> ← mean(X)</a:t>
            </a:r>
          </a:p>
          <a:p>
            <a:pPr algn="l">
              <a:lnSpc>
                <a:spcPct val="124000"/>
              </a:lnSpc>
              <a:spcAft>
                <a:spcPts val="300"/>
              </a:spcAft>
            </a:pPr>
            <a:r>
              <a:rPr sz="2100" b="0" i="0">
                <a:solidFill>
                  <a:srgbClr val="1F1F1F"/>
                </a:solidFill>
                <a:latin typeface="Times New Roman"/>
              </a:rPr>
              <a:t>2:  g ← μ</a:t>
            </a:r>
            <a:r>
              <a:rPr sz="1890" b="0" i="0" baseline="-25000">
                <a:solidFill>
                  <a:srgbClr val="1F1F1F"/>
                </a:solidFill>
                <a:latin typeface="Times New Roman"/>
              </a:rPr>
              <a:t>q</a:t>
            </a:r>
            <a:r>
              <a:rPr sz="2100" b="0" i="0">
                <a:solidFill>
                  <a:srgbClr val="1F1F1F"/>
                </a:solidFill>
                <a:latin typeface="Times New Roman"/>
              </a:rPr>
              <a:t> − μ</a:t>
            </a:r>
            <a:r>
              <a:rPr sz="1890" b="0" i="0" baseline="-25000">
                <a:solidFill>
                  <a:srgbClr val="1F1F1F"/>
                </a:solidFill>
                <a:latin typeface="Times New Roman"/>
              </a:rPr>
              <a:t>x</a:t>
            </a:r>
          </a:p>
          <a:p>
            <a:pPr algn="l">
              <a:lnSpc>
                <a:spcPct val="124000"/>
              </a:lnSpc>
              <a:spcAft>
                <a:spcPts val="300"/>
              </a:spcAft>
            </a:pPr>
            <a:r>
              <a:rPr sz="2100" b="0" i="0">
                <a:solidFill>
                  <a:srgbClr val="1F1F1F"/>
                </a:solidFill>
                <a:latin typeface="Times New Roman"/>
              </a:rPr>
              <a:t>3:  for each x ∈ X do</a:t>
            </a:r>
          </a:p>
          <a:p>
            <a:pPr algn="l">
              <a:lnSpc>
                <a:spcPct val="124000"/>
              </a:lnSpc>
              <a:spcAft>
                <a:spcPts val="300"/>
              </a:spcAft>
            </a:pPr>
            <a:r>
              <a:rPr sz="2100" b="0" i="0">
                <a:solidFill>
                  <a:srgbClr val="1F1F1F"/>
                </a:solidFill>
                <a:latin typeface="Times New Roman"/>
              </a:rPr>
              <a:t>4:      x′ ← normalize(x + α g)</a:t>
            </a:r>
          </a:p>
          <a:p>
            <a:pPr algn="l">
              <a:lnSpc>
                <a:spcPct val="124000"/>
              </a:lnSpc>
              <a:spcAft>
                <a:spcPts val="300"/>
              </a:spcAft>
            </a:pPr>
            <a:r>
              <a:rPr sz="2100" b="0" i="0">
                <a:solidFill>
                  <a:srgbClr val="1F1F1F"/>
                </a:solidFill>
                <a:latin typeface="Times New Roman"/>
              </a:rPr>
              <a:t>5:  end for</a:t>
            </a:r>
          </a:p>
          <a:p>
            <a:pPr algn="l">
              <a:lnSpc>
                <a:spcPct val="124000"/>
              </a:lnSpc>
              <a:spcAft>
                <a:spcPts val="300"/>
              </a:spcAft>
            </a:pPr>
            <a:r>
              <a:rPr sz="2100" b="0" i="0">
                <a:solidFill>
                  <a:srgbClr val="1F1F1F"/>
                </a:solidFill>
                <a:latin typeface="Times New Roman"/>
              </a:rPr>
              <a:t>6:  I ← BuildIndex({x′})        — RaBitQ · BBQ · BinaryFlat</a:t>
            </a:r>
          </a:p>
          <a:p>
            <a:pPr algn="l">
              <a:lnSpc>
                <a:spcPct val="124000"/>
              </a:lnSpc>
              <a:spcAft>
                <a:spcPts val="300"/>
              </a:spcAft>
            </a:pPr>
            <a:r>
              <a:rPr sz="2100" b="0" i="0">
                <a:solidFill>
                  <a:srgbClr val="1F1F1F"/>
                </a:solidFill>
                <a:latin typeface="Times New Roman"/>
              </a:rPr>
              <a:t>7:  return I, g</a:t>
            </a:r>
          </a:p>
        </p:txBody>
      </p:sp>
      <p:sp>
        <p:nvSpPr>
          <p:cNvPr id="50" name="Rectangle 49"/>
          <p:cNvSpPr/>
          <p:nvPr/>
        </p:nvSpPr>
        <p:spPr>
          <a:xfrm>
            <a:off x="777240" y="35450420"/>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35669876"/>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980" b="0" i="0" baseline="-25000">
                <a:solidFill>
                  <a:srgbClr val="1F1F1F"/>
                </a:solidFill>
                <a:latin typeface="Times New Roman"/>
              </a:rPr>
              <a:t>i</a:t>
            </a:r>
            <a:r>
              <a:rPr sz="2200" b="0" i="0">
                <a:solidFill>
                  <a:srgbClr val="1F1F1F"/>
                </a:solidFill>
                <a:latin typeface="Times New Roman"/>
              </a:rPr>
              <a:t>|,</a:t>
            </a:r>
          </a:p>
        </p:txBody>
      </p:sp>
      <p:sp>
        <p:nvSpPr>
          <p:cNvPr id="52" name="TextBox 51"/>
          <p:cNvSpPr txBox="1"/>
          <p:nvPr/>
        </p:nvSpPr>
        <p:spPr>
          <a:xfrm>
            <a:off x="3063881" y="36270433"/>
            <a:ext cx="7640538" cy="889000"/>
          </a:xfrm>
          <a:prstGeom prst="rect">
            <a:avLst/>
          </a:prstGeom>
          <a:noFill/>
        </p:spPr>
        <p:txBody>
          <a:bodyPr wrap="none" anchor="ctr" lIns="0" rIns="0" tIns="0" bIns="0">
            <a:spAutoFit/>
          </a:bodyPr>
          <a:lstStyle/>
          <a:p>
            <a:pPr algn="ctr"/>
            <a:r>
              <a:rPr sz="2800" b="1" i="0">
                <a:solidFill>
                  <a:srgbClr val="1F1F1F"/>
                </a:solidFill>
                <a:latin typeface="Times New Roman"/>
              </a:rPr>
              <a:t>g</a:t>
            </a:r>
            <a:r>
              <a:rPr sz="2520" b="1" i="0" baseline="-25000">
                <a:solidFill>
                  <a:srgbClr val="1F1F1F"/>
                </a:solidFill>
                <a:latin typeface="Times New Roman"/>
              </a:rPr>
              <a:t>sel,i</a:t>
            </a:r>
            <a:r>
              <a:rPr sz="2800" b="1" i="0">
                <a:solidFill>
                  <a:srgbClr val="1F1F1F"/>
                </a:solidFill>
                <a:latin typeface="Times New Roman"/>
              </a:rPr>
              <a:t> = g</a:t>
            </a:r>
            <a:r>
              <a:rPr sz="2520" b="1" i="0" baseline="-25000">
                <a:solidFill>
                  <a:srgbClr val="1F1F1F"/>
                </a:solidFill>
                <a:latin typeface="Times New Roman"/>
              </a:rPr>
              <a:t>i</a:t>
            </a:r>
            <a:r>
              <a:rPr sz="2800" b="1" i="0">
                <a:solidFill>
                  <a:srgbClr val="1F1F1F"/>
                </a:solidFill>
                <a:latin typeface="Times New Roman"/>
              </a:rPr>
              <a:t>  if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  0  otherwise ;     x′</a:t>
            </a:r>
            <a:r>
              <a:rPr sz="2520" b="1" i="0" baseline="-25000">
                <a:solidFill>
                  <a:srgbClr val="1F1F1F"/>
                </a:solidFill>
                <a:latin typeface="Times New Roman"/>
              </a:rPr>
              <a:t>sel</a:t>
            </a:r>
            <a:r>
              <a:rPr sz="2800" b="1" i="0">
                <a:solidFill>
                  <a:srgbClr val="1F1F1F"/>
                </a:solidFill>
                <a:latin typeface="Times New Roman"/>
              </a:rPr>
              <a:t>  =  </a:t>
            </a:r>
          </a:p>
        </p:txBody>
      </p:sp>
      <p:sp>
        <p:nvSpPr>
          <p:cNvPr id="53" name="TextBox 52"/>
          <p:cNvSpPr txBox="1"/>
          <p:nvPr/>
        </p:nvSpPr>
        <p:spPr>
          <a:xfrm>
            <a:off x="10704419" y="36270433"/>
            <a:ext cx="1826790" cy="391160"/>
          </a:xfrm>
          <a:prstGeom prst="rect">
            <a:avLst/>
          </a:prstGeom>
          <a:noFill/>
        </p:spPr>
        <p:txBody>
          <a:bodyPr wrap="none" anchor="ctr" lIns="0" rIns="0" tIns="0" bIns="0">
            <a:spAutoFit/>
          </a:bodyPr>
          <a:lstStyle/>
          <a:p>
            <a:pPr algn="ctr"/>
            <a:r>
              <a:rPr sz="2800" b="1" i="0">
                <a:solidFill>
                  <a:srgbClr val="1F1F1F"/>
                </a:solidFill>
                <a:latin typeface="Times New Roman"/>
              </a:rPr>
              <a:t>x + α g</a:t>
            </a:r>
            <a:r>
              <a:rPr sz="2520" b="1" i="0" baseline="-25000">
                <a:solidFill>
                  <a:srgbClr val="1F1F1F"/>
                </a:solidFill>
                <a:latin typeface="Times New Roman"/>
              </a:rPr>
              <a:t>sel</a:t>
            </a:r>
          </a:p>
        </p:txBody>
      </p:sp>
      <p:sp>
        <p:nvSpPr>
          <p:cNvPr id="54" name="Rectangle 53"/>
          <p:cNvSpPr/>
          <p:nvPr/>
        </p:nvSpPr>
        <p:spPr>
          <a:xfrm>
            <a:off x="10759223" y="36701598"/>
            <a:ext cx="171718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704419" y="36768273"/>
            <a:ext cx="1826790" cy="391160"/>
          </a:xfrm>
          <a:prstGeom prst="rect">
            <a:avLst/>
          </a:prstGeom>
          <a:noFill/>
        </p:spPr>
        <p:txBody>
          <a:bodyPr wrap="none" anchor="ctr" lIns="0" rIns="0" tIns="0" bIns="0">
            <a:spAutoFit/>
          </a:bodyPr>
          <a:lstStyle/>
          <a:p>
            <a:pPr algn="ctr"/>
            <a:r>
              <a:rPr sz="2800" b="1" i="0">
                <a:solidFill>
                  <a:srgbClr val="1F1F1F"/>
                </a:solidFill>
                <a:latin typeface="Times New Roman"/>
              </a:rPr>
              <a:t>‖x + α g</a:t>
            </a:r>
            <a:r>
              <a:rPr sz="2520" b="1" i="0" baseline="-25000">
                <a:solidFill>
                  <a:srgbClr val="1F1F1F"/>
                </a:solidFill>
                <a:latin typeface="Times New Roman"/>
              </a:rPr>
              <a:t>sel</a:t>
            </a:r>
            <a:r>
              <a:rPr sz="2800" b="1" i="0">
                <a:solidFill>
                  <a:srgbClr val="1F1F1F"/>
                </a:solidFill>
                <a:latin typeface="Times New Roman"/>
              </a:rPr>
              <a:t>‖</a:t>
            </a:r>
          </a:p>
        </p:txBody>
      </p:sp>
      <p:sp>
        <p:nvSpPr>
          <p:cNvPr id="56" name="TextBox 55"/>
          <p:cNvSpPr txBox="1"/>
          <p:nvPr/>
        </p:nvSpPr>
        <p:spPr>
          <a:xfrm>
            <a:off x="777240" y="3715943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g</a:t>
            </a:r>
            <a:r>
              <a:rPr sz="1800" b="0" i="1" baseline="-25000">
                <a:solidFill>
                  <a:srgbClr val="6F6F6F"/>
                </a:solidFill>
                <a:latin typeface="Times New Roman"/>
              </a:rPr>
              <a:t>sel</a:t>
            </a:r>
            <a:r>
              <a:rPr sz="2000" b="0" i="1">
                <a:solidFill>
                  <a:srgbClr val="6F6F6F"/>
                </a:solidFill>
                <a:latin typeface="Times New Roman"/>
              </a:rPr>
              <a:t>: truncated gap   ·   |g|</a:t>
            </a:r>
            <a:r>
              <a:rPr sz="1800" b="0" i="1" baseline="-25000">
                <a:solidFill>
                  <a:srgbClr val="6F6F6F"/>
                </a:solidFill>
                <a:latin typeface="Times New Roman"/>
              </a:rPr>
              <a:t>(P)</a:t>
            </a:r>
            <a:r>
              <a:rPr sz="2000" b="0" i="1">
                <a:solidFill>
                  <a:srgbClr val="6F6F6F"/>
                </a:solidFill>
                <a:latin typeface="Times New Roman"/>
              </a:rPr>
              <a:t>: top-P% magnitude threshold</a:t>
            </a:r>
          </a:p>
        </p:txBody>
      </p:sp>
      <p:sp>
        <p:nvSpPr>
          <p:cNvPr id="57" name="TextBox 56"/>
          <p:cNvSpPr txBox="1"/>
          <p:nvPr/>
        </p:nvSpPr>
        <p:spPr>
          <a:xfrm>
            <a:off x="4033534" y="37787320"/>
            <a:ext cx="1249461" cy="889000"/>
          </a:xfrm>
          <a:prstGeom prst="rect">
            <a:avLst/>
          </a:prstGeom>
          <a:noFill/>
        </p:spPr>
        <p:txBody>
          <a:bodyPr wrap="none" anchor="ctr" lIns="0" rIns="0" tIns="0" bIns="0">
            <a:spAutoFit/>
          </a:bodyPr>
          <a:lstStyle/>
          <a:p>
            <a:pPr algn="ctr"/>
            <a:r>
              <a:rPr sz="2800" b="1" i="0">
                <a:solidFill>
                  <a:srgbClr val="1F1F1F"/>
                </a:solidFill>
                <a:latin typeface="Times New Roman"/>
              </a:rPr>
              <a:t>E(P)  =  </a:t>
            </a:r>
          </a:p>
        </p:txBody>
      </p:sp>
      <p:sp>
        <p:nvSpPr>
          <p:cNvPr id="58" name="TextBox 57"/>
          <p:cNvSpPr txBox="1"/>
          <p:nvPr/>
        </p:nvSpPr>
        <p:spPr>
          <a:xfrm>
            <a:off x="5282995" y="37787320"/>
            <a:ext cx="2087413" cy="391160"/>
          </a:xfrm>
          <a:prstGeom prst="rect">
            <a:avLst/>
          </a:prstGeom>
          <a:noFill/>
        </p:spPr>
        <p:txBody>
          <a:bodyPr wrap="none" anchor="ctr" lIns="0" rIns="0" tIns="0" bIns="0">
            <a:spAutoFit/>
          </a:bodyPr>
          <a:lstStyle/>
          <a:p>
            <a:pPr algn="ctr"/>
            <a:r>
              <a:rPr sz="2800" b="1" i="0">
                <a:solidFill>
                  <a:srgbClr val="1F1F1F"/>
                </a:solidFill>
                <a:latin typeface="Times New Roman"/>
              </a:rPr>
              <a:t>Σ</a:t>
            </a:r>
            <a:r>
              <a:rPr sz="2520" b="1" i="0" baseline="-25000">
                <a:solidFill>
                  <a:srgbClr val="1F1F1F"/>
                </a:solidFill>
                <a:latin typeface="Times New Roman"/>
              </a:rPr>
              <a:t>i ∈ S(P)</a:t>
            </a:r>
            <a:r>
              <a:rPr sz="2800" b="1" i="0">
                <a:solidFill>
                  <a:srgbClr val="1F1F1F"/>
                </a:solidFill>
                <a:latin typeface="Times New Roman"/>
              </a:rPr>
              <a:t> g</a:t>
            </a:r>
            <a:r>
              <a:rPr sz="2520" b="1" i="0" baseline="-25000">
                <a:solidFill>
                  <a:srgbClr val="1F1F1F"/>
                </a:solidFill>
                <a:latin typeface="Times New Roman"/>
              </a:rPr>
              <a:t>i</a:t>
            </a:r>
            <a:r>
              <a:rPr sz="2800" b="1" i="0">
                <a:solidFill>
                  <a:srgbClr val="1F1F1F"/>
                </a:solidFill>
                <a:latin typeface="Times New Roman"/>
              </a:rPr>
              <a:t>²</a:t>
            </a:r>
          </a:p>
        </p:txBody>
      </p:sp>
      <p:sp>
        <p:nvSpPr>
          <p:cNvPr id="59" name="Rectangle 58"/>
          <p:cNvSpPr/>
          <p:nvPr/>
        </p:nvSpPr>
        <p:spPr>
          <a:xfrm>
            <a:off x="5345617" y="38218485"/>
            <a:ext cx="1962168"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82995" y="38285160"/>
            <a:ext cx="2087413" cy="391160"/>
          </a:xfrm>
          <a:prstGeom prst="rect">
            <a:avLst/>
          </a:prstGeom>
          <a:noFill/>
        </p:spPr>
        <p:txBody>
          <a:bodyPr wrap="none" anchor="ctr" lIns="0" rIns="0" tIns="0" bIns="0">
            <a:spAutoFit/>
          </a:bodyPr>
          <a:lstStyle/>
          <a:p>
            <a:pPr algn="ctr"/>
            <a:r>
              <a:rPr sz="2800" b="1" i="0">
                <a:solidFill>
                  <a:srgbClr val="1F1F1F"/>
                </a:solidFill>
                <a:latin typeface="Times New Roman"/>
              </a:rPr>
              <a:t>‖g‖²</a:t>
            </a:r>
          </a:p>
        </p:txBody>
      </p:sp>
      <p:sp>
        <p:nvSpPr>
          <p:cNvPr id="61" name="TextBox 60"/>
          <p:cNvSpPr txBox="1"/>
          <p:nvPr/>
        </p:nvSpPr>
        <p:spPr>
          <a:xfrm>
            <a:off x="7370408" y="37787320"/>
            <a:ext cx="4191148" cy="889000"/>
          </a:xfrm>
          <a:prstGeom prst="rect">
            <a:avLst/>
          </a:prstGeom>
          <a:noFill/>
        </p:spPr>
        <p:txBody>
          <a:bodyPr wrap="none" anchor="ctr" lIns="0" rIns="0" tIns="0" bIns="0">
            <a:spAutoFit/>
          </a:bodyPr>
          <a:lstStyle/>
          <a:p>
            <a:pPr algn="ctr"/>
            <a:r>
              <a:rPr sz="2800" b="1" i="0">
                <a:solidFill>
                  <a:srgbClr val="1F1F1F"/>
                </a:solidFill>
                <a:latin typeface="Times New Roman"/>
              </a:rPr>
              <a:t> ,      S(P) = { i :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a:t>
            </a:r>
          </a:p>
        </p:txBody>
      </p:sp>
      <p:sp>
        <p:nvSpPr>
          <p:cNvPr id="62" name="TextBox 61"/>
          <p:cNvSpPr txBox="1"/>
          <p:nvPr/>
        </p:nvSpPr>
        <p:spPr>
          <a:xfrm>
            <a:off x="777240" y="38676320"/>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E(P): captured gap-energy fraction   ·   S(P): top-P% index set</a:t>
            </a:r>
          </a:p>
        </p:txBody>
      </p:sp>
      <p:sp>
        <p:nvSpPr>
          <p:cNvPr id="63" name="TextBox 62"/>
          <p:cNvSpPr txBox="1"/>
          <p:nvPr/>
        </p:nvSpPr>
        <p:spPr>
          <a:xfrm>
            <a:off x="777240" y="3917619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980"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64" name="TextBox 63"/>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65" name="Rectangle 64"/>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67" name="TextBox 66"/>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980" b="0" i="0" baseline="-25000">
                <a:solidFill>
                  <a:srgbClr val="1F1F1F"/>
                </a:solidFill>
                <a:latin typeface="Times New Roman"/>
              </a:rPr>
              <a:t>q</a:t>
            </a:r>
            <a:r>
              <a:rPr sz="2200" b="0" i="0">
                <a:solidFill>
                  <a:srgbClr val="1F1F1F"/>
                </a:solidFill>
                <a:latin typeface="Times New Roman"/>
              </a:rPr>
              <a:t>, μ</a:t>
            </a:r>
            <a:r>
              <a:rPr sz="1980" b="0" i="0" baseline="-25000">
                <a:solidFill>
                  <a:srgbClr val="1F1F1F"/>
                </a:solidFill>
                <a:latin typeface="Times New Roman"/>
              </a:rPr>
              <a:t>x</a:t>
            </a:r>
            <a:r>
              <a:rPr sz="2200" b="0" i="0">
                <a:solidFill>
                  <a:srgbClr val="1F1F1F"/>
                </a:solidFill>
                <a:latin typeface="Times New Roman"/>
              </a:rPr>
              <a:t> and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68" name="TextBox 67"/>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69" name="Rectangle 68"/>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890" b="0" i="0" baseline="-25000">
                <a:solidFill>
                  <a:srgbClr val="6F6F6F"/>
                </a:solidFill>
                <a:latin typeface="Times New Roman"/>
              </a:rPr>
              <a:t>list</a:t>
            </a:r>
            <a:r>
              <a:rPr sz="2100" b="0" i="0">
                <a:solidFill>
                  <a:srgbClr val="6F6F6F"/>
                </a:solidFill>
                <a:latin typeface="Times New Roman"/>
              </a:rPr>
              <a:t> = ⌈√n⌉, n</a:t>
            </a:r>
            <a:r>
              <a:rPr sz="1890" b="0" i="0" baseline="-25000">
                <a:solidFill>
                  <a:srgbClr val="6F6F6F"/>
                </a:solidFill>
                <a:latin typeface="Times New Roman"/>
              </a:rPr>
              <a:t>probe</a:t>
            </a:r>
            <a:r>
              <a:rPr sz="2100" b="0" i="0">
                <a:solidFill>
                  <a:srgbClr val="6F6F6F"/>
                </a:solidFill>
                <a:latin typeface="Times New Roman"/>
              </a:rPr>
              <a:t> ≈ n</a:t>
            </a:r>
            <a:r>
              <a:rPr sz="1890"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71" name="TextBox 70"/>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72" name="TextBox 71"/>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73" name="Rectangle 72"/>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75" name="Rectangle 74"/>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77" name="TextBox 76"/>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78" name="TextBox 77"/>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79" name="TextBox 78"/>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80" name="TextBox 79"/>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81" name="TextBox 80"/>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82" name="Rectangle 81"/>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84" name="TextBox 83"/>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85" name="TextBox 84"/>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86" name="TextBox 85"/>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87" name="TextBox 86"/>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88" name="TextBox 87"/>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89" name="Rectangle 88"/>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91" name="TextBox 90"/>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92" name="TextBox 91"/>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93" name="TextBox 92"/>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94" name="TextBox 93"/>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95" name="TextBox 94"/>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96" name="Rectangle 95"/>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98" name="TextBox 97"/>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99" name="TextBox 98"/>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100" name="TextBox 99"/>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101" name="TextBox 100"/>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102" name="TextBox 101"/>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103" name="Rectangle 102"/>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105" name="TextBox 104"/>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106" name="TextBox 105"/>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107" name="TextBox 106"/>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108" name="TextBox 107"/>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109" name="TextBox 108"/>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110" name="Rectangle 109"/>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112" name="TextBox 111"/>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113" name="TextBox 112"/>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114" name="TextBox 113"/>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115" name="TextBox 114"/>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116" name="TextBox 115"/>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117" name="Rectangle 116"/>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19" name="TextBox 118"/>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120" name="TextBox 119"/>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21" name="TextBox 120"/>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22" name="TextBox 121"/>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23" name="TextBox 122"/>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24" name="Rectangle 123"/>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26" name="TextBox 125"/>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27" name="TextBox 126"/>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28" name="TextBox 127"/>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29" name="TextBox 128"/>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30" name="TextBox 129"/>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31" name="Rectangle 130"/>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33" name="Picture 132"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34" name="TextBox 133"/>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35" name="TextBox 134"/>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36" name="Rectangle 135"/>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38" name="TextBox 137"/>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39" name="TextBox 138"/>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40" name="TextBox 139"/>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41" name="Rectangle 140"/>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43" name="TextBox 142"/>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44" name="TextBox 143"/>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45" name="Rectangle 144"/>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47" name="TextBox 146"/>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48" name="TextBox 147"/>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49" name="Rectangle 148"/>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51" name="TextBox 150"/>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52" name="TextBox 151"/>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53" name="Rectangle 152"/>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55" name="TextBox 154"/>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56" name="TextBox 155"/>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57" name="Rectangle 156"/>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59" name="TextBox 158"/>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60" name="Rectangle 159"/>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5457932" y="34563230"/>
            <a:ext cx="8546657"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Vanilla</a:t>
            </a:r>
          </a:p>
        </p:txBody>
      </p:sp>
      <p:sp>
        <p:nvSpPr>
          <p:cNvPr id="163" name="TextBox 162"/>
          <p:cNvSpPr txBox="1"/>
          <p:nvPr/>
        </p:nvSpPr>
        <p:spPr>
          <a:xfrm>
            <a:off x="28072080" y="3456323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.578</a:t>
            </a:r>
          </a:p>
        </p:txBody>
      </p:sp>
      <p:sp>
        <p:nvSpPr>
          <p:cNvPr id="164" name="Rectangle 163"/>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15457932" y="35111870"/>
            <a:ext cx="6076139"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Query-only</a:t>
            </a:r>
          </a:p>
        </p:txBody>
      </p:sp>
      <p:sp>
        <p:nvSpPr>
          <p:cNvPr id="167" name="TextBox 166"/>
          <p:cNvSpPr txBox="1"/>
          <p:nvPr/>
        </p:nvSpPr>
        <p:spPr>
          <a:xfrm>
            <a:off x="28072080" y="3511187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.541</a:t>
            </a:r>
          </a:p>
        </p:txBody>
      </p:sp>
      <p:sp>
        <p:nvSpPr>
          <p:cNvPr id="168" name="Rectangle 167"/>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15457932" y="35660510"/>
            <a:ext cx="9948843"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Both sides</a:t>
            </a:r>
          </a:p>
        </p:txBody>
      </p:sp>
      <p:sp>
        <p:nvSpPr>
          <p:cNvPr id="171" name="TextBox 170"/>
          <p:cNvSpPr txBox="1"/>
          <p:nvPr/>
        </p:nvSpPr>
        <p:spPr>
          <a:xfrm>
            <a:off x="28072080" y="3566051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.599</a:t>
            </a:r>
          </a:p>
        </p:txBody>
      </p:sp>
      <p:sp>
        <p:nvSpPr>
          <p:cNvPr id="172" name="Rectangle 171"/>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457932" y="36209150"/>
            <a:ext cx="12486132" cy="457200"/>
          </a:xfrm>
          <a:prstGeom prst="rect">
            <a:avLst/>
          </a:prstGeom>
          <a:solidFill>
            <a:srgbClr val="8F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5-Point Star 173"/>
          <p:cNvSpPr/>
          <p:nvPr/>
        </p:nvSpPr>
        <p:spPr>
          <a:xfrm>
            <a:off x="27322272" y="36218294"/>
            <a:ext cx="438912" cy="438912"/>
          </a:xfrm>
          <a:prstGeom prst="star5">
            <a:avLst>
              <a:gd name="adj" fmla="val 32000"/>
              <a:gd name="hf" fmla="val 105146"/>
              <a:gd name="vf" fmla="val 110557"/>
            </a:avLst>
          </a:prstGeom>
          <a:solidFill>
            <a:srgbClr val="F0A202"/>
          </a:solidFill>
          <a:ln w="30480">
            <a:solidFill>
              <a:srgbClr val="5C3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622524" y="36209150"/>
            <a:ext cx="12211812" cy="457200"/>
          </a:xfrm>
          <a:prstGeom prst="rect">
            <a:avLst/>
          </a:prstGeom>
          <a:noFill/>
        </p:spPr>
        <p:txBody>
          <a:bodyPr wrap="none" anchor="ctr" lIns="0" rIns="0" tIns="0" bIns="0">
            <a:spAutoFit/>
          </a:bodyPr>
          <a:lstStyle/>
          <a:p>
            <a:pPr algn="l"/>
            <a:r>
              <a:rPr sz="2400" b="1" i="0">
                <a:solidFill>
                  <a:srgbClr val="1F1F1F"/>
                </a:solidFill>
                <a:latin typeface="Times New Roman"/>
              </a:rPr>
              <a:t>DB-only  (PMC)</a:t>
            </a:r>
          </a:p>
        </p:txBody>
      </p:sp>
      <p:sp>
        <p:nvSpPr>
          <p:cNvPr id="176" name="TextBox 175"/>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77" name="TextBox 176"/>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78" name="Rectangle 177"/>
          <p:cNvSpPr/>
          <p:nvPr/>
        </p:nvSpPr>
        <p:spPr>
          <a:xfrm>
            <a:off x="15457932" y="38286158"/>
            <a:ext cx="14040612" cy="2313228"/>
          </a:xfrm>
          <a:prstGeom prst="rect">
            <a:avLst/>
          </a:prstGeom>
          <a:solidFill>
            <a:srgbClr val="E6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0D4DA3"/>
                </a:solidFill>
                <a:latin typeface="Times New Roman"/>
              </a:rPr>
              <a:t>Correct the index, not the query:  </a:t>
            </a:r>
            <a:r>
              <a:rPr sz="2300" b="1" i="0">
                <a:solidFill>
                  <a:srgbClr val="1F1F1F"/>
                </a:solidFill>
                <a:latin typeface="Times New Roman"/>
              </a:rPr>
              <a:t>a one-time, database-side centroid correction repairs IVF routing and binary quantization together — zero query-time transform, zero extra index memory, QPS unchanged at every n</a:t>
            </a:r>
            <a:r>
              <a:rPr sz="2070" b="1" i="0" baseline="-25000">
                <a:solidFill>
                  <a:srgbClr val="1F1F1F"/>
                </a:solidFill>
                <a:latin typeface="Times New Roman"/>
              </a:rPr>
              <a:t>probe</a:t>
            </a:r>
            <a:r>
              <a:rPr sz="2300" b="1" i="0">
                <a:solidFill>
                  <a:srgbClr val="1F1F1F"/>
                </a:solidFill>
                <a:latin typeface="Times New Roman"/>
              </a:rPr>
              <a:t>.</a:t>
            </a:r>
          </a:p>
          <a:p>
            <a:pPr algn="l">
              <a:lnSpc>
                <a:spcPct val="128000"/>
              </a:lnSpc>
              <a:spcAft>
                <a:spcPts val="400"/>
              </a:spcAft>
            </a:pPr>
            <a:r>
              <a:rPr sz="2000" b="0" i="0">
                <a:solidFill>
                  <a:srgbClr val="6F6F6F"/>
                </a:solidFill>
                <a:latin typeface="Times New Roman"/>
              </a:rPr>
              <a:t>Future work: drift-adaptive α, graph-based ANN, billion-scale deployment.</a:t>
            </a:r>
          </a:p>
        </p:txBody>
      </p:sp>
      <p:sp>
        <p:nvSpPr>
          <p:cNvPr id="180" name="Rectangle 179"/>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2" name="Picture 181"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83" name="TextBox 182"/>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84" name="TextBox 183"/>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CC-BY 4.0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